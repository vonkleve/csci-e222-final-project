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0"/>
    <p:sldId id="264" r:id="rId11"/>
    <p:sldId id="273" r:id="rId12"/>
    <p:sldId id="265" r:id="rId13"/>
    <p:sldId id="274" r:id="rId14"/>
    <p:sldId id="266" r:id="rId15"/>
    <p:sldId id="267" r:id="rId16"/>
    <p:sldId id="268" r:id="rId17"/>
    <p:sldId id="269" r:id="rId18"/>
    <p:sldId id="271" r:id="rId1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46"/>
  </p:normalViewPr>
  <p:slideViewPr>
    <p:cSldViewPr snapToGrid="0" snapToObjects="1">
      <p:cViewPr>
        <p:scale>
          <a:sx n="127" d="100"/>
          <a:sy n="127" d="100"/>
        </p:scale>
        <p:origin x="8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968" y="1143000"/>
            <a:ext cx="1280160" cy="1463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371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CSCI E-222 · Foundations of Large Language Models · Spring 2026 · Harvard Extension School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974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A51C30"/>
                </a:solidFill>
              </a:rPr>
              <a:t>NLP for Healthcare: Medical Text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444444"/>
                </a:solidFill>
              </a:rPr>
              <a:t>Fine-tuning &amp; Comparing Encoder vs. Decoder LLMs on Medical NER and Question Answering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66666"/>
                </a:solidFill>
              </a:rPr>
              <a:t>O. Mykhailovskyi ·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Bio_ClinicalBERT · MedGemma-4B | MedMentions NER · MedQA USMLE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8368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</a:rPr>
              <a:t>CSCI E-222 · NLP for Healthcare · O. Mykhailovskyi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56A8"/>
                </a:solidFill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67512"/>
            <a:ext cx="11091672" cy="2286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5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88952" cy="9144"/>
          </a:xfrm>
          <a:prstGeom prst="rect">
            <a:avLst/>
          </a:prstGeom>
          <a:solidFill>
            <a:srgbClr val="D0E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CSCI E-222 · NLP for Healthcare · O. Mykhailovskyi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836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2 / 19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868680"/>
            <a:ext cx="41148" cy="77724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98348" y="868680"/>
            <a:ext cx="11233404" cy="77724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941832"/>
            <a:ext cx="1107338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dirty="0">
                <a:solidFill>
                  <a:srgbClr val="1A1A1A"/>
                </a:solidFill>
              </a:rPr>
              <a:t>How do encoder-only (</a:t>
            </a:r>
            <a:r>
              <a:rPr sz="1300" dirty="0" err="1">
                <a:solidFill>
                  <a:srgbClr val="1A1A1A"/>
                </a:solidFill>
              </a:rPr>
              <a:t>BioClinicalBERT</a:t>
            </a:r>
            <a:r>
              <a:rPr sz="1300" dirty="0">
                <a:solidFill>
                  <a:srgbClr val="1A1A1A"/>
                </a:solidFill>
              </a:rPr>
              <a:t>) and decoder-based (MedGemma-4B) architectures compare when fine-tuned on two core medical NLP tasks - NER and QA - under a constrained compute budget?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83080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56A8"/>
                </a:solidFill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084831"/>
            <a:ext cx="5303520" cy="515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50" dirty="0">
                <a:solidFill>
                  <a:srgbClr val="1A1A1A"/>
                </a:solidFill>
              </a:rPr>
              <a:t>• Clinical NLP enables automated chart review, coding &amp; decision support</a:t>
            </a:r>
          </a:p>
          <a:p>
            <a:pPr>
              <a:spcBef>
                <a:spcPts val="300"/>
              </a:spcBef>
            </a:pPr>
            <a:r>
              <a:rPr sz="1250" dirty="0">
                <a:solidFill>
                  <a:srgbClr val="1A1A1A"/>
                </a:solidFill>
              </a:rPr>
              <a:t>• Domain-specific models outperform general LLMs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56A8"/>
                </a:solidFill>
              </a:rPr>
              <a:t>Scope Constraints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13632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50">
                <a:solidFill>
                  <a:srgbClr val="1A1A1A"/>
                </a:solidFill>
              </a:rPr>
              <a:t>• Single GPU - Google Colab Pro A100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1A1A1A"/>
                </a:solidFill>
              </a:rPr>
              <a:t>• PEFT only (LoRA/QLoRA) for the 4B model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1A1A1A"/>
                </a:solidFill>
              </a:rPr>
              <a:t>• Public, reproducible datasets only
• Original scope (PubMedBERT + summarisation) narrowed due to compute constraints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783080"/>
            <a:ext cx="41148" cy="9144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76188" y="1783080"/>
            <a:ext cx="5628132" cy="91440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44768" y="1856232"/>
            <a:ext cx="546811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</a:rPr>
              <a:t>Task 1 - Named Entity Recognition (NER)
Label each token in biomedical text with a UMLS semantic type (e.g., T038 = Biologic Function, T103 = Chemical)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2834640"/>
            <a:ext cx="41148" cy="914400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76188" y="2834640"/>
            <a:ext cx="5628132" cy="914400"/>
          </a:xfrm>
          <a:prstGeom prst="rect">
            <a:avLst/>
          </a:prstGeom>
          <a:solidFill>
            <a:srgbClr val="E6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44768" y="2907792"/>
            <a:ext cx="546811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</a:rPr>
              <a:t>Task 2 - Medical Question Answering
Select the correct answer (A-D) from USMLE-style clinical questions requiring multi-step medical reasoning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56A8"/>
                </a:solidFill>
              </a:rPr>
              <a:t>Datasets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67512"/>
            <a:ext cx="11091672" cy="2286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5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88952" cy="9144"/>
          </a:xfrm>
          <a:prstGeom prst="rect">
            <a:avLst/>
          </a:prstGeom>
          <a:solidFill>
            <a:srgbClr val="D0E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CSCI E-222 · NLP for Healthcare · O. Mykhailovskyi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836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3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56A8"/>
                </a:solidFill>
              </a:rPr>
              <a:t>Task 1 · NER - MedMentions MTI881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727363"/>
              </p:ext>
            </p:extLst>
          </p:nvPr>
        </p:nvGraphicFramePr>
        <p:xfrm>
          <a:off x="457200" y="1170432"/>
          <a:ext cx="2743200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Split</a:t>
                      </a:r>
                    </a:p>
                  </a:txBody>
                  <a:tcPr>
                    <a:solidFill>
                      <a:srgbClr val="1A56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Samples</a:t>
                      </a:r>
                    </a:p>
                  </a:txBody>
                  <a:tcPr>
                    <a:solidFill>
                      <a:srgbClr val="1A56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23,399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Validation</a:t>
                      </a:r>
                    </a:p>
                  </a:txBody>
                  <a:tcPr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2,924</a:t>
                      </a:r>
                    </a:p>
                  </a:txBody>
                  <a:tcPr>
                    <a:solidFill>
                      <a:srgbClr val="F5F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1A1A1A"/>
                          </a:solidFill>
                        </a:rPr>
                        <a:t>2,926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2331720"/>
            <a:ext cx="5303520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50" dirty="0">
                <a:solidFill>
                  <a:srgbClr val="1A1A1A"/>
                </a:solidFill>
              </a:rPr>
              <a:t>• 4,392 PubMed abstracts, 350K+ UMLS-annotated mentions</a:t>
            </a:r>
          </a:p>
          <a:p>
            <a:pPr>
              <a:spcBef>
                <a:spcPts val="300"/>
              </a:spcBef>
            </a:pPr>
            <a:r>
              <a:rPr sz="1250" dirty="0">
                <a:solidFill>
                  <a:srgbClr val="1A1A1A"/>
                </a:solidFill>
              </a:rPr>
              <a:t>• 105 entity classes (UMLS semantic types), BIO format</a:t>
            </a:r>
          </a:p>
          <a:p>
            <a:pPr>
              <a:spcBef>
                <a:spcPts val="300"/>
              </a:spcBef>
            </a:pPr>
            <a:r>
              <a:rPr sz="1250" dirty="0">
                <a:solidFill>
                  <a:srgbClr val="1A1A1A"/>
                </a:solidFill>
              </a:rPr>
              <a:t>• Severe class imbalance: "O" tag = 76% of all tokens</a:t>
            </a:r>
          </a:p>
          <a:p>
            <a:pPr>
              <a:spcBef>
                <a:spcPts val="300"/>
              </a:spcBef>
            </a:pPr>
            <a:r>
              <a:rPr sz="1250" dirty="0">
                <a:solidFill>
                  <a:srgbClr val="1A1A1A"/>
                </a:solidFill>
              </a:rPr>
              <a:t>• Source: Ben10x/MedMentions-MTI881-NER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868680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56A8"/>
                </a:solidFill>
              </a:rPr>
              <a:t>Task 2 · QA - MedQA USMLE-4-options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217920" y="1170432"/>
          <a:ext cx="2926080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99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Split</a:t>
                      </a:r>
                    </a:p>
                  </a:txBody>
                  <a:tcPr>
                    <a:solidFill>
                      <a:srgbClr val="1A56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Samples</a:t>
                      </a:r>
                    </a:p>
                  </a:txBody>
                  <a:tcPr>
                    <a:solidFill>
                      <a:srgbClr val="1A56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93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10,200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93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Test</a:t>
                      </a:r>
                    </a:p>
                  </a:txBody>
                  <a:tcPr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1,270</a:t>
                      </a:r>
                    </a:p>
                  </a:txBody>
                  <a:tcPr>
                    <a:solidFill>
                      <a:srgbClr val="F5F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217920" y="2057400"/>
            <a:ext cx="5486400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50" dirty="0">
                <a:solidFill>
                  <a:srgbClr val="1A1A1A"/>
                </a:solidFill>
              </a:rPr>
              <a:t>• USMLE Step 1/2/3 clinical reasoning questions</a:t>
            </a:r>
          </a:p>
          <a:p>
            <a:pPr>
              <a:spcBef>
                <a:spcPts val="300"/>
              </a:spcBef>
            </a:pPr>
            <a:r>
              <a:rPr sz="1250" dirty="0">
                <a:solidFill>
                  <a:srgbClr val="1A1A1A"/>
                </a:solidFill>
              </a:rPr>
              <a:t>• 4-option multiple choice (A-D)</a:t>
            </a:r>
          </a:p>
          <a:p>
            <a:pPr>
              <a:spcBef>
                <a:spcPts val="300"/>
              </a:spcBef>
            </a:pPr>
            <a:r>
              <a:rPr sz="1250" dirty="0">
                <a:solidFill>
                  <a:srgbClr val="1A1A1A"/>
                </a:solidFill>
              </a:rPr>
              <a:t>• Random baseline: 25% · Human expert: ~90%</a:t>
            </a:r>
            <a:endParaRPr lang="en-US" sz="1250" dirty="0">
              <a:solidFill>
                <a:srgbClr val="1A1A1A"/>
              </a:solidFill>
            </a:endParaRPr>
          </a:p>
          <a:p>
            <a:pPr>
              <a:spcBef>
                <a:spcPts val="300"/>
              </a:spcBef>
            </a:pPr>
            <a:r>
              <a:rPr lang="en-US" sz="1250" dirty="0">
                <a:solidFill>
                  <a:srgbClr val="1A1A1A"/>
                </a:solidFill>
              </a:rPr>
              <a:t>• Source: </a:t>
            </a:r>
            <a:r>
              <a:rPr lang="en-US" sz="1250" dirty="0" err="1">
                <a:solidFill>
                  <a:srgbClr val="1A1A1A"/>
                </a:solidFill>
              </a:rPr>
              <a:t>GBaker</a:t>
            </a:r>
            <a:r>
              <a:rPr lang="en-US" sz="1250" dirty="0">
                <a:solidFill>
                  <a:srgbClr val="1A1A1A"/>
                </a:solidFill>
              </a:rPr>
              <a:t>/MedQA-USMLE-4-options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56A8"/>
                </a:solidFill>
              </a:rPr>
              <a:t>Models &amp; Methods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67512"/>
            <a:ext cx="11091672" cy="2286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5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88952" cy="9144"/>
          </a:xfrm>
          <a:prstGeom prst="rect">
            <a:avLst/>
          </a:prstGeom>
          <a:solidFill>
            <a:srgbClr val="D0E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CSCI E-222 · NLP for Healthcare · O. Mykhailovskyi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836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4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56A8"/>
                </a:solidFill>
              </a:rPr>
              <a:t>Bio_ClinicalBERT (Encoder)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70432"/>
            <a:ext cx="5303520" cy="1669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50" dirty="0">
                <a:solidFill>
                  <a:srgbClr val="1A1A1A"/>
                </a:solidFill>
              </a:rPr>
              <a:t>• 110 M parameters, BERT-base architecture</a:t>
            </a:r>
          </a:p>
          <a:p>
            <a:pPr>
              <a:spcBef>
                <a:spcPts val="300"/>
              </a:spcBef>
            </a:pPr>
            <a:r>
              <a:rPr sz="1250" dirty="0">
                <a:solidFill>
                  <a:srgbClr val="1A1A1A"/>
                </a:solidFill>
              </a:rPr>
              <a:t>• Pre-trained on MIMIC-III clinical notes (~880 M words)</a:t>
            </a:r>
          </a:p>
          <a:p>
            <a:pPr>
              <a:spcBef>
                <a:spcPts val="300"/>
              </a:spcBef>
            </a:pPr>
            <a:r>
              <a:rPr sz="1250" dirty="0">
                <a:solidFill>
                  <a:srgbClr val="1A1A1A"/>
                </a:solidFill>
              </a:rPr>
              <a:t>• Fine-tuned with full parameter update</a:t>
            </a:r>
          </a:p>
          <a:p>
            <a:pPr>
              <a:spcBef>
                <a:spcPts val="300"/>
              </a:spcBef>
            </a:pPr>
            <a:r>
              <a:rPr sz="1250" dirty="0">
                <a:solidFill>
                  <a:srgbClr val="1A1A1A"/>
                </a:solidFill>
              </a:rPr>
              <a:t>• NER</a:t>
            </a:r>
            <a:r>
              <a:rPr lang="en-US" sz="1250" dirty="0">
                <a:solidFill>
                  <a:srgbClr val="1A1A1A"/>
                </a:solidFill>
              </a:rPr>
              <a:t> -</a:t>
            </a:r>
            <a:r>
              <a:rPr sz="1250" dirty="0">
                <a:solidFill>
                  <a:srgbClr val="1A1A1A"/>
                </a:solidFill>
              </a:rPr>
              <a:t> Token Classification head</a:t>
            </a:r>
          </a:p>
          <a:p>
            <a:pPr>
              <a:spcBef>
                <a:spcPts val="300"/>
              </a:spcBef>
            </a:pPr>
            <a:r>
              <a:rPr sz="1250" dirty="0">
                <a:solidFill>
                  <a:srgbClr val="1A1A1A"/>
                </a:solidFill>
              </a:rPr>
              <a:t>• QA</a:t>
            </a:r>
            <a:r>
              <a:rPr lang="en-US" sz="1250" dirty="0">
                <a:solidFill>
                  <a:srgbClr val="1A1A1A"/>
                </a:solidFill>
              </a:rPr>
              <a:t> -</a:t>
            </a:r>
            <a:r>
              <a:rPr sz="1250" dirty="0">
                <a:solidFill>
                  <a:srgbClr val="1A1A1A"/>
                </a:solidFill>
              </a:rPr>
              <a:t> Multiple Choice head (4 seqs</a:t>
            </a:r>
            <a:r>
              <a:rPr lang="en-US" sz="1250" dirty="0">
                <a:solidFill>
                  <a:srgbClr val="1A1A1A"/>
                </a:solidFill>
              </a:rPr>
              <a:t> -</a:t>
            </a:r>
            <a:r>
              <a:rPr sz="1250" dirty="0">
                <a:solidFill>
                  <a:srgbClr val="1A1A1A"/>
                </a:solidFill>
              </a:rPr>
              <a:t> 1 logit each)</a:t>
            </a:r>
          </a:p>
          <a:p>
            <a:pPr>
              <a:spcBef>
                <a:spcPts val="300"/>
              </a:spcBef>
            </a:pPr>
            <a:r>
              <a:rPr sz="1250" dirty="0">
                <a:solidFill>
                  <a:srgbClr val="1A1A1A"/>
                </a:solidFill>
              </a:rPr>
              <a:t>• Bidirectional attention - strong at classification</a:t>
            </a:r>
          </a:p>
          <a:p>
            <a:pPr>
              <a:spcBef>
                <a:spcPts val="300"/>
              </a:spcBef>
            </a:pPr>
            <a:r>
              <a:rPr sz="1250" dirty="0">
                <a:solidFill>
                  <a:srgbClr val="1A1A1A"/>
                </a:solidFill>
              </a:rPr>
              <a:t>• Max sequence length: 512 tokens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20440"/>
            <a:ext cx="41148" cy="438912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98348" y="3520440"/>
            <a:ext cx="5262372" cy="43891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3593592"/>
            <a:ext cx="51023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>
                <a:solidFill>
                  <a:srgbClr val="1A1A1A"/>
                </a:solidFill>
              </a:rPr>
              <a:t>Architecture: Input </a:t>
            </a:r>
            <a:r>
              <a:rPr lang="en-US" sz="1100" dirty="0">
                <a:solidFill>
                  <a:srgbClr val="1A1A1A"/>
                </a:solidFill>
              </a:rPr>
              <a:t>-&gt;</a:t>
            </a:r>
            <a:r>
              <a:rPr sz="1100" dirty="0">
                <a:solidFill>
                  <a:srgbClr val="1A1A1A"/>
                </a:solidFill>
              </a:rPr>
              <a:t> [</a:t>
            </a:r>
            <a:r>
              <a:rPr lang="en-US" sz="1100" dirty="0" err="1">
                <a:solidFill>
                  <a:srgbClr val="1A1A1A"/>
                </a:solidFill>
              </a:rPr>
              <a:t>Bio_</a:t>
            </a:r>
            <a:r>
              <a:rPr sz="1100" dirty="0" err="1">
                <a:solidFill>
                  <a:srgbClr val="1A1A1A"/>
                </a:solidFill>
              </a:rPr>
              <a:t>ClinicalBERT</a:t>
            </a:r>
            <a:r>
              <a:rPr sz="1100" dirty="0">
                <a:solidFill>
                  <a:srgbClr val="1A1A1A"/>
                </a:solidFill>
              </a:rPr>
              <a:t>] </a:t>
            </a:r>
            <a:r>
              <a:rPr lang="en-US" sz="1100" dirty="0">
                <a:solidFill>
                  <a:srgbClr val="1A1A1A"/>
                </a:solidFill>
              </a:rPr>
              <a:t>-&gt;</a:t>
            </a:r>
            <a:r>
              <a:rPr sz="1100" dirty="0">
                <a:solidFill>
                  <a:srgbClr val="1A1A1A"/>
                </a:solidFill>
              </a:rPr>
              <a:t> Label / Choice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41648"/>
            <a:ext cx="41148" cy="347472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98348" y="4041648"/>
            <a:ext cx="5262372" cy="347472"/>
          </a:xfrm>
          <a:prstGeom prst="rect">
            <a:avLst/>
          </a:prstGeom>
          <a:solidFill>
            <a:srgbClr val="E6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4114800"/>
            <a:ext cx="51023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>
                <a:solidFill>
                  <a:srgbClr val="1A1A1A"/>
                </a:solidFill>
              </a:rPr>
              <a:t>MIT License</a:t>
            </a:r>
            <a:r>
              <a:rPr lang="en-US" sz="1100" dirty="0">
                <a:solidFill>
                  <a:srgbClr val="1A1A1A"/>
                </a:solidFill>
              </a:rPr>
              <a:t> for dataset usage.</a:t>
            </a:r>
            <a:endParaRPr sz="1100" dirty="0">
              <a:solidFill>
                <a:srgbClr val="1A1A1A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17920" y="868680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56A8"/>
                </a:solidFill>
              </a:rPr>
              <a:t>MedGemma-4B-IT (Decoder + QLoRA)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170432"/>
            <a:ext cx="5486400" cy="1669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50" dirty="0">
                <a:solidFill>
                  <a:srgbClr val="1A1A1A"/>
                </a:solidFill>
              </a:rPr>
              <a:t>• 4.3 B parameters, Gemma-3 architecture, 128 K context</a:t>
            </a:r>
          </a:p>
          <a:p>
            <a:pPr>
              <a:spcBef>
                <a:spcPts val="300"/>
              </a:spcBef>
            </a:pPr>
            <a:r>
              <a:rPr sz="1250" dirty="0">
                <a:solidFill>
                  <a:srgbClr val="1A1A1A"/>
                </a:solidFill>
              </a:rPr>
              <a:t>• Pre-trained on medical images + text (Google Health AI)</a:t>
            </a:r>
          </a:p>
          <a:p>
            <a:pPr>
              <a:spcBef>
                <a:spcPts val="300"/>
              </a:spcBef>
            </a:pPr>
            <a:r>
              <a:rPr sz="1250" dirty="0">
                <a:solidFill>
                  <a:srgbClr val="1A1A1A"/>
                </a:solidFill>
              </a:rPr>
              <a:t>• PEFT: </a:t>
            </a:r>
            <a:r>
              <a:rPr sz="1250" dirty="0" err="1">
                <a:solidFill>
                  <a:srgbClr val="1A1A1A"/>
                </a:solidFill>
              </a:rPr>
              <a:t>QLoRA</a:t>
            </a:r>
            <a:r>
              <a:rPr sz="1250" dirty="0">
                <a:solidFill>
                  <a:srgbClr val="1A1A1A"/>
                </a:solidFill>
              </a:rPr>
              <a:t> (4-bit NF4 + </a:t>
            </a:r>
            <a:r>
              <a:rPr sz="1250" dirty="0" err="1">
                <a:solidFill>
                  <a:srgbClr val="1A1A1A"/>
                </a:solidFill>
              </a:rPr>
              <a:t>LoRA</a:t>
            </a:r>
            <a:r>
              <a:rPr sz="1250" dirty="0">
                <a:solidFill>
                  <a:srgbClr val="1A1A1A"/>
                </a:solidFill>
              </a:rPr>
              <a:t> rank 16, alpha 16)</a:t>
            </a:r>
          </a:p>
          <a:p>
            <a:pPr>
              <a:spcBef>
                <a:spcPts val="300"/>
              </a:spcBef>
            </a:pPr>
            <a:r>
              <a:rPr sz="1250" dirty="0">
                <a:solidFill>
                  <a:srgbClr val="1A1A1A"/>
                </a:solidFill>
              </a:rPr>
              <a:t>• Only 0.76% of parameters trainable (~33 M)</a:t>
            </a:r>
          </a:p>
          <a:p>
            <a:pPr>
              <a:spcBef>
                <a:spcPts val="300"/>
              </a:spcBef>
            </a:pPr>
            <a:r>
              <a:rPr sz="1250" dirty="0">
                <a:solidFill>
                  <a:srgbClr val="1A1A1A"/>
                </a:solidFill>
              </a:rPr>
              <a:t>• NER </a:t>
            </a:r>
            <a:r>
              <a:rPr lang="en-US" sz="1250" dirty="0">
                <a:solidFill>
                  <a:srgbClr val="1A1A1A"/>
                </a:solidFill>
              </a:rPr>
              <a:t>-</a:t>
            </a:r>
            <a:r>
              <a:rPr sz="1250" dirty="0">
                <a:solidFill>
                  <a:srgbClr val="1A1A1A"/>
                </a:solidFill>
              </a:rPr>
              <a:t> generative: "token: tag, token: tag …"</a:t>
            </a:r>
          </a:p>
          <a:p>
            <a:pPr>
              <a:spcBef>
                <a:spcPts val="300"/>
              </a:spcBef>
            </a:pPr>
            <a:r>
              <a:rPr sz="1250" dirty="0">
                <a:solidFill>
                  <a:srgbClr val="1A1A1A"/>
                </a:solidFill>
              </a:rPr>
              <a:t>• QA </a:t>
            </a:r>
            <a:r>
              <a:rPr lang="en-US" sz="1250" dirty="0">
                <a:solidFill>
                  <a:srgbClr val="1A1A1A"/>
                </a:solidFill>
              </a:rPr>
              <a:t>-</a:t>
            </a:r>
            <a:r>
              <a:rPr sz="1250" dirty="0">
                <a:solidFill>
                  <a:srgbClr val="1A1A1A"/>
                </a:solidFill>
              </a:rPr>
              <a:t> generative: outputs a single letter A / B / C / D</a:t>
            </a:r>
          </a:p>
          <a:p>
            <a:pPr>
              <a:spcBef>
                <a:spcPts val="300"/>
              </a:spcBef>
            </a:pPr>
            <a:r>
              <a:rPr sz="1250" dirty="0">
                <a:solidFill>
                  <a:srgbClr val="1A1A1A"/>
                </a:solidFill>
              </a:rPr>
              <a:t>• 2× training speed via </a:t>
            </a:r>
            <a:r>
              <a:rPr sz="1250" dirty="0" err="1">
                <a:solidFill>
                  <a:srgbClr val="1A1A1A"/>
                </a:solidFill>
              </a:rPr>
              <a:t>Unsloth</a:t>
            </a:r>
            <a:r>
              <a:rPr sz="1250" dirty="0">
                <a:solidFill>
                  <a:srgbClr val="1A1A1A"/>
                </a:solidFill>
              </a:rPr>
              <a:t> optimization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493008"/>
            <a:ext cx="1737360" cy="713232"/>
          </a:xfrm>
          <a:prstGeom prst="rect">
            <a:avLst/>
          </a:prstGeom>
          <a:solidFill>
            <a:srgbClr val="F5F8FE"/>
          </a:solidFill>
          <a:ln w="12700">
            <a:solidFill>
              <a:srgbClr val="D0E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0" y="358444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56A8"/>
                </a:solidFill>
              </a:rPr>
              <a:t>33 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95020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</a:rPr>
              <a:t>Trainable params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3493008"/>
            <a:ext cx="1737360" cy="713232"/>
          </a:xfrm>
          <a:prstGeom prst="rect">
            <a:avLst/>
          </a:prstGeom>
          <a:solidFill>
            <a:srgbClr val="F5F8FE"/>
          </a:solidFill>
          <a:ln w="12700">
            <a:solidFill>
              <a:srgbClr val="D0E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0" y="358444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56A8"/>
                </a:solidFill>
              </a:rPr>
              <a:t>4-bit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95020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</a:rPr>
              <a:t>NF4 quantization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75520" y="3493008"/>
            <a:ext cx="1737360" cy="713232"/>
          </a:xfrm>
          <a:prstGeom prst="rect">
            <a:avLst/>
          </a:prstGeom>
          <a:solidFill>
            <a:srgbClr val="F5F8FE"/>
          </a:solidFill>
          <a:ln w="12700">
            <a:solidFill>
              <a:srgbClr val="D0E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75520" y="3584448"/>
            <a:ext cx="1737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1A7A40"/>
                </a:solidFill>
              </a:rPr>
              <a:t>128k</a:t>
            </a:r>
            <a:endParaRPr sz="2400" b="1" dirty="0">
              <a:solidFill>
                <a:srgbClr val="1A7A4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875520" y="3950208"/>
            <a:ext cx="17373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666666"/>
                </a:solidFill>
              </a:rPr>
              <a:t>Context window</a:t>
            </a:r>
            <a:endParaRPr sz="1000" b="0" dirty="0">
              <a:solidFill>
                <a:srgbClr val="666666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217920" y="4315968"/>
            <a:ext cx="41148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59068" y="4315968"/>
            <a:ext cx="5445252" cy="34747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0216" y="4410974"/>
            <a:ext cx="52852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1A1A1A"/>
                </a:solidFill>
              </a:rPr>
              <a:t>Acceptance of Google Terms of Usage is required for model usage.</a:t>
            </a:r>
            <a:endParaRPr sz="1100" dirty="0">
              <a:solidFill>
                <a:srgbClr val="1A1A1A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56A8"/>
                </a:solidFill>
              </a:rPr>
              <a:t>Task 1 - NER: Implementation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67512"/>
            <a:ext cx="11091672" cy="2286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5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88952" cy="9144"/>
          </a:xfrm>
          <a:prstGeom prst="rect">
            <a:avLst/>
          </a:prstGeom>
          <a:solidFill>
            <a:srgbClr val="D0E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CSCI E-222 · NLP for Healthcare · O. Mykhailovskyi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836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5 / 19</a:t>
            </a:r>
          </a:p>
        </p:txBody>
      </p:sp>
      <p:sp>
        <p:nvSpPr>
          <p:cNvPr id="9" name="Rectangle 8"/>
          <p:cNvSpPr/>
          <p:nvPr/>
        </p:nvSpPr>
        <p:spPr>
          <a:xfrm>
            <a:off x="1114882" y="960120"/>
            <a:ext cx="563727" cy="274320"/>
          </a:xfrm>
          <a:prstGeom prst="rect">
            <a:avLst/>
          </a:prstGeom>
          <a:solidFill>
            <a:srgbClr val="1A56A8"/>
          </a:solidFill>
          <a:ln>
            <a:solidFill>
              <a:srgbClr val="1A5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4882" y="960120"/>
            <a:ext cx="5637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98448"/>
            <a:ext cx="18790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</a:rPr>
              <a:t>Load
MedMentions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78609" y="1069848"/>
            <a:ext cx="657682" cy="45720"/>
          </a:xfrm>
          <a:prstGeom prst="rect">
            <a:avLst/>
          </a:prstGeom>
          <a:solidFill>
            <a:srgbClr val="D0E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993974" y="960120"/>
            <a:ext cx="563727" cy="274320"/>
          </a:xfrm>
          <a:prstGeom prst="rect">
            <a:avLst/>
          </a:prstGeom>
          <a:solidFill>
            <a:srgbClr val="1A56A8"/>
          </a:solidFill>
          <a:ln>
            <a:solidFill>
              <a:srgbClr val="1A5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93974" y="960120"/>
            <a:ext cx="5637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6292" y="1298448"/>
            <a:ext cx="18790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</a:rPr>
              <a:t>Tokenize +
align labels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57701" y="1069848"/>
            <a:ext cx="657682" cy="45720"/>
          </a:xfrm>
          <a:prstGeom prst="rect">
            <a:avLst/>
          </a:prstGeom>
          <a:solidFill>
            <a:srgbClr val="D0E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873066" y="960120"/>
            <a:ext cx="563727" cy="274320"/>
          </a:xfrm>
          <a:prstGeom prst="rect">
            <a:avLst/>
          </a:prstGeom>
          <a:solidFill>
            <a:srgbClr val="1A56A8"/>
          </a:solidFill>
          <a:ln>
            <a:solidFill>
              <a:srgbClr val="1A5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73066" y="960120"/>
            <a:ext cx="5637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15384" y="1298448"/>
            <a:ext cx="18790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</a:rPr>
              <a:t>Compute
class weights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36793" y="1069848"/>
            <a:ext cx="657682" cy="45720"/>
          </a:xfrm>
          <a:prstGeom prst="rect">
            <a:avLst/>
          </a:prstGeom>
          <a:solidFill>
            <a:srgbClr val="D0E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752158" y="960120"/>
            <a:ext cx="563727" cy="274320"/>
          </a:xfrm>
          <a:prstGeom prst="rect">
            <a:avLst/>
          </a:prstGeom>
          <a:solidFill>
            <a:srgbClr val="1A56A8"/>
          </a:solidFill>
          <a:ln>
            <a:solidFill>
              <a:srgbClr val="1A5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52158" y="960120"/>
            <a:ext cx="5637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4476" y="1298448"/>
            <a:ext cx="18790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</a:rPr>
              <a:t>WeightedTrainer
fine-tune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885" y="1069848"/>
            <a:ext cx="657682" cy="45720"/>
          </a:xfrm>
          <a:prstGeom prst="rect">
            <a:avLst/>
          </a:prstGeom>
          <a:solidFill>
            <a:srgbClr val="D0E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631250" y="960120"/>
            <a:ext cx="563727" cy="274320"/>
          </a:xfrm>
          <a:prstGeom prst="rect">
            <a:avLst/>
          </a:prstGeom>
          <a:solidFill>
            <a:srgbClr val="1A56A8"/>
          </a:solidFill>
          <a:ln>
            <a:solidFill>
              <a:srgbClr val="1A5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31250" y="960120"/>
            <a:ext cx="5637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73568" y="1298448"/>
            <a:ext cx="18790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</a:rPr>
              <a:t>seqeval F1
evaluation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94977" y="1069848"/>
            <a:ext cx="657682" cy="45720"/>
          </a:xfrm>
          <a:prstGeom prst="rect">
            <a:avLst/>
          </a:prstGeom>
          <a:solidFill>
            <a:srgbClr val="D0E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510342" y="960120"/>
            <a:ext cx="563727" cy="274320"/>
          </a:xfrm>
          <a:prstGeom prst="rect">
            <a:avLst/>
          </a:prstGeom>
          <a:solidFill>
            <a:srgbClr val="1A56A8"/>
          </a:solidFill>
          <a:ln>
            <a:solidFill>
              <a:srgbClr val="1A5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510342" y="960120"/>
            <a:ext cx="5637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52660" y="1298448"/>
            <a:ext cx="18790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</a:rPr>
              <a:t>Push to
HF Hub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1874519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56A8"/>
                </a:solidFill>
              </a:rPr>
              <a:t>Key Engineering Decisions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176272"/>
            <a:ext cx="5303520" cy="143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50" dirty="0">
                <a:solidFill>
                  <a:srgbClr val="1A1A1A"/>
                </a:solidFill>
              </a:rPr>
              <a:t>• </a:t>
            </a:r>
            <a:r>
              <a:rPr sz="1250" dirty="0" err="1">
                <a:solidFill>
                  <a:srgbClr val="1A1A1A"/>
                </a:solidFill>
              </a:rPr>
              <a:t>Subword</a:t>
            </a:r>
            <a:r>
              <a:rPr sz="1250" dirty="0">
                <a:solidFill>
                  <a:srgbClr val="1A1A1A"/>
                </a:solidFill>
              </a:rPr>
              <a:t> tokens </a:t>
            </a:r>
            <a:r>
              <a:rPr lang="en-US" sz="1250" dirty="0">
                <a:solidFill>
                  <a:srgbClr val="1A1A1A"/>
                </a:solidFill>
              </a:rPr>
              <a:t>-&gt;</a:t>
            </a:r>
            <a:r>
              <a:rPr sz="1250" dirty="0">
                <a:solidFill>
                  <a:srgbClr val="1A1A1A"/>
                </a:solidFill>
              </a:rPr>
              <a:t> -100 label (ignored in cross-entropy loss)</a:t>
            </a:r>
          </a:p>
          <a:p>
            <a:pPr>
              <a:spcBef>
                <a:spcPts val="300"/>
              </a:spcBef>
            </a:pPr>
            <a:r>
              <a:rPr sz="1250" dirty="0">
                <a:solidFill>
                  <a:srgbClr val="1A1A1A"/>
                </a:solidFill>
              </a:rPr>
              <a:t>• Exponential class weights: exp(−</a:t>
            </a:r>
            <a:r>
              <a:rPr sz="1250" dirty="0" err="1">
                <a:solidFill>
                  <a:srgbClr val="1A1A1A"/>
                </a:solidFill>
              </a:rPr>
              <a:t>nC</a:t>
            </a:r>
            <a:r>
              <a:rPr sz="1250" dirty="0">
                <a:solidFill>
                  <a:srgbClr val="1A1A1A"/>
                </a:solidFill>
              </a:rPr>
              <a:t>/N)×100, O-class fixed at 0.5</a:t>
            </a:r>
          </a:p>
          <a:p>
            <a:pPr>
              <a:spcBef>
                <a:spcPts val="300"/>
              </a:spcBef>
            </a:pPr>
            <a:r>
              <a:rPr sz="1250" dirty="0">
                <a:solidFill>
                  <a:srgbClr val="1A1A1A"/>
                </a:solidFill>
              </a:rPr>
              <a:t>• Custom </a:t>
            </a:r>
            <a:r>
              <a:rPr sz="1250" dirty="0" err="1">
                <a:solidFill>
                  <a:srgbClr val="1A1A1A"/>
                </a:solidFill>
              </a:rPr>
              <a:t>WeightedTrainer</a:t>
            </a:r>
            <a:r>
              <a:rPr sz="1250" dirty="0">
                <a:solidFill>
                  <a:srgbClr val="1A1A1A"/>
                </a:solidFill>
              </a:rPr>
              <a:t> injects per-class loss weights</a:t>
            </a:r>
          </a:p>
          <a:p>
            <a:pPr>
              <a:spcBef>
                <a:spcPts val="300"/>
              </a:spcBef>
            </a:pPr>
            <a:r>
              <a:rPr sz="1250" dirty="0">
                <a:solidFill>
                  <a:srgbClr val="1A1A1A"/>
                </a:solidFill>
              </a:rPr>
              <a:t>• Cosine LR schedule with 10% warmup, LR = 6e-5</a:t>
            </a:r>
          </a:p>
          <a:p>
            <a:pPr>
              <a:spcBef>
                <a:spcPts val="300"/>
              </a:spcBef>
            </a:pPr>
            <a:r>
              <a:rPr sz="1250" dirty="0">
                <a:solidFill>
                  <a:srgbClr val="1A1A1A"/>
                </a:solidFill>
              </a:rPr>
              <a:t>• Early stopping on macro F1 (patience=3 baseline / patience=2 weighted)</a:t>
            </a:r>
          </a:p>
          <a:p>
            <a:pPr>
              <a:spcBef>
                <a:spcPts val="300"/>
              </a:spcBef>
            </a:pPr>
            <a:r>
              <a:rPr sz="1250" dirty="0">
                <a:solidFill>
                  <a:srgbClr val="1A1A1A"/>
                </a:solidFill>
              </a:rPr>
              <a:t>• Checkpoints: alexd063/bio-</a:t>
            </a:r>
            <a:r>
              <a:rPr sz="1250" dirty="0" err="1">
                <a:solidFill>
                  <a:srgbClr val="1A1A1A"/>
                </a:solidFill>
              </a:rPr>
              <a:t>clinicalbert</a:t>
            </a:r>
            <a:r>
              <a:rPr sz="1250" dirty="0">
                <a:solidFill>
                  <a:srgbClr val="1A1A1A"/>
                </a:solidFill>
              </a:rPr>
              <a:t>-finetuned-</a:t>
            </a:r>
            <a:r>
              <a:rPr sz="1250" dirty="0" err="1">
                <a:solidFill>
                  <a:srgbClr val="1A1A1A"/>
                </a:solidFill>
              </a:rPr>
              <a:t>medmentions</a:t>
            </a:r>
            <a:endParaRPr sz="1250" dirty="0">
              <a:solidFill>
                <a:srgbClr val="1A1A1A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217920" y="1874519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56A8"/>
                </a:solidFill>
              </a:rPr>
              <a:t>Three Experiments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0774460"/>
              </p:ext>
            </p:extLst>
          </p:nvPr>
        </p:nvGraphicFramePr>
        <p:xfrm>
          <a:off x="6217920" y="2176272"/>
          <a:ext cx="5486400" cy="8092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97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Notebook</a:t>
                      </a:r>
                    </a:p>
                  </a:txBody>
                  <a:tcPr>
                    <a:solidFill>
                      <a:srgbClr val="1A56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What changed</a:t>
                      </a:r>
                    </a:p>
                  </a:txBody>
                  <a:tcPr>
                    <a:solidFill>
                      <a:srgbClr val="1A56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1A56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01-baseline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Standard fine-tuning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✓ Complete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02-weighted</a:t>
                      </a:r>
                    </a:p>
                  </a:txBody>
                  <a:tcPr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+ Class weights, cosine LR</a:t>
                      </a:r>
                    </a:p>
                  </a:txBody>
                  <a:tcPr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1A1A1A"/>
                          </a:solidFill>
                        </a:rPr>
                        <a:t>✓ Complete</a:t>
                      </a:r>
                    </a:p>
                  </a:txBody>
                  <a:tcPr>
                    <a:solidFill>
                      <a:srgbClr val="F5F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9" name="Rectangle 38"/>
          <p:cNvSpPr/>
          <p:nvPr/>
        </p:nvSpPr>
        <p:spPr>
          <a:xfrm>
            <a:off x="457200" y="4297680"/>
            <a:ext cx="41148" cy="530352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98348" y="4297680"/>
            <a:ext cx="11205972" cy="530352"/>
          </a:xfrm>
          <a:prstGeom prst="rect">
            <a:avLst/>
          </a:prstGeom>
          <a:solidFill>
            <a:srgbClr val="E6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66928" y="4370832"/>
            <a:ext cx="110459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1A1A1A"/>
                </a:solidFill>
              </a:rPr>
              <a:t>Class weighting was the single most impactful engineering decision - without it the model collapses to predicting 'O' for all tokens.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56A8"/>
                </a:solidFill>
              </a:rPr>
              <a:t>Task 1 - NER: MedGemma-4B with QLoRA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67512"/>
            <a:ext cx="11091672" cy="2286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5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88952" cy="9144"/>
          </a:xfrm>
          <a:prstGeom prst="rect">
            <a:avLst/>
          </a:prstGeom>
          <a:solidFill>
            <a:srgbClr val="D0E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CSCI E-222 · NLP for Healthcare · O. Mykhailovskyi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836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6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56A8"/>
                </a:solidFill>
              </a:rPr>
              <a:t>Generative NER Approach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143000"/>
            <a:ext cx="41148" cy="841248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98348" y="1143000"/>
            <a:ext cx="5445252" cy="84124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1216152"/>
            <a:ext cx="52852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</a:rPr>
              <a:t>Unlike token classification, MedGemma generates a free-text sequence:
"aspirin: B-T103, prescribed: O, daily: O, …"
Each token is explicitly labelled in the output text.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103120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56A8"/>
                </a:solidFill>
              </a:rPr>
              <a:t>Training Configuration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04872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50">
                <a:solidFill>
                  <a:srgbClr val="1A1A1A"/>
                </a:solidFill>
              </a:rPr>
              <a:t>• QLoRA: 4-bit NF4, rank 16, alpha 16, no dropout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1A1A1A"/>
                </a:solidFill>
              </a:rPr>
              <a:t>• Unsloth for 2× training speed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1A1A1A"/>
                </a:solidFill>
              </a:rPr>
              <a:t>• SFTTrainer, max 300 steps (≈ 20% of 1 epoch)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1A1A1A"/>
                </a:solidFill>
              </a:rPr>
              <a:t>• LR = 2e-4, batch = 4, grad accum = 4 (eff. batch 16)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1A1A1A"/>
                </a:solidFill>
              </a:rPr>
              <a:t>• Evaluation: qualitative inspection of 3 validation samples only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1A1A1A"/>
                </a:solidFill>
              </a:rPr>
              <a:t>• Checkpoint: alexd063/bio-gemma4bit-finetuned-medmentions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315968"/>
            <a:ext cx="41148" cy="62179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98348" y="4315968"/>
            <a:ext cx="5445252" cy="6217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" y="4389120"/>
            <a:ext cx="528523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>
                <a:solidFill>
                  <a:srgbClr val="1A1A1A"/>
                </a:solidFill>
              </a:rPr>
              <a:t>Only 300 of ~1,462 steps trained (underfitting).
Parsing 'token: tag' format from free text is fragile.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868680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56A8"/>
                </a:solidFill>
              </a:rPr>
              <a:t>Prompt Format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143000"/>
            <a:ext cx="5486400" cy="2286000"/>
          </a:xfrm>
          <a:prstGeom prst="rect">
            <a:avLst/>
          </a:prstGeom>
          <a:solidFill>
            <a:srgbClr val="F5F8FF"/>
          </a:solidFill>
          <a:ln w="12700">
            <a:solidFill>
              <a:srgbClr val="D0E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123444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</a:rPr>
              <a:t>### Instruction:
Extract medical entities and label
each token with its NER tag.
### Input:
Patient presents with acute appendicitis
and elevated CRP levels.
### Response:
Patient: O, presents: O, with: O,
acute: B-T047, appendicitis: I-T047,
and: O, elevated: O, CRP: B-T059, 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547872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56A8"/>
                </a:solidFill>
              </a:rPr>
              <a:t>Key Limitation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822191"/>
            <a:ext cx="41148" cy="685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59068" y="3822191"/>
            <a:ext cx="5445252" cy="685800"/>
          </a:xfrm>
          <a:prstGeom prst="rect">
            <a:avLst/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27648" y="3895343"/>
            <a:ext cx="528523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>
                <a:solidFill>
                  <a:srgbClr val="1A1A1A"/>
                </a:solidFill>
              </a:rPr>
              <a:t>Generative NER is promisin</a:t>
            </a:r>
            <a:r>
              <a:rPr lang="en-US" sz="1100" dirty="0">
                <a:solidFill>
                  <a:srgbClr val="1A1A1A"/>
                </a:solidFill>
              </a:rPr>
              <a:t>g </a:t>
            </a:r>
            <a:r>
              <a:rPr sz="1100" dirty="0">
                <a:solidFill>
                  <a:srgbClr val="1A1A1A"/>
                </a:solidFill>
              </a:rPr>
              <a:t>but requires structured output enforcement (constrained decoding or JSON mode) to be reliable.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56A8"/>
                </a:solidFill>
              </a:rPr>
              <a:t>Task 2 - QA: Implementation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67512"/>
            <a:ext cx="11091672" cy="2286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5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88952" cy="9144"/>
          </a:xfrm>
          <a:prstGeom prst="rect">
            <a:avLst/>
          </a:prstGeom>
          <a:solidFill>
            <a:srgbClr val="D0E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CSCI E-222 · NLP for Healthcare · O. Mykhailovskyi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836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7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56A8"/>
                </a:solidFill>
              </a:rPr>
              <a:t>BioClinicalBERT Multiple-Choice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143000"/>
            <a:ext cx="41148" cy="347472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98348" y="1143000"/>
            <a:ext cx="5262372" cy="34747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1216152"/>
            <a:ext cx="51023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</a:rPr>
              <a:t>(Q + Option A) → BERT → logit ×4 → softmax → argmax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72768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50">
                <a:solidFill>
                  <a:srgbClr val="1A1A1A"/>
                </a:solidFill>
              </a:rPr>
              <a:t>• Custom DataCollatorForMultipleChoice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1A1A1A"/>
                </a:solidFill>
              </a:rPr>
              <a:t>• 3 metrics: Accuracy, Macro F1, ECE (calibration)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1A1A1A"/>
                </a:solidFill>
              </a:rPr>
              <a:t>• LR = 4e-5, cosine schedule, 10 epochs max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1A1A1A"/>
                </a:solidFill>
              </a:rPr>
              <a:t>• Truncation side = left (preserves answer text)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1A1A1A"/>
                </a:solidFill>
              </a:rPr>
              <a:t>• Early stopping patience = 2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1A1A1A"/>
                </a:solidFill>
              </a:rPr>
              <a:t>• 90/10 train/val split with seed=42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1A1A1A"/>
                </a:solidFill>
              </a:rPr>
              <a:t>• Checkpoint: alexd063/bio-clinicalbert-finetuned-medqa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58768"/>
            <a:ext cx="41148" cy="594360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98348" y="3858768"/>
            <a:ext cx="5262372" cy="594360"/>
          </a:xfrm>
          <a:prstGeom prst="rect">
            <a:avLst/>
          </a:prstGeom>
          <a:solidFill>
            <a:srgbClr val="E6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3931920"/>
            <a:ext cx="510235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>
                <a:solidFill>
                  <a:srgbClr val="1A1A1A"/>
                </a:solidFill>
              </a:rPr>
              <a:t>ECE (Expected Calibration Error) is an excellent addition - measures whether model confidence matches actual accuracy, beyond just raw metrics.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868680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56A8"/>
                </a:solidFill>
              </a:rPr>
              <a:t>MedGemma Generative QA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143000"/>
            <a:ext cx="41148" cy="54864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59068" y="1143000"/>
            <a:ext cx="5445252" cy="54864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27648" y="1216152"/>
            <a:ext cx="52852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</a:rPr>
              <a:t>Model sees full question + all 4 options and outputs a single letter.
Instruction format: explicit EOS token appended to answer.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783080"/>
            <a:ext cx="5486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50">
                <a:solidFill>
                  <a:srgbClr val="1A1A1A"/>
                </a:solidFill>
              </a:rPr>
              <a:t>• Custom MedicalQAEvaluationCallback - accuracy mid-training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1A1A1A"/>
                </a:solidFill>
              </a:rPr>
              <a:t>• Temperature = 0.1 at inference (near-deterministic)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1A1A1A"/>
                </a:solidFill>
              </a:rPr>
              <a:t>• 2 epochs, LR = 2e-4, LoRA rank 16 on all attention matrices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1A1A1A"/>
                </a:solidFill>
              </a:rPr>
              <a:t>• Packing enabled for throughput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1A1A1A"/>
                </a:solidFill>
              </a:rPr>
              <a:t>• 10 warmup steps (0.87% of total - too low)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1A1A1A"/>
                </a:solidFill>
              </a:rPr>
              <a:t>• Checkpoint: alexd063/bio-gemma4bit-finetuned-medqa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794760"/>
            <a:ext cx="41148" cy="5943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59068" y="3794760"/>
            <a:ext cx="5445252" cy="59436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27648" y="3867912"/>
            <a:ext cx="52852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</a:rPr>
              <a:t>Only 2 epochs trained. Warmup = 10 steps is far too low for stable fine-tuning. No error analysis on incorrect predictions.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56A8"/>
                </a:solidFill>
              </a:rPr>
              <a:t>Results - Task 1: Named Entity Recognition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67512"/>
            <a:ext cx="11091672" cy="2286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5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88952" cy="9144"/>
          </a:xfrm>
          <a:prstGeom prst="rect">
            <a:avLst/>
          </a:prstGeom>
          <a:solidFill>
            <a:srgbClr val="D0E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CSCI E-222 · NLP for Healthcare · O. Mykhailovskyi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836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8 / 19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868680"/>
            <a:ext cx="2651760" cy="822960"/>
          </a:xfrm>
          <a:prstGeom prst="rect">
            <a:avLst/>
          </a:prstGeom>
          <a:solidFill>
            <a:srgbClr val="F5F8FE"/>
          </a:solidFill>
          <a:ln w="12700">
            <a:solidFill>
              <a:srgbClr val="D0E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96012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7A40"/>
                </a:solidFill>
              </a:rPr>
              <a:t>0.65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32588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</a:rPr>
              <a:t>BioClinicalBERT
Macro F1 (full test)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868680"/>
            <a:ext cx="2651760" cy="822960"/>
          </a:xfrm>
          <a:prstGeom prst="rect">
            <a:avLst/>
          </a:prstGeom>
          <a:solidFill>
            <a:srgbClr val="F5F8FE"/>
          </a:solidFill>
          <a:ln w="12700">
            <a:solidFill>
              <a:srgbClr val="D0E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46120" y="96012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67E22"/>
                </a:solidFill>
              </a:rPr>
              <a:t>0.27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132588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</a:rPr>
              <a:t>MedGemma
F1 (10% subset)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868680"/>
            <a:ext cx="2651760" cy="822960"/>
          </a:xfrm>
          <a:prstGeom prst="rect">
            <a:avLst/>
          </a:prstGeom>
          <a:solidFill>
            <a:srgbClr val="F5F8FE"/>
          </a:solidFill>
          <a:ln w="12700">
            <a:solidFill>
              <a:srgbClr val="D0E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35040" y="96012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56A8"/>
                </a:solidFill>
              </a:rPr>
              <a:t>105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132588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</a:rPr>
              <a:t>Entity classes
(UMLS types)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23960" y="868680"/>
            <a:ext cx="2651760" cy="822960"/>
          </a:xfrm>
          <a:prstGeom prst="rect">
            <a:avLst/>
          </a:prstGeom>
          <a:solidFill>
            <a:srgbClr val="F5F8FE"/>
          </a:solidFill>
          <a:ln w="12700">
            <a:solidFill>
              <a:srgbClr val="D0E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23960" y="960120"/>
            <a:ext cx="2651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>
                <a:solidFill>
                  <a:srgbClr val="C00000"/>
                </a:solidFill>
              </a:rPr>
              <a:t>76%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132588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</a:rPr>
              <a:t>"O" tokens
(class imbalance)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1874519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56A8"/>
                </a:solidFill>
              </a:rPr>
              <a:t>BioClinicalBERT - Entity Performance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518517"/>
              </p:ext>
            </p:extLst>
          </p:nvPr>
        </p:nvGraphicFramePr>
        <p:xfrm>
          <a:off x="457200" y="2176272"/>
          <a:ext cx="53035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Top performers</a:t>
                      </a:r>
                    </a:p>
                  </a:txBody>
                  <a:tcPr>
                    <a:solidFill>
                      <a:srgbClr val="1A56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1A56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Bottom performers</a:t>
                      </a:r>
                    </a:p>
                  </a:txBody>
                  <a:tcPr>
                    <a:solidFill>
                      <a:srgbClr val="1A56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1A56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T204 (Receptor)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T059 (Lab Procedure)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1A1A1A"/>
                          </a:solidFill>
                        </a:rPr>
                        <a:t>~0</a:t>
                      </a: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.8</a:t>
                      </a:r>
                      <a:endParaRPr sz="1100" dirty="0">
                        <a:solidFill>
                          <a:srgbClr val="1A1A1A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T103 (Chemical)</a:t>
                      </a:r>
                    </a:p>
                  </a:txBody>
                  <a:tcPr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T024 (Cell Component)</a:t>
                      </a:r>
                    </a:p>
                  </a:txBody>
                  <a:tcPr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1A1A1A"/>
                          </a:solidFill>
                        </a:rPr>
                        <a:t>~0</a:t>
                      </a: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.8</a:t>
                      </a:r>
                      <a:endParaRPr sz="1100" dirty="0">
                        <a:solidFill>
                          <a:srgbClr val="1A1A1A"/>
                        </a:solidFill>
                      </a:endParaRPr>
                    </a:p>
                  </a:txBody>
                  <a:tcPr>
                    <a:solidFill>
                      <a:srgbClr val="F5F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T017 (Anatomy)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T081 (Quantitative Concept)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1A1A1A"/>
                          </a:solidFill>
                        </a:rPr>
                        <a:t>~0</a:t>
                      </a: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.7</a:t>
                      </a:r>
                      <a:endParaRPr sz="1100" dirty="0">
                        <a:solidFill>
                          <a:srgbClr val="1A1A1A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457200" y="3401568"/>
            <a:ext cx="41148" cy="5943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98348" y="3401568"/>
            <a:ext cx="5262372" cy="59436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6928" y="3474720"/>
            <a:ext cx="510235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>
                <a:solidFill>
                  <a:srgbClr val="1A1A1A"/>
                </a:solidFill>
              </a:rPr>
              <a:t>Class weighting helps frequent entities but very rare classes (&lt; 5 training examples) remain near zero - a fundamental data sparsity problem.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199" y="4087368"/>
            <a:ext cx="45719" cy="905256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98348" y="4087367"/>
            <a:ext cx="5262372" cy="905257"/>
          </a:xfrm>
          <a:prstGeom prst="rect">
            <a:avLst/>
          </a:prstGeom>
          <a:solidFill>
            <a:srgbClr val="E6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" y="4160520"/>
            <a:ext cx="510235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>
                <a:solidFill>
                  <a:srgbClr val="1A1A1A"/>
                </a:solidFill>
              </a:rPr>
              <a:t>Baseline: P=0.631 R=0.673 F1=0.652 | Weighted: P=0.649 R=0.651 F1=0.650
</a:t>
            </a:r>
            <a:r>
              <a:rPr lang="en-US" sz="1100" dirty="0">
                <a:solidFill>
                  <a:srgbClr val="1A1A1A"/>
                </a:solidFill>
              </a:rPr>
              <a:t>Peer</a:t>
            </a:r>
            <a:r>
              <a:rPr sz="1100" dirty="0">
                <a:solidFill>
                  <a:srgbClr val="1A1A1A"/>
                </a:solidFill>
              </a:rPr>
              <a:t> baselines: </a:t>
            </a:r>
            <a:r>
              <a:rPr sz="1100" dirty="0" err="1">
                <a:solidFill>
                  <a:srgbClr val="1A1A1A"/>
                </a:solidFill>
              </a:rPr>
              <a:t>TaggerOne</a:t>
            </a:r>
            <a:r>
              <a:rPr sz="1100" dirty="0">
                <a:solidFill>
                  <a:srgbClr val="1A1A1A"/>
                </a:solidFill>
              </a:rPr>
              <a:t> F1=0.453 · BERT ceiling 0.56</a:t>
            </a:r>
            <a:r>
              <a:rPr lang="en-US" sz="1100" dirty="0">
                <a:solidFill>
                  <a:srgbClr val="1A1A1A"/>
                </a:solidFill>
              </a:rPr>
              <a:t>, </a:t>
            </a:r>
            <a:r>
              <a:rPr sz="1100" dirty="0">
                <a:solidFill>
                  <a:srgbClr val="1A1A1A"/>
                </a:solidFill>
              </a:rPr>
              <a:t>this project exceeds </a:t>
            </a:r>
            <a:r>
              <a:rPr lang="en-US" sz="1100" dirty="0">
                <a:solidFill>
                  <a:srgbClr val="1A1A1A"/>
                </a:solidFill>
              </a:rPr>
              <a:t>this metric.</a:t>
            </a:r>
            <a:r>
              <a:rPr sz="1100" dirty="0">
                <a:solidFill>
                  <a:srgbClr val="1A1A1A"/>
                </a:solidFill>
              </a:rPr>
              <a:t>
Encoder architecture is clearly better at structured token-level classification.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1874519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56A8"/>
                </a:solidFill>
              </a:rPr>
              <a:t>Evaluation Caveat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2176272"/>
            <a:ext cx="41148" cy="10058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59068" y="2176272"/>
            <a:ext cx="5445252" cy="100584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27648" y="2249424"/>
            <a:ext cx="528523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>
                <a:solidFill>
                  <a:srgbClr val="1A1A1A"/>
                </a:solidFill>
              </a:rPr>
              <a:t>Asymmetric evaluation: </a:t>
            </a:r>
            <a:r>
              <a:rPr sz="1100" dirty="0" err="1">
                <a:solidFill>
                  <a:srgbClr val="1A1A1A"/>
                </a:solidFill>
              </a:rPr>
              <a:t>BioClinicalBERT</a:t>
            </a:r>
            <a:r>
              <a:rPr sz="1100" dirty="0">
                <a:solidFill>
                  <a:srgbClr val="1A1A1A"/>
                </a:solidFill>
              </a:rPr>
              <a:t> was evaluated on the full test split</a:t>
            </a:r>
            <a:r>
              <a:rPr lang="en-US" sz="1100" dirty="0">
                <a:solidFill>
                  <a:srgbClr val="1A1A1A"/>
                </a:solidFill>
              </a:rPr>
              <a:t>;</a:t>
            </a:r>
          </a:p>
          <a:p>
            <a:r>
              <a:rPr sz="1100" dirty="0" err="1">
                <a:solidFill>
                  <a:srgbClr val="1A1A1A"/>
                </a:solidFill>
              </a:rPr>
              <a:t>MedGemma</a:t>
            </a:r>
            <a:r>
              <a:rPr sz="1100" dirty="0">
                <a:solidFill>
                  <a:srgbClr val="1A1A1A"/>
                </a:solidFill>
              </a:rPr>
              <a:t> only on a 10% subset due to slow inference.
Direct F1 comparison is not </a:t>
            </a:r>
            <a:r>
              <a:rPr lang="en-US" sz="1100" dirty="0">
                <a:solidFill>
                  <a:srgbClr val="1A1A1A"/>
                </a:solidFill>
              </a:rPr>
              <a:t>completely fair</a:t>
            </a:r>
            <a:r>
              <a:rPr sz="1100" dirty="0">
                <a:solidFill>
                  <a:srgbClr val="1A1A1A"/>
                </a:solidFill>
              </a:rPr>
              <a:t>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3291840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56A8"/>
                </a:solidFill>
              </a:rPr>
              <a:t>Root Cause of Low Overall Scores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3593592"/>
            <a:ext cx="41148" cy="8046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59068" y="3593592"/>
            <a:ext cx="5445252" cy="804672"/>
          </a:xfrm>
          <a:prstGeom prst="rect">
            <a:avLst/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27648" y="3666744"/>
            <a:ext cx="528523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 err="1">
                <a:solidFill>
                  <a:srgbClr val="1A1A1A"/>
                </a:solidFill>
              </a:rPr>
              <a:t>MedMentions</a:t>
            </a:r>
            <a:r>
              <a:rPr sz="1100" dirty="0">
                <a:solidFill>
                  <a:srgbClr val="1A1A1A"/>
                </a:solidFill>
              </a:rPr>
              <a:t> has 127 UMLS semantic types; the dataset variant (MTI881) includ</a:t>
            </a:r>
            <a:r>
              <a:rPr lang="en-US" sz="1100" dirty="0">
                <a:solidFill>
                  <a:srgbClr val="1A1A1A"/>
                </a:solidFill>
              </a:rPr>
              <a:t>ing</a:t>
            </a:r>
            <a:r>
              <a:rPr sz="1100" dirty="0">
                <a:solidFill>
                  <a:srgbClr val="1A1A1A"/>
                </a:solidFill>
              </a:rPr>
              <a:t> many with &lt; 5 training examples</a:t>
            </a:r>
            <a:r>
              <a:rPr lang="en-US" sz="1100" dirty="0">
                <a:solidFill>
                  <a:srgbClr val="1A1A1A"/>
                </a:solidFill>
              </a:rPr>
              <a:t>, creating a fundamental underfitting errors for models.</a:t>
            </a:r>
            <a:endParaRPr sz="1100" dirty="0">
              <a:solidFill>
                <a:srgbClr val="1A1A1A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64592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56A8"/>
                </a:solidFill>
              </a:rPr>
              <a:t>NER Training Analysis - Bio_ClinicalBERT (Weighted)</a:t>
            </a:r>
          </a:p>
        </p:txBody>
      </p:sp>
      <p:pic>
        <p:nvPicPr>
          <p:cNvPr id="3" name="Picture 2" descr="ner02_cell18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11430000" cy="31574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4026138"/>
            <a:ext cx="1143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>
                <a:solidFill>
                  <a:srgbClr val="666666"/>
                </a:solidFill>
              </a:rPr>
              <a:t>Training loss converges </a:t>
            </a:r>
            <a:r>
              <a:rPr lang="en-US" sz="1000" b="0" i="1" dirty="0">
                <a:solidFill>
                  <a:srgbClr val="666666"/>
                </a:solidFill>
              </a:rPr>
              <a:t>-</a:t>
            </a:r>
            <a:r>
              <a:rPr sz="1000" b="0" i="1" dirty="0">
                <a:solidFill>
                  <a:srgbClr val="666666"/>
                </a:solidFill>
              </a:rPr>
              <a:t> validation loss rises (class-weighted CE inflates it) </a:t>
            </a:r>
            <a:r>
              <a:rPr lang="en-US" sz="1000" b="0" i="1" dirty="0">
                <a:solidFill>
                  <a:srgbClr val="666666"/>
                </a:solidFill>
              </a:rPr>
              <a:t>-</a:t>
            </a:r>
            <a:r>
              <a:rPr sz="1000" b="0" i="1" dirty="0">
                <a:solidFill>
                  <a:srgbClr val="666666"/>
                </a:solidFill>
              </a:rPr>
              <a:t> </a:t>
            </a:r>
            <a:r>
              <a:rPr sz="1000" b="0" i="1" dirty="0" err="1">
                <a:solidFill>
                  <a:srgbClr val="666666"/>
                </a:solidFill>
              </a:rPr>
              <a:t>seqeval</a:t>
            </a:r>
            <a:r>
              <a:rPr sz="1000" b="0" i="1" dirty="0">
                <a:solidFill>
                  <a:srgbClr val="666666"/>
                </a:solidFill>
              </a:rPr>
              <a:t> F1 steadily improves to 0.65 · Both variants achieve comparable F1 (0.652 baseline / 0.650 weighted)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206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1A1A1A"/>
                </a:solidFill>
              </a:rPr>
              <a:t>Published context: </a:t>
            </a:r>
            <a:r>
              <a:rPr sz="1000" b="0" i="0" dirty="0" err="1">
                <a:solidFill>
                  <a:srgbClr val="1A1A1A"/>
                </a:solidFill>
              </a:rPr>
              <a:t>TaggerOne</a:t>
            </a:r>
            <a:r>
              <a:rPr sz="1000" b="0" i="0" dirty="0">
                <a:solidFill>
                  <a:srgbClr val="1A1A1A"/>
                </a:solidFill>
              </a:rPr>
              <a:t> baseline F1=0.453 · BERT ceiling ~0.56 · This project F1=0.65 ✓ above published BERT ceiling · Asymmetric eval: BERT on full 2,926-sample test; </a:t>
            </a:r>
            <a:r>
              <a:rPr sz="1000" b="0" i="0" dirty="0" err="1">
                <a:solidFill>
                  <a:srgbClr val="1A1A1A"/>
                </a:solidFill>
              </a:rPr>
              <a:t>MedGemma</a:t>
            </a:r>
            <a:r>
              <a:rPr sz="1000" b="0" i="0" dirty="0">
                <a:solidFill>
                  <a:srgbClr val="1A1A1A"/>
                </a:solidFill>
              </a:rPr>
              <a:t> on 10% subset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</a:rPr>
              <a:t>CSCI E-222 · NLP for Healthcare · O. Mykhailovskyi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5836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9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6547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66666"/>
                </a:solidFill>
              </a:rPr>
              <a:t>BERT QA training: oscillating loss + flat F1 → model never learns from 512-token truncated inputs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56A8"/>
                </a:solidFill>
              </a:rPr>
              <a:t>Results - Task 2: Medical Question Answering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67512"/>
            <a:ext cx="11091672" cy="2286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5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88952" cy="9144"/>
          </a:xfrm>
          <a:prstGeom prst="rect">
            <a:avLst/>
          </a:prstGeom>
          <a:solidFill>
            <a:srgbClr val="D0E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CSCI E-222 · NLP for Healthcare · O. Mykhailovskyi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836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10 / 19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868680"/>
            <a:ext cx="2651760" cy="822960"/>
          </a:xfrm>
          <a:prstGeom prst="rect">
            <a:avLst/>
          </a:prstGeom>
          <a:solidFill>
            <a:srgbClr val="F5F8FE"/>
          </a:solidFill>
          <a:ln w="12700">
            <a:solidFill>
              <a:srgbClr val="D0E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96012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666666"/>
                </a:solidFill>
              </a:rPr>
              <a:t>25%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32588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</a:rPr>
              <a:t>Random baseline
(4-choice)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868680"/>
            <a:ext cx="2651760" cy="822960"/>
          </a:xfrm>
          <a:prstGeom prst="rect">
            <a:avLst/>
          </a:prstGeom>
          <a:solidFill>
            <a:srgbClr val="F5F8FE"/>
          </a:solidFill>
          <a:ln w="12700">
            <a:solidFill>
              <a:srgbClr val="D0E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46120" y="960120"/>
            <a:ext cx="2651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>
                <a:solidFill>
                  <a:srgbClr val="C0392B"/>
                </a:solidFill>
              </a:rPr>
              <a:t>26.2%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132588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</a:rPr>
              <a:t>BioClinicalBERT
Test Accuracy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868680"/>
            <a:ext cx="2651760" cy="822960"/>
          </a:xfrm>
          <a:prstGeom prst="rect">
            <a:avLst/>
          </a:prstGeom>
          <a:solidFill>
            <a:srgbClr val="F5F8FE"/>
          </a:solidFill>
          <a:ln w="12700">
            <a:solidFill>
              <a:srgbClr val="D0E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35040" y="96012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67E22"/>
                </a:solidFill>
              </a:rPr>
              <a:t>55%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132588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</a:rPr>
              <a:t>MedGemma-4B
Test Accuracy (fine-tuned)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23960" y="868680"/>
            <a:ext cx="2651760" cy="822960"/>
          </a:xfrm>
          <a:prstGeom prst="rect">
            <a:avLst/>
          </a:prstGeom>
          <a:solidFill>
            <a:srgbClr val="F5F8FE"/>
          </a:solidFill>
          <a:ln w="12700">
            <a:solidFill>
              <a:srgbClr val="D0E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23960" y="960120"/>
            <a:ext cx="2651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1A7A40"/>
                </a:solidFill>
              </a:rPr>
              <a:t>84</a:t>
            </a:r>
            <a:r>
              <a:rPr sz="2400" b="1" dirty="0">
                <a:solidFill>
                  <a:srgbClr val="1A7A40"/>
                </a:solidFill>
              </a:rPr>
              <a:t>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1325880"/>
            <a:ext cx="2651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0" dirty="0">
                <a:solidFill>
                  <a:srgbClr val="666666"/>
                </a:solidFill>
              </a:rPr>
              <a:t>GPT-4</a:t>
            </a:r>
          </a:p>
          <a:p>
            <a:pPr algn="ctr"/>
            <a:r>
              <a:rPr sz="1000" b="0" dirty="0">
                <a:solidFill>
                  <a:srgbClr val="666666"/>
                </a:solidFill>
              </a:rPr>
              <a:t>Official benchmark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1874519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56A8"/>
                </a:solidFill>
              </a:rPr>
              <a:t>Why BioClinicalBERT Underperforms on QA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176272"/>
            <a:ext cx="530352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50" dirty="0">
                <a:solidFill>
                  <a:srgbClr val="1A1A1A"/>
                </a:solidFill>
              </a:rPr>
              <a:t>• Max sequence length 512 tokens - left-side truncation; long </a:t>
            </a:r>
            <a:r>
              <a:rPr lang="en-US" sz="1250" dirty="0">
                <a:solidFill>
                  <a:srgbClr val="1A1A1A"/>
                </a:solidFill>
              </a:rPr>
              <a:t>texts</a:t>
            </a:r>
            <a:r>
              <a:rPr sz="1250" dirty="0">
                <a:solidFill>
                  <a:srgbClr val="1A1A1A"/>
                </a:solidFill>
              </a:rPr>
              <a:t> may lose question text</a:t>
            </a:r>
          </a:p>
          <a:p>
            <a:pPr>
              <a:spcBef>
                <a:spcPts val="300"/>
              </a:spcBef>
            </a:pPr>
            <a:r>
              <a:rPr sz="1250" dirty="0">
                <a:solidFill>
                  <a:srgbClr val="1A1A1A"/>
                </a:solidFill>
              </a:rPr>
              <a:t>• Bidirectional encoder not designed for reasoning</a:t>
            </a:r>
          </a:p>
          <a:p>
            <a:pPr>
              <a:spcBef>
                <a:spcPts val="300"/>
              </a:spcBef>
            </a:pPr>
            <a:r>
              <a:rPr sz="1250" dirty="0">
                <a:solidFill>
                  <a:srgbClr val="1A1A1A"/>
                </a:solidFill>
              </a:rPr>
              <a:t>• Result: 26% accuracy</a:t>
            </a:r>
            <a:r>
              <a:rPr lang="en-US" sz="1250" dirty="0">
                <a:solidFill>
                  <a:srgbClr val="1A1A1A"/>
                </a:solidFill>
              </a:rPr>
              <a:t>, while</a:t>
            </a:r>
            <a:r>
              <a:rPr sz="1250" dirty="0">
                <a:solidFill>
                  <a:srgbClr val="1A1A1A"/>
                </a:solidFill>
              </a:rPr>
              <a:t> 25% </a:t>
            </a:r>
            <a:r>
              <a:rPr lang="en-US" sz="1250" dirty="0">
                <a:solidFill>
                  <a:srgbClr val="1A1A1A"/>
                </a:solidFill>
              </a:rPr>
              <a:t> is a </a:t>
            </a:r>
            <a:r>
              <a:rPr sz="1250" dirty="0">
                <a:solidFill>
                  <a:srgbClr val="1A1A1A"/>
                </a:solidFill>
              </a:rPr>
              <a:t>random baseline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199" y="3639312"/>
            <a:ext cx="45719" cy="8229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98348" y="3639311"/>
            <a:ext cx="5262372" cy="850391"/>
          </a:xfrm>
          <a:prstGeom prst="rect">
            <a:avLst/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6928" y="3712464"/>
            <a:ext cx="510235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 err="1">
                <a:solidFill>
                  <a:srgbClr val="1A1A1A"/>
                </a:solidFill>
              </a:rPr>
              <a:t>BioClinicalBERT</a:t>
            </a:r>
            <a:r>
              <a:rPr sz="1100" dirty="0">
                <a:solidFill>
                  <a:srgbClr val="1A1A1A"/>
                </a:solidFill>
              </a:rPr>
              <a:t> is architecturally </a:t>
            </a:r>
            <a:r>
              <a:rPr lang="en-US" sz="1100" dirty="0">
                <a:solidFill>
                  <a:srgbClr val="1A1A1A"/>
                </a:solidFill>
              </a:rPr>
              <a:t>not fit </a:t>
            </a:r>
            <a:r>
              <a:rPr sz="1100" dirty="0">
                <a:solidFill>
                  <a:srgbClr val="1A1A1A"/>
                </a:solidFill>
              </a:rPr>
              <a:t>for QA. Published baseline: </a:t>
            </a:r>
            <a:r>
              <a:rPr sz="1100" dirty="0" err="1">
                <a:solidFill>
                  <a:srgbClr val="1A1A1A"/>
                </a:solidFill>
              </a:rPr>
              <a:t>BioBERT</a:t>
            </a:r>
            <a:r>
              <a:rPr sz="1100" dirty="0">
                <a:solidFill>
                  <a:srgbClr val="1A1A1A"/>
                </a:solidFill>
              </a:rPr>
              <a:t>-Large fine-tuned achieves only 36.7% on this test set (Jin et al. 2021); GPT-3.5 reaches 53.6%, GPT-4 84%. MedGemma-4B at 55% is </a:t>
            </a:r>
            <a:r>
              <a:rPr lang="en-US" sz="1100" dirty="0">
                <a:solidFill>
                  <a:srgbClr val="1A1A1A"/>
                </a:solidFill>
              </a:rPr>
              <a:t>at</a:t>
            </a:r>
            <a:r>
              <a:rPr sz="1100" dirty="0">
                <a:solidFill>
                  <a:srgbClr val="1A1A1A"/>
                </a:solidFill>
              </a:rPr>
              <a:t> GPT-3.5 level for a 4B model fine-tuned for 2 epochs.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1874519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56A8"/>
                </a:solidFill>
              </a:rPr>
              <a:t>MedGemma-4B Fine-tuning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176272"/>
            <a:ext cx="5486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50">
                <a:solidFill>
                  <a:srgbClr val="1A1A1A"/>
                </a:solidFill>
              </a:rPr>
              <a:t>• 55% test accuracy - 2× random baseline (ECE not applicable; generative model)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1A1A1A"/>
                </a:solidFill>
              </a:rPr>
              <a:t>• Official pre-trained benchmark: 64.4% on MedQA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1A1A1A"/>
                </a:solidFill>
              </a:rPr>
              <a:t>• Fine-tuning DEGRADED performance vs. pre-trained baseline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1A1A1A"/>
                </a:solidFill>
              </a:rPr>
              <a:t>• Possible causes: only 2 epochs, LR too high (2e-4), 10 warmup steps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1A1A1A"/>
                </a:solidFill>
              </a:rPr>
              <a:t>• Catastrophic forgetting: fine-tuning may damage medical priors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776472"/>
            <a:ext cx="41148" cy="7132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59068" y="3776472"/>
            <a:ext cx="5445252" cy="71323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27648" y="3849624"/>
            <a:ext cx="528523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1A1A1A"/>
                </a:solidFill>
              </a:rPr>
              <a:t>S</a:t>
            </a:r>
            <a:r>
              <a:rPr sz="1100" dirty="0">
                <a:solidFill>
                  <a:srgbClr val="1A1A1A"/>
                </a:solidFill>
              </a:rPr>
              <a:t>trong</a:t>
            </a:r>
            <a:r>
              <a:rPr lang="en-US" sz="1100" dirty="0">
                <a:solidFill>
                  <a:srgbClr val="1A1A1A"/>
                </a:solidFill>
              </a:rPr>
              <a:t>ly</a:t>
            </a:r>
            <a:r>
              <a:rPr sz="1100" dirty="0">
                <a:solidFill>
                  <a:srgbClr val="1A1A1A"/>
                </a:solidFill>
              </a:rPr>
              <a:t> pre-trained medical model already </a:t>
            </a:r>
            <a:r>
              <a:rPr lang="en-US" sz="1100" dirty="0">
                <a:solidFill>
                  <a:srgbClr val="1A1A1A"/>
                </a:solidFill>
              </a:rPr>
              <a:t>has intrinsic medical knowledge</a:t>
            </a:r>
            <a:r>
              <a:rPr sz="1100" dirty="0">
                <a:solidFill>
                  <a:srgbClr val="1A1A1A"/>
                </a:solidFill>
              </a:rPr>
              <a:t>. </a:t>
            </a:r>
            <a:r>
              <a:rPr lang="en-US" sz="1100" dirty="0">
                <a:solidFill>
                  <a:srgbClr val="1A1A1A"/>
                </a:solidFill>
              </a:rPr>
              <a:t>Fine-tuning it on the </a:t>
            </a:r>
            <a:r>
              <a:rPr lang="en-US" sz="1100" dirty="0" err="1">
                <a:solidFill>
                  <a:srgbClr val="1A1A1A"/>
                </a:solidFill>
              </a:rPr>
              <a:t>MedQA</a:t>
            </a:r>
            <a:r>
              <a:rPr lang="en-US" sz="1100" dirty="0">
                <a:solidFill>
                  <a:srgbClr val="1A1A1A"/>
                </a:solidFill>
              </a:rPr>
              <a:t> task improves its performance and achieves the levels of widely distributed models such as GPT-3.5</a:t>
            </a:r>
            <a:endParaRPr sz="1100" dirty="0">
              <a:solidFill>
                <a:srgbClr val="1A1A1A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64592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56A8"/>
                </a:solidFill>
              </a:rPr>
              <a:t>QA Confusion Matrices: BERT vs MedGemma-4B (200 samples)</a:t>
            </a:r>
          </a:p>
        </p:txBody>
      </p:sp>
      <p:pic>
        <p:nvPicPr>
          <p:cNvPr id="3" name="Picture 2" descr="comp_cell16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11430000" cy="415636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8080" y="4933603"/>
            <a:ext cx="1143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>
                <a:solidFill>
                  <a:srgbClr val="666666"/>
                </a:solidFill>
              </a:rPr>
              <a:t>BERT: near-uniform matrix (~25% each option) = guessing · </a:t>
            </a:r>
            <a:r>
              <a:rPr sz="1000" b="0" i="1" dirty="0" err="1">
                <a:solidFill>
                  <a:srgbClr val="666666"/>
                </a:solidFill>
              </a:rPr>
              <a:t>MedGemma</a:t>
            </a:r>
            <a:r>
              <a:rPr sz="1000" b="0" i="1" dirty="0">
                <a:solidFill>
                  <a:srgbClr val="666666"/>
                </a:solidFill>
              </a:rPr>
              <a:t>: strong diagonal = genuine medical reasoning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</a:rPr>
              <a:t>CSCI E-222 · NLP for Healthcare · O. Mykhailovskyi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5836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56A8"/>
                </a:solidFill>
              </a:rPr>
              <a:t>Comparative Analysis: Encoder vs. Decoder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67512"/>
            <a:ext cx="11091672" cy="2286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5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88952" cy="9144"/>
          </a:xfrm>
          <a:prstGeom prst="rect">
            <a:avLst/>
          </a:prstGeom>
          <a:solidFill>
            <a:srgbClr val="D0E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CSCI E-222 · NLP for Healthcare · O. Mykhailovskyi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836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12 / 19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868680"/>
          <a:ext cx="107899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Dimension</a:t>
                      </a:r>
                    </a:p>
                  </a:txBody>
                  <a:tcPr>
                    <a:solidFill>
                      <a:srgbClr val="1A56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Bio_ClinicalBERT (Encoder)</a:t>
                      </a:r>
                    </a:p>
                  </a:txBody>
                  <a:tcPr>
                    <a:solidFill>
                      <a:srgbClr val="1A56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MedGemma-4B (Decoder)</a:t>
                      </a:r>
                    </a:p>
                  </a:txBody>
                  <a:tcPr>
                    <a:solidFill>
                      <a:srgbClr val="1A56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NER Macro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0.65 (full test, token classifier)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0.27 (subset, generative)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QA Accuracy</a:t>
                      </a:r>
                    </a:p>
                  </a:txBody>
                  <a:tcPr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~26%  (≈ random)</a:t>
                      </a:r>
                    </a:p>
                  </a:txBody>
                  <a:tcPr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55.7%</a:t>
                      </a:r>
                    </a:p>
                  </a:txBody>
                  <a:tcPr>
                    <a:solidFill>
                      <a:srgbClr val="F5F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GPU time / 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~20–40 min (110 M params)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~1.5–2.5 h (4B, QLoRA)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Trainable params</a:t>
                      </a:r>
                    </a:p>
                  </a:txBody>
                  <a:tcPr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110 M (full fine-tune)</a:t>
                      </a:r>
                    </a:p>
                  </a:txBody>
                  <a:tcPr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33 M (0.76% via LoRA)</a:t>
                      </a:r>
                    </a:p>
                  </a:txBody>
                  <a:tcPr>
                    <a:solidFill>
                      <a:srgbClr val="F5F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Inference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Fast (single forward pass)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Slow (autoregressive)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Best suited for</a:t>
                      </a:r>
                    </a:p>
                  </a:txBody>
                  <a:tcPr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Classification, token labeling, NER</a:t>
                      </a:r>
                    </a:p>
                  </a:txBody>
                  <a:tcPr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Reasoning, generation, QA</a:t>
                      </a:r>
                    </a:p>
                  </a:txBody>
                  <a:tcPr>
                    <a:solidFill>
                      <a:srgbClr val="F5F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3584448"/>
            <a:ext cx="41148" cy="804672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98348" y="3584448"/>
            <a:ext cx="11233404" cy="804672"/>
          </a:xfrm>
          <a:prstGeom prst="rect">
            <a:avLst/>
          </a:prstGeom>
          <a:solidFill>
            <a:srgbClr val="E6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3657600"/>
            <a:ext cx="1107338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dirty="0">
                <a:solidFill>
                  <a:srgbClr val="1A1A1A"/>
                </a:solidFill>
              </a:rPr>
              <a:t>Key: Use the right architecture for the task.
Encoders excel at structured extraction (NER). Decoders excel at open-ended reasoning (QA).
Neither model is universally better - task-architecture alignment is </a:t>
            </a:r>
            <a:r>
              <a:rPr lang="en-US" sz="1300" dirty="0">
                <a:solidFill>
                  <a:srgbClr val="1A1A1A"/>
                </a:solidFill>
              </a:rPr>
              <a:t>important.</a:t>
            </a:r>
            <a:endParaRPr sz="1300" dirty="0">
              <a:solidFill>
                <a:srgbClr val="1A1A1A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7200" y="4480560"/>
            <a:ext cx="41148" cy="62179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98348" y="4480560"/>
            <a:ext cx="11233404" cy="62179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4553712"/>
            <a:ext cx="1107338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</a:rPr>
              <a:t>Note: NER comparison is not a clean head-to-head - BERT on full 2,926-sample test split, MedGemma on 10% qualitative subset only.
200-sample QA comparative subset: BERT 30.0% accuracy / Gemma 56.5% accuracy.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64592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56A8"/>
                </a:solidFill>
              </a:rPr>
              <a:t>Comparative: All Tasks &amp; Metrics</a:t>
            </a:r>
          </a:p>
        </p:txBody>
      </p:sp>
      <p:pic>
        <p:nvPicPr>
          <p:cNvPr id="3" name="Picture 2" descr="comp_cell19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5760720" cy="50979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92240" y="777240"/>
            <a:ext cx="5303520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1A56A8"/>
                </a:solidFill>
              </a:rPr>
              <a:t>NER</a:t>
            </a:r>
            <a:r>
              <a:rPr lang="en-US" sz="1300" b="1" dirty="0">
                <a:solidFill>
                  <a:srgbClr val="1A56A8"/>
                </a:solidFill>
              </a:rPr>
              <a:t>:</a:t>
            </a:r>
            <a:r>
              <a:rPr sz="1300" b="1" dirty="0">
                <a:solidFill>
                  <a:srgbClr val="1A56A8"/>
                </a:solidFill>
              </a:rPr>
              <a:t> </a:t>
            </a:r>
            <a:r>
              <a:rPr sz="1300" b="1" dirty="0" err="1">
                <a:solidFill>
                  <a:srgbClr val="1A56A8"/>
                </a:solidFill>
              </a:rPr>
              <a:t>Bio_ClinicalBERT</a:t>
            </a:r>
            <a:r>
              <a:rPr sz="1300" b="1" dirty="0">
                <a:solidFill>
                  <a:srgbClr val="1A56A8"/>
                </a:solidFill>
              </a:rPr>
              <a:t> wins</a:t>
            </a:r>
          </a:p>
          <a:p>
            <a:r>
              <a:rPr sz="1200" b="0" dirty="0">
                <a:solidFill>
                  <a:srgbClr val="1A1A1A"/>
                </a:solidFill>
              </a:rPr>
              <a:t>F1: 0.65 vs 0.27 · Bidirectional attention</a:t>
            </a:r>
          </a:p>
          <a:p>
            <a:endParaRPr sz="1200" b="0" dirty="0">
              <a:solidFill>
                <a:srgbClr val="1A1A1A"/>
              </a:solidFill>
            </a:endParaRPr>
          </a:p>
          <a:p>
            <a:r>
              <a:rPr sz="1300" b="1" dirty="0">
                <a:solidFill>
                  <a:srgbClr val="1A56A8"/>
                </a:solidFill>
              </a:rPr>
              <a:t>QA</a:t>
            </a:r>
            <a:r>
              <a:rPr lang="en-US" sz="1300" b="1" dirty="0">
                <a:solidFill>
                  <a:srgbClr val="1A56A8"/>
                </a:solidFill>
              </a:rPr>
              <a:t>:</a:t>
            </a:r>
            <a:r>
              <a:rPr sz="1300" b="1" dirty="0">
                <a:solidFill>
                  <a:srgbClr val="1A56A8"/>
                </a:solidFill>
              </a:rPr>
              <a:t> MedGemma-4B wins</a:t>
            </a:r>
          </a:p>
          <a:p>
            <a:r>
              <a:rPr sz="1200" b="0" dirty="0">
                <a:solidFill>
                  <a:srgbClr val="1A1A1A"/>
                </a:solidFill>
              </a:rPr>
              <a:t>55% vs 26.2% · 1,024-token context</a:t>
            </a:r>
          </a:p>
          <a:p>
            <a:endParaRPr sz="1200" b="0" dirty="0">
              <a:solidFill>
                <a:srgbClr val="1A1A1A"/>
              </a:solidFill>
            </a:endParaRPr>
          </a:p>
          <a:p>
            <a:r>
              <a:rPr lang="en-US" sz="1300" b="1" dirty="0">
                <a:solidFill>
                  <a:srgbClr val="1A1A1A"/>
                </a:solidFill>
              </a:rPr>
              <a:t>Summary</a:t>
            </a:r>
            <a:endParaRPr sz="1300" b="1" dirty="0">
              <a:solidFill>
                <a:srgbClr val="1A1A1A"/>
              </a:solidFill>
            </a:endParaRPr>
          </a:p>
          <a:p>
            <a:r>
              <a:rPr lang="en-US" sz="1200" dirty="0">
                <a:solidFill>
                  <a:srgbClr val="1A1A1A"/>
                </a:solidFill>
              </a:rPr>
              <a:t>No universally performant model, task-specific architectures</a:t>
            </a:r>
          </a:p>
          <a:p>
            <a:r>
              <a:rPr lang="en-US" sz="1200" dirty="0">
                <a:solidFill>
                  <a:srgbClr val="1A1A1A"/>
                </a:solidFill>
              </a:rPr>
              <a:t>d</a:t>
            </a:r>
            <a:r>
              <a:rPr lang="en-US" sz="1200" b="0" dirty="0">
                <a:solidFill>
                  <a:srgbClr val="1A1A1A"/>
                </a:solidFill>
              </a:rPr>
              <a:t>emonstrate better results.</a:t>
            </a:r>
            <a:endParaRPr sz="1200" b="0" dirty="0">
              <a:solidFill>
                <a:srgbClr val="1A1A1A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658368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</a:rPr>
              <a:t>CSCI E-222 · NLP for Healthcare · O. Mykhailovskyi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5836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2446632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dirty="0">
                <a:solidFill>
                  <a:srgbClr val="1A56A8"/>
                </a:solidFill>
              </a:rPr>
              <a:t>Compute Estimates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67512"/>
            <a:ext cx="11091672" cy="2286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5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88952" cy="9144"/>
          </a:xfrm>
          <a:prstGeom prst="rect">
            <a:avLst/>
          </a:prstGeom>
          <a:solidFill>
            <a:srgbClr val="D0E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CSCI E-222 · NLP for Healthcare · O. Mykhailovskyi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836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14 / 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779526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56A8"/>
                </a:solidFill>
              </a:rPr>
              <a:t>GPU Execution Time (Google Colab A100)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865207"/>
              </p:ext>
            </p:extLst>
          </p:nvPr>
        </p:nvGraphicFramePr>
        <p:xfrm>
          <a:off x="365760" y="1108710"/>
          <a:ext cx="54864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Notebook</a:t>
                      </a:r>
                    </a:p>
                  </a:txBody>
                  <a:tcPr>
                    <a:solidFill>
                      <a:srgbClr val="1A56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Actual / Estimated</a:t>
                      </a:r>
                    </a:p>
                  </a:txBody>
                  <a:tcPr>
                    <a:solidFill>
                      <a:srgbClr val="1A56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1A1A1A"/>
                          </a:solidFill>
                        </a:rPr>
                        <a:t>BERT NER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1A1A1A"/>
                          </a:solidFill>
                        </a:rPr>
                        <a:t>~</a:t>
                      </a: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40 min</a:t>
                      </a:r>
                      <a:endParaRPr sz="1100" dirty="0">
                        <a:solidFill>
                          <a:srgbClr val="1A1A1A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1A1A1A"/>
                          </a:solidFill>
                        </a:rPr>
                        <a:t>BERT NER weighted</a:t>
                      </a:r>
                    </a:p>
                  </a:txBody>
                  <a:tcPr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1A1A1A"/>
                          </a:solidFill>
                        </a:rPr>
                        <a:t>~</a:t>
                      </a: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30 min</a:t>
                      </a:r>
                      <a:endParaRPr sz="1100" dirty="0">
                        <a:solidFill>
                          <a:srgbClr val="1A1A1A"/>
                        </a:solidFill>
                      </a:endParaRPr>
                    </a:p>
                  </a:txBody>
                  <a:tcPr>
                    <a:solidFill>
                      <a:srgbClr val="F5F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r>
                        <a:rPr sz="1100" dirty="0" err="1">
                          <a:solidFill>
                            <a:srgbClr val="1A1A1A"/>
                          </a:solidFill>
                        </a:rPr>
                        <a:t>MedGemma</a:t>
                      </a:r>
                      <a:r>
                        <a:rPr sz="1100" dirty="0">
                          <a:solidFill>
                            <a:srgbClr val="1A1A1A"/>
                          </a:solidFill>
                        </a:rPr>
                        <a:t> NER (300 steps only)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1A1A1A"/>
                          </a:solidFill>
                        </a:rPr>
                        <a:t>~</a:t>
                      </a: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1h</a:t>
                      </a:r>
                      <a:r>
                        <a:rPr sz="1100" dirty="0">
                          <a:solidFill>
                            <a:srgbClr val="1A1A1A"/>
                          </a:solidFill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1A1A1A"/>
                          </a:solidFill>
                        </a:rPr>
                        <a:t>BERT QA</a:t>
                      </a:r>
                    </a:p>
                  </a:txBody>
                  <a:tcPr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1A1A1A"/>
                          </a:solidFill>
                        </a:rPr>
                        <a:t>~</a:t>
                      </a: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40 min</a:t>
                      </a:r>
                      <a:endParaRPr sz="1100" dirty="0">
                        <a:solidFill>
                          <a:srgbClr val="1A1A1A"/>
                        </a:solidFill>
                      </a:endParaRPr>
                    </a:p>
                  </a:txBody>
                  <a:tcPr>
                    <a:solidFill>
                      <a:srgbClr val="F5F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MedGemma QA (2 epochs)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1A1A1A"/>
                          </a:solidFill>
                        </a:rPr>
                        <a:t>~1.5</a:t>
                      </a: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h</a:t>
                      </a:r>
                      <a:endParaRPr sz="1100" dirty="0">
                        <a:solidFill>
                          <a:srgbClr val="1A1A1A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1A1A1A"/>
                          </a:solidFill>
                        </a:rPr>
                        <a:t>Comparative analysis</a:t>
                      </a:r>
                    </a:p>
                  </a:txBody>
                  <a:tcPr>
                    <a:solidFill>
                      <a:srgbClr val="F5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1A1A1A"/>
                          </a:solidFill>
                        </a:rPr>
                        <a:t>~</a:t>
                      </a: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30 min</a:t>
                      </a:r>
                      <a:endParaRPr sz="1100" dirty="0">
                        <a:solidFill>
                          <a:srgbClr val="1A1A1A"/>
                        </a:solidFill>
                      </a:endParaRPr>
                    </a:p>
                  </a:txBody>
                  <a:tcPr>
                    <a:solidFill>
                      <a:srgbClr val="F5F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1A1A1A"/>
                          </a:solidFill>
                        </a:rPr>
                        <a:t>Total</a:t>
                      </a: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 </a:t>
                      </a:r>
                      <a:r>
                        <a:rPr sz="1100" dirty="0">
                          <a:solidFill>
                            <a:srgbClr val="1A1A1A"/>
                          </a:solidFill>
                        </a:rPr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1A1A1A"/>
                          </a:solidFill>
                        </a:rPr>
                        <a:t>~5 – </a:t>
                      </a: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6</a:t>
                      </a:r>
                      <a:r>
                        <a:rPr sz="1100" dirty="0">
                          <a:solidFill>
                            <a:srgbClr val="1A1A1A"/>
                          </a:solidFill>
                        </a:rPr>
                        <a:t> 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56A8"/>
                </a:solidFill>
              </a:rPr>
              <a:t>Discussion: What Worked &amp; What Didn't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67512"/>
            <a:ext cx="11091672" cy="2286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5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88952" cy="9144"/>
          </a:xfrm>
          <a:prstGeom prst="rect">
            <a:avLst/>
          </a:prstGeom>
          <a:solidFill>
            <a:srgbClr val="D0E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CSCI E-222 · NLP for Healthcare · O. Mykhailovskyi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836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15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7A40"/>
                </a:solidFill>
              </a:rPr>
              <a:t>What Worked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70432"/>
            <a:ext cx="5486400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dirty="0">
                <a:solidFill>
                  <a:srgbClr val="1A1A1A"/>
                </a:solidFill>
              </a:rPr>
              <a:t>• Class weighting significantly improved NER on frequent entities</a:t>
            </a: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1A1A1A"/>
                </a:solidFill>
              </a:rPr>
              <a:t>• </a:t>
            </a:r>
            <a:r>
              <a:rPr sz="1200" dirty="0" err="1">
                <a:solidFill>
                  <a:srgbClr val="1A1A1A"/>
                </a:solidFill>
              </a:rPr>
              <a:t>QLoRA</a:t>
            </a:r>
            <a:r>
              <a:rPr sz="1200" dirty="0">
                <a:solidFill>
                  <a:srgbClr val="1A1A1A"/>
                </a:solidFill>
              </a:rPr>
              <a:t> made the 4B model trainable on a single GPU</a:t>
            </a: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1A1A1A"/>
                </a:solidFill>
              </a:rPr>
              <a:t>• </a:t>
            </a:r>
            <a:r>
              <a:rPr sz="1200" dirty="0" err="1">
                <a:solidFill>
                  <a:srgbClr val="1A1A1A"/>
                </a:solidFill>
              </a:rPr>
              <a:t>MedGemma</a:t>
            </a:r>
            <a:r>
              <a:rPr sz="1200" dirty="0">
                <a:solidFill>
                  <a:srgbClr val="1A1A1A"/>
                </a:solidFill>
              </a:rPr>
              <a:t> outperformed BERT 2:1 on QA (55% vs 26.2%)</a:t>
            </a: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1A1A1A"/>
                </a:solidFill>
              </a:rPr>
              <a:t>• Custom </a:t>
            </a:r>
            <a:r>
              <a:rPr sz="1200" dirty="0" err="1">
                <a:solidFill>
                  <a:srgbClr val="1A1A1A"/>
                </a:solidFill>
              </a:rPr>
              <a:t>WeightedTrainer</a:t>
            </a:r>
            <a:r>
              <a:rPr sz="1200" dirty="0">
                <a:solidFill>
                  <a:srgbClr val="1A1A1A"/>
                </a:solidFill>
              </a:rPr>
              <a:t> was clean, reusable, and well-documented</a:t>
            </a: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1A1A1A"/>
                </a:solidFill>
              </a:rPr>
              <a:t>• Cosine LR + early stopping stabilized training</a:t>
            </a: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1A1A1A"/>
                </a:solidFill>
              </a:rPr>
              <a:t>• All models published to </a:t>
            </a:r>
            <a:r>
              <a:rPr sz="1200" dirty="0" err="1">
                <a:solidFill>
                  <a:srgbClr val="1A1A1A"/>
                </a:solidFill>
              </a:rPr>
              <a:t>HuggingFace</a:t>
            </a:r>
            <a:r>
              <a:rPr sz="1200" dirty="0">
                <a:solidFill>
                  <a:srgbClr val="1A1A1A"/>
                </a:solidFill>
              </a:rPr>
              <a:t> Hub for full reproducibility</a:t>
            </a: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1A1A1A"/>
                </a:solidFill>
              </a:rPr>
              <a:t>• </a:t>
            </a:r>
            <a:r>
              <a:rPr sz="1200" dirty="0" err="1">
                <a:solidFill>
                  <a:srgbClr val="1A1A1A"/>
                </a:solidFill>
              </a:rPr>
              <a:t>Unsloth</a:t>
            </a:r>
            <a:r>
              <a:rPr sz="1200" dirty="0">
                <a:solidFill>
                  <a:srgbClr val="1A1A1A"/>
                </a:solidFill>
              </a:rPr>
              <a:t> gave 2× training speedup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868680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392B"/>
                </a:solidFill>
              </a:rPr>
              <a:t>What Didn't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70432"/>
            <a:ext cx="5486400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dirty="0">
                <a:solidFill>
                  <a:srgbClr val="1A1A1A"/>
                </a:solidFill>
              </a:rPr>
              <a:t>• BERT QA: near-random accuracy - wrong architecture for reasoning</a:t>
            </a: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1A1A1A"/>
                </a:solidFill>
              </a:rPr>
              <a:t>• </a:t>
            </a:r>
            <a:r>
              <a:rPr sz="1200" dirty="0" err="1">
                <a:solidFill>
                  <a:srgbClr val="1A1A1A"/>
                </a:solidFill>
              </a:rPr>
              <a:t>MedGemma</a:t>
            </a:r>
            <a:r>
              <a:rPr sz="1200" dirty="0">
                <a:solidFill>
                  <a:srgbClr val="1A1A1A"/>
                </a:solidFill>
              </a:rPr>
              <a:t> NER: 300 steps only, no quantitative metrics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rgbClr val="1A1A1A"/>
                </a:solidFill>
              </a:rPr>
              <a:t>• Asymmetric NER evaluation - not a clean comparison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56A8"/>
                </a:solidFill>
              </a:rPr>
              <a:t>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67512"/>
            <a:ext cx="11091672" cy="2286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5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88952" cy="9144"/>
          </a:xfrm>
          <a:prstGeom prst="rect">
            <a:avLst/>
          </a:prstGeom>
          <a:solidFill>
            <a:srgbClr val="D0E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CSCI E-222 · NLP for Healthcare · O. Mykhailovskyi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836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16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56A8"/>
                </a:solidFill>
              </a:rPr>
              <a:t>Data &amp;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70432"/>
            <a:ext cx="530352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50" dirty="0">
                <a:solidFill>
                  <a:srgbClr val="1A1A1A"/>
                </a:solidFill>
              </a:rPr>
              <a:t>• </a:t>
            </a:r>
            <a:r>
              <a:rPr sz="1250" dirty="0" err="1">
                <a:solidFill>
                  <a:srgbClr val="1A1A1A"/>
                </a:solidFill>
              </a:rPr>
              <a:t>MedMentions</a:t>
            </a:r>
            <a:r>
              <a:rPr sz="1250" dirty="0">
                <a:solidFill>
                  <a:srgbClr val="1A1A1A"/>
                </a:solidFill>
              </a:rPr>
              <a:t>: rare entity types with &lt; 5 examples </a:t>
            </a:r>
            <a:r>
              <a:rPr lang="en-US" sz="1250" dirty="0">
                <a:solidFill>
                  <a:srgbClr val="1A1A1A"/>
                </a:solidFill>
              </a:rPr>
              <a:t>-</a:t>
            </a:r>
            <a:r>
              <a:rPr sz="1250" dirty="0">
                <a:solidFill>
                  <a:srgbClr val="1A1A1A"/>
                </a:solidFill>
              </a:rPr>
              <a:t> near-zero F1 (data sparsity, not architecture)</a:t>
            </a:r>
          </a:p>
          <a:p>
            <a:pPr>
              <a:spcBef>
                <a:spcPts val="300"/>
              </a:spcBef>
            </a:pPr>
            <a:r>
              <a:rPr sz="1250" dirty="0">
                <a:solidFill>
                  <a:srgbClr val="1A1A1A"/>
                </a:solidFill>
              </a:rPr>
              <a:t>• </a:t>
            </a:r>
            <a:r>
              <a:rPr sz="1250" dirty="0" err="1">
                <a:solidFill>
                  <a:srgbClr val="1A1A1A"/>
                </a:solidFill>
              </a:rPr>
              <a:t>MedGemma</a:t>
            </a:r>
            <a:r>
              <a:rPr sz="1250" dirty="0">
                <a:solidFill>
                  <a:srgbClr val="1A1A1A"/>
                </a:solidFill>
              </a:rPr>
              <a:t> NER evaluated only qualitatively on 3 samples - no reliable F1</a:t>
            </a:r>
          </a:p>
          <a:p>
            <a:pPr>
              <a:spcBef>
                <a:spcPts val="300"/>
              </a:spcBef>
            </a:pPr>
            <a:r>
              <a:rPr sz="1250" dirty="0">
                <a:solidFill>
                  <a:srgbClr val="1A1A1A"/>
                </a:solidFill>
              </a:rPr>
              <a:t>• BERT QA: 512-token left-side truncation may discard entire clinical scenario for long vignettes</a:t>
            </a:r>
          </a:p>
          <a:p>
            <a:pPr>
              <a:spcBef>
                <a:spcPts val="300"/>
              </a:spcBef>
            </a:pPr>
            <a:r>
              <a:rPr sz="1250" dirty="0">
                <a:solidFill>
                  <a:srgbClr val="1A1A1A"/>
                </a:solidFill>
              </a:rPr>
              <a:t>• </a:t>
            </a:r>
            <a:r>
              <a:rPr sz="1250" dirty="0" err="1">
                <a:solidFill>
                  <a:srgbClr val="1A1A1A"/>
                </a:solidFill>
              </a:rPr>
              <a:t>MedQA</a:t>
            </a:r>
            <a:r>
              <a:rPr sz="1250" dirty="0">
                <a:solidFill>
                  <a:srgbClr val="1A1A1A"/>
                </a:solidFill>
              </a:rPr>
              <a:t> is US-centric (USMLE) - does not reflect global clinical practices</a:t>
            </a:r>
          </a:p>
          <a:p>
            <a:pPr>
              <a:spcBef>
                <a:spcPts val="300"/>
              </a:spcBef>
            </a:pPr>
            <a:r>
              <a:rPr sz="1250" dirty="0">
                <a:solidFill>
                  <a:srgbClr val="1A1A1A"/>
                </a:solidFill>
              </a:rPr>
              <a:t>• MedMentions-MTI881-NER dataset has no stated license - legal status unclear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73552"/>
            <a:ext cx="41148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98348" y="3273552"/>
            <a:ext cx="5262372" cy="548640"/>
          </a:xfrm>
          <a:prstGeom prst="rect">
            <a:avLst/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3346704"/>
            <a:ext cx="51023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</a:rPr>
              <a:t>Data sparsity is the biggest structural barrier - even a perfect model cannot learn types it has never seen.ever seen.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868680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56A8"/>
                </a:solidFill>
              </a:rPr>
              <a:t>Model &amp; Compute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170432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50" dirty="0">
                <a:solidFill>
                  <a:srgbClr val="1A1A1A"/>
                </a:solidFill>
              </a:rPr>
              <a:t>• Single GPU (A100) limits experiment scale and ablation studies</a:t>
            </a:r>
          </a:p>
          <a:p>
            <a:pPr>
              <a:spcBef>
                <a:spcPts val="300"/>
              </a:spcBef>
            </a:pPr>
            <a:r>
              <a:rPr sz="1250" dirty="0">
                <a:solidFill>
                  <a:srgbClr val="1A1A1A"/>
                </a:solidFill>
              </a:rPr>
              <a:t>• No hyperparameter search - all settings are single-run choices</a:t>
            </a:r>
          </a:p>
          <a:p>
            <a:pPr>
              <a:spcBef>
                <a:spcPts val="300"/>
              </a:spcBef>
            </a:pPr>
            <a:r>
              <a:rPr sz="1250" dirty="0">
                <a:solidFill>
                  <a:srgbClr val="1A1A1A"/>
                </a:solidFill>
              </a:rPr>
              <a:t>• </a:t>
            </a:r>
            <a:r>
              <a:rPr sz="1250" dirty="0" err="1">
                <a:solidFill>
                  <a:srgbClr val="1A1A1A"/>
                </a:solidFill>
              </a:rPr>
              <a:t>MedGemma</a:t>
            </a:r>
            <a:r>
              <a:rPr sz="1250" dirty="0">
                <a:solidFill>
                  <a:srgbClr val="1A1A1A"/>
                </a:solidFill>
              </a:rPr>
              <a:t> NER severely under-trained (300 of ~1,462 steps per epoch)</a:t>
            </a:r>
          </a:p>
          <a:p>
            <a:pPr>
              <a:spcBef>
                <a:spcPts val="300"/>
              </a:spcBef>
            </a:pPr>
            <a:r>
              <a:rPr sz="1250" dirty="0">
                <a:solidFill>
                  <a:srgbClr val="1A1A1A"/>
                </a:solidFill>
              </a:rPr>
              <a:t>• No confidence intervals or multi-seed averaging</a:t>
            </a:r>
          </a:p>
          <a:p>
            <a:pPr>
              <a:spcBef>
                <a:spcPts val="300"/>
              </a:spcBef>
            </a:pPr>
            <a:r>
              <a:rPr sz="1250" dirty="0">
                <a:solidFill>
                  <a:srgbClr val="1A1A1A"/>
                </a:solidFill>
              </a:rPr>
              <a:t>• Catastrophic forgetting risk from fine-tuning </a:t>
            </a:r>
            <a:r>
              <a:rPr sz="1250" dirty="0" err="1">
                <a:solidFill>
                  <a:srgbClr val="1A1A1A"/>
                </a:solidFill>
              </a:rPr>
              <a:t>MedGemma</a:t>
            </a:r>
            <a:endParaRPr sz="1250" dirty="0">
              <a:solidFill>
                <a:srgbClr val="1A1A1A"/>
              </a:solidFill>
            </a:endParaRPr>
          </a:p>
          <a:p>
            <a:pPr>
              <a:spcBef>
                <a:spcPts val="300"/>
              </a:spcBef>
            </a:pPr>
            <a:r>
              <a:rPr sz="1250" dirty="0">
                <a:solidFill>
                  <a:srgbClr val="1A1A1A"/>
                </a:solidFill>
              </a:rPr>
              <a:t>• </a:t>
            </a:r>
            <a:r>
              <a:rPr sz="1250" dirty="0" err="1">
                <a:solidFill>
                  <a:srgbClr val="1A1A1A"/>
                </a:solidFill>
              </a:rPr>
              <a:t>BioClinicalBERT</a:t>
            </a:r>
            <a:r>
              <a:rPr sz="1250" dirty="0">
                <a:solidFill>
                  <a:srgbClr val="1A1A1A"/>
                </a:solidFill>
              </a:rPr>
              <a:t> trained on MIMIC-III only - US ICU bias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273552"/>
            <a:ext cx="41148" cy="548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59068" y="3273552"/>
            <a:ext cx="5445252" cy="54864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27648" y="3346704"/>
            <a:ext cx="52852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1A"/>
                </a:solidFill>
              </a:rPr>
              <a:t>Fine-tuning a strong pre-trained medical model requires more care than fine-tuning a general model - the model already 'knows medicine'.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005072"/>
            <a:ext cx="41148" cy="54864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98348" y="4005072"/>
            <a:ext cx="11233404" cy="54864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4078224"/>
            <a:ext cx="110733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</a:rPr>
              <a:t>Summary: results are directionally valid but not publication-quality. The comparative conclusion (encoders for NER, decoders for QA) is robust.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56A8"/>
                </a:solidFill>
              </a:rPr>
              <a:t>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67512"/>
            <a:ext cx="11091672" cy="2286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5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88952" cy="9144"/>
          </a:xfrm>
          <a:prstGeom prst="rect">
            <a:avLst/>
          </a:prstGeom>
          <a:solidFill>
            <a:srgbClr val="D0E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CSCI E-222 · NLP for Healthcare · O. Mykhailovskyi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5836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17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56A8"/>
                </a:solidFill>
              </a:rPr>
              <a:t>Near-term (straightforward)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70432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50">
                <a:solidFill>
                  <a:srgbClr val="1A1A1A"/>
                </a:solidFill>
              </a:rPr>
              <a:t>• Fix CRF notebook (_tied_weights_keys = {}) and run full training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1A1A1A"/>
                </a:solidFill>
              </a:rPr>
              <a:t>• Add random seeds to all BERT notebooks for reproducibility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1A1A1A"/>
                </a:solidFill>
              </a:rPr>
              <a:t>• Run MedGemma NER for 3 full epochs with quantitative seqeval F1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1A1A1A"/>
                </a:solidFill>
              </a:rPr>
              <a:t>• Add constrained decoding for QA (force output to A/B/C/D)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1A1A1A"/>
                </a:solidFill>
              </a:rPr>
              <a:t>• Evaluate BERT QA with Longformer (longer context window)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1A1A1A"/>
                </a:solidFill>
              </a:rPr>
              <a:t>• Add confusion matrix and per-class breakdown to all result tables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868680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56A8"/>
                </a:solidFill>
              </a:rPr>
              <a:t>Medium-term (research directions)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70432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50">
                <a:solidFill>
                  <a:srgbClr val="1A1A1A"/>
                </a:solidFill>
              </a:rPr>
              <a:t>• RAG: retrieve UMLS definitions to augment NER context at inference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1A1A1A"/>
                </a:solidFill>
              </a:rPr>
              <a:t>• Chain-of-thought prompting for QA reasoning steps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1A1A1A"/>
                </a:solidFill>
              </a:rPr>
              <a:t>• Higher LoRA rank (32-64) + structured output (JSON schema)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1A1A1A"/>
                </a:solidFill>
              </a:rPr>
              <a:t>• Medical summarization task (originally proposed, not implemented)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1A1A1A"/>
                </a:solidFill>
              </a:rPr>
              <a:t>• PubMedBERT as third NER model (originally planned, dropped)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1A1A1A"/>
                </a:solidFill>
              </a:rPr>
              <a:t>• Test on MIMIC-IV notes for real-world deployment evaluation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1A1A1A"/>
                </a:solidFill>
              </a:rPr>
              <a:t>• Build lightweight agent combining NER + QA pipelines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66160"/>
            <a:ext cx="41148" cy="566928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98348" y="3566160"/>
            <a:ext cx="11233404" cy="56692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3639312"/>
            <a:ext cx="110733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</a:rPr>
              <a:t>The most impactful single improvement: run MedGemma NER for a full epoch with quantitative evaluation - this would give a valid head-to-head comparison.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206240"/>
            <a:ext cx="41148" cy="566928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98348" y="4206240"/>
            <a:ext cx="11233404" cy="566928"/>
          </a:xfrm>
          <a:prstGeom prst="rect">
            <a:avLst/>
          </a:prstGeom>
          <a:solidFill>
            <a:srgbClr val="E6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4279392"/>
            <a:ext cx="110733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</a:rPr>
              <a:t>Consider using the pre-trained MedGemma (no fine-tuning) for QA with few-shot prompting - may outperform the fine-tuned version.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5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</a:rPr>
              <a:t>CSCI E-222 · Foundations of Large Language Models ·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59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56A8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</a:rPr>
              <a:t>NLP for Healthcare: Medical Text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23160"/>
            <a:ext cx="41148" cy="804672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2668" y="2423160"/>
            <a:ext cx="4988052" cy="80467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2496312"/>
            <a:ext cx="482803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</a:rPr>
              <a:t>Code &amp; Models
huggingface.co/alexd063
Checkpoints for all 4 fine-tuned 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2423160"/>
            <a:ext cx="41148" cy="804672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76188" y="2423160"/>
            <a:ext cx="5353812" cy="804672"/>
          </a:xfrm>
          <a:prstGeom prst="rect">
            <a:avLst/>
          </a:prstGeom>
          <a:solidFill>
            <a:srgbClr val="E6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44768" y="2496312"/>
            <a:ext cx="519379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1A"/>
                </a:solidFill>
              </a:rPr>
              <a:t>Datasets Used
Ben10x/MedMentions-MTI881-NER
GBaker/MedQA-USMLE-4-options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456432"/>
            <a:ext cx="10725912" cy="1234440"/>
          </a:xfrm>
          <a:prstGeom prst="rect">
            <a:avLst/>
          </a:prstGeom>
          <a:solidFill>
            <a:srgbClr val="FFF3CD"/>
          </a:solidFill>
          <a:ln w="25400">
            <a:solidFill>
              <a:srgbClr val="E6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56616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</a:rPr>
              <a:t>Video Presentation URL: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58768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56A8"/>
                </a:solidFill>
              </a:rPr>
              <a:t>[ INSERT VIDEO URL HERE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15968"/>
            <a:ext cx="10360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dirty="0">
                <a:solidFill>
                  <a:srgbClr val="666666"/>
                </a:solidFill>
              </a:rPr>
              <a:t>Required: 7-15 minute video covering problem, models, demo, results, and takeaways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09360"/>
            <a:ext cx="10725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</a:rPr>
              <a:t>O. Mykhailovskyi · Harvard Extension School · CSCI E-222 ·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2839</Words>
  <Application>Microsoft Macintosh PowerPoint</Application>
  <PresentationFormat>Custom</PresentationFormat>
  <Paragraphs>336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Alex Mykhailovskyi</cp:lastModifiedBy>
  <cp:revision>28</cp:revision>
  <dcterms:created xsi:type="dcterms:W3CDTF">2013-01-27T09:14:16Z</dcterms:created>
  <dcterms:modified xsi:type="dcterms:W3CDTF">2026-05-15T20:13:54Z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54b7cbc-c708-4bae-92f9-e7d5cd5d68c6_Enabled">
    <vt:lpwstr>true</vt:lpwstr>
  </property>
  <property fmtid="{D5CDD505-2E9C-101B-9397-08002B2CF9AE}" pid="3" name="MSIP_Label_054b7cbc-c708-4bae-92f9-e7d5cd5d68c6_SetDate">
    <vt:lpwstr>2026-05-15T19:11:38Z</vt:lpwstr>
  </property>
  <property fmtid="{D5CDD505-2E9C-101B-9397-08002B2CF9AE}" pid="4" name="MSIP_Label_054b7cbc-c708-4bae-92f9-e7d5cd5d68c6_Method">
    <vt:lpwstr>Standard</vt:lpwstr>
  </property>
  <property fmtid="{D5CDD505-2E9C-101B-9397-08002B2CF9AE}" pid="5" name="MSIP_Label_054b7cbc-c708-4bae-92f9-e7d5cd5d68c6_Name">
    <vt:lpwstr>Internal</vt:lpwstr>
  </property>
  <property fmtid="{D5CDD505-2E9C-101B-9397-08002B2CF9AE}" pid="6" name="MSIP_Label_054b7cbc-c708-4bae-92f9-e7d5cd5d68c6_SiteId">
    <vt:lpwstr>2a35d8fd-574d-48e3-927c-8c398e225a01</vt:lpwstr>
  </property>
  <property fmtid="{D5CDD505-2E9C-101B-9397-08002B2CF9AE}" pid="7" name="MSIP_Label_054b7cbc-c708-4bae-92f9-e7d5cd5d68c6_ActionId">
    <vt:lpwstr>a2a63b91-87a6-4a8d-8e31-21a9a8b6b6c1</vt:lpwstr>
  </property>
  <property fmtid="{D5CDD505-2E9C-101B-9397-08002B2CF9AE}" pid="8" name="MSIP_Label_054b7cbc-c708-4bae-92f9-e7d5cd5d68c6_ContentBits">
    <vt:lpwstr>0</vt:lpwstr>
  </property>
  <property fmtid="{D5CDD505-2E9C-101B-9397-08002B2CF9AE}" pid="9" name="MSIP_Label_054b7cbc-c708-4bae-92f9-e7d5cd5d68c6_Tag">
    <vt:lpwstr>50, 3, 0, 1</vt:lpwstr>
  </property>
</Properties>
</file>