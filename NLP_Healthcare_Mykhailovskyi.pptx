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2" r:id="rId9"/>
    <p:sldId id="262" r:id="rId10"/>
    <p:sldId id="264" r:id="rId11"/>
    <p:sldId id="273" r:id="rId12"/>
    <p:sldId id="265" r:id="rId13"/>
    <p:sldId id="274" r:id="rId14"/>
    <p:sldId id="266" r:id="rId15"/>
    <p:sldId id="267" r:id="rId16"/>
    <p:sldId id="268" r:id="rId17"/>
    <p:sldId id="271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31"/>
  </p:normalViewPr>
  <p:slideViewPr>
    <p:cSldViewPr snapToGrid="0" snapToObjects="1">
      <p:cViewPr>
        <p:scale>
          <a:sx n="127" d="100"/>
          <a:sy n="127" d="100"/>
        </p:scale>
        <p:origin x="64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143000"/>
            <a:ext cx="128016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371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CSCI E-222 · Foundations of Large Language Models · Spring 2026 · Harvard Extension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9748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A51C30"/>
                </a:solidFill>
              </a:rPr>
              <a:t>NLP for Healthcare: Medical Text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44"/>
                </a:solidFill>
              </a:rPr>
              <a:t>Fine-tuning &amp; Comparing Encoder vs. Decoder LLMs on Medical NER and Question Answering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6666"/>
                </a:solidFill>
              </a:rPr>
              <a:t>O. Mykhailovskyi ·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Bio_ClinicalBERT · MedGemma-4B | MedMentions NER · MedQA USMLE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576" y="292608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41148" cy="7772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98348" y="868680"/>
            <a:ext cx="11233404" cy="7772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11073384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A1A1A"/>
                </a:solidFill>
              </a:rPr>
              <a:t>How do encoder-only (</a:t>
            </a:r>
            <a:r>
              <a:rPr sz="1300" dirty="0" err="1">
                <a:solidFill>
                  <a:srgbClr val="1A1A1A"/>
                </a:solidFill>
              </a:rPr>
              <a:t>BioClinicalBERT</a:t>
            </a:r>
            <a:r>
              <a:rPr sz="1300" dirty="0">
                <a:solidFill>
                  <a:srgbClr val="1A1A1A"/>
                </a:solidFill>
              </a:rPr>
              <a:t>) and decoder-based (MedGemma-4B) architectures compare when fine-tuned on two core medical NLP tasks - NER and QA - under a constrained compute budget?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1"/>
            <a:ext cx="5303520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Clinical NLP enables automated chart review, coding &amp; decision support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Domain-specific models outperform general LLMs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Scope Constraints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136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Single GPU - Google Colab Pro A100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PEFT only (LoRA/QLoRA) for the 4B model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Public, reproducible datasets only
• Original scope (PubMedBERT + summarisation) narrowed due to compute constraints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41148" cy="91440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76188" y="1783080"/>
            <a:ext cx="5628132" cy="9144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44768" y="185623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1 - Named Entity Recognition (NER)
Label each token in biomedical text with a UMLS semantic type (e.g., T038 = Biologic Function, T103 = Chemical)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41148" cy="91440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76188" y="2834640"/>
            <a:ext cx="5628132" cy="9144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290779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2 - Medical Question Answering
Select the correct answer (A-D) from USMLE-style clinical questions requiring multi-step medical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Task 1 · NER - MedMentions MTI881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727363"/>
              </p:ext>
            </p:extLst>
          </p:nvPr>
        </p:nvGraphicFramePr>
        <p:xfrm>
          <a:off x="457200" y="1170432"/>
          <a:ext cx="274320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23,399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2,924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2,926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331720"/>
            <a:ext cx="5303520" cy="97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4,392 PubMed abstracts, 350K+ UMLS-annotated mentions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105 entity classes (UMLS semantic types), BIO format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Severe class imbalance: "O" tag = 76% of all tokens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Source: Ben10x/MedMentions-MTI881-NER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283552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Task 2 · QA - </a:t>
            </a:r>
            <a:r>
              <a:rPr sz="1300" b="1" dirty="0" err="1">
                <a:solidFill>
                  <a:srgbClr val="1A56A8"/>
                </a:solidFill>
              </a:rPr>
              <a:t>MedQA</a:t>
            </a:r>
            <a:r>
              <a:rPr sz="1300" b="1" dirty="0">
                <a:solidFill>
                  <a:srgbClr val="1A56A8"/>
                </a:solidFill>
              </a:rPr>
              <a:t> U</a:t>
            </a:r>
            <a:r>
              <a:rPr lang="en-US" sz="1300" b="1" dirty="0">
                <a:solidFill>
                  <a:srgbClr val="1A56A8"/>
                </a:solidFill>
              </a:rPr>
              <a:t>SMLE</a:t>
            </a:r>
            <a:r>
              <a:rPr sz="1300" b="1" dirty="0">
                <a:solidFill>
                  <a:srgbClr val="1A56A8"/>
                </a:solidFill>
              </a:rPr>
              <a:t>-4-options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17920" y="1170432"/>
          <a:ext cx="292608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9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10,200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1,270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17920" y="2057400"/>
            <a:ext cx="5486400" cy="97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USMLE Step 1/2/3 clinical reasoning questions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4-option multiple choice (A-D)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lang="en-US" sz="1250" dirty="0">
                <a:solidFill>
                  <a:srgbClr val="1A1A1A"/>
                </a:solidFill>
              </a:rPr>
              <a:t>Random baseline: 25% · </a:t>
            </a:r>
            <a:r>
              <a:rPr sz="1250" dirty="0">
                <a:solidFill>
                  <a:srgbClr val="1A1A1A"/>
                </a:solidFill>
              </a:rPr>
              <a:t>Human expert: ~90%</a:t>
            </a:r>
            <a:endParaRPr lang="en-US"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lang="en-US" sz="1250" dirty="0">
                <a:solidFill>
                  <a:srgbClr val="1A1A1A"/>
                </a:solidFill>
              </a:rPr>
              <a:t>• Source: </a:t>
            </a:r>
            <a:r>
              <a:rPr lang="en-US" sz="1250" dirty="0" err="1">
                <a:solidFill>
                  <a:srgbClr val="1A1A1A"/>
                </a:solidFill>
              </a:rPr>
              <a:t>GBaker</a:t>
            </a:r>
            <a:r>
              <a:rPr lang="en-US" sz="1250" dirty="0">
                <a:solidFill>
                  <a:srgbClr val="1A1A1A"/>
                </a:solidFill>
              </a:rPr>
              <a:t>/MedQA-USMLE-4-options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Models &amp; Methods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Bio_ClinicalBERT (Encoder)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110 M parameters, BERT-base architecture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Pre-trained on MIMIC-III clinical notes (~880 M words)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Fine-tuned with full parameter update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NER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Token Classification head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QA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Multiple Choice head (4 seqs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1 logit each)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Bidirectional attention - strong at classification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Max sequence length: 512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0440"/>
            <a:ext cx="41148" cy="43891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8348" y="3520440"/>
            <a:ext cx="5262372" cy="43891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593592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Architecture: Input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[</a:t>
            </a:r>
            <a:r>
              <a:rPr lang="en-US" sz="1100" dirty="0" err="1">
                <a:solidFill>
                  <a:srgbClr val="1A1A1A"/>
                </a:solidFill>
              </a:rPr>
              <a:t>Bio_</a:t>
            </a:r>
            <a:r>
              <a:rPr sz="1100" dirty="0" err="1">
                <a:solidFill>
                  <a:srgbClr val="1A1A1A"/>
                </a:solidFill>
              </a:rPr>
              <a:t>ClinicalBERT</a:t>
            </a:r>
            <a:r>
              <a:rPr sz="1100" dirty="0">
                <a:solidFill>
                  <a:srgbClr val="1A1A1A"/>
                </a:solidFill>
              </a:rPr>
              <a:t>]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Label / Choice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1648"/>
            <a:ext cx="41148" cy="3474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98348" y="4041648"/>
            <a:ext cx="5262372" cy="3474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114800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MIT License</a:t>
            </a:r>
            <a:r>
              <a:rPr lang="en-US" sz="1100" dirty="0">
                <a:solidFill>
                  <a:srgbClr val="1A1A1A"/>
                </a:solidFill>
              </a:rPr>
              <a:t> for dataset usage.</a:t>
            </a:r>
            <a:endParaRPr sz="1100" dirty="0">
              <a:solidFill>
                <a:srgbClr val="1A1A1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MedGemma-4B-IT (Decoder + QLoRA)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170432"/>
            <a:ext cx="5486400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4.3 B parameters, Gemma-3 architecture, 128 K context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Pre-trained on medical images + text (Google Health AI)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PEFT: </a:t>
            </a:r>
            <a:r>
              <a:rPr sz="1250" dirty="0" err="1">
                <a:solidFill>
                  <a:srgbClr val="1A1A1A"/>
                </a:solidFill>
              </a:rPr>
              <a:t>QLoRA</a:t>
            </a:r>
            <a:r>
              <a:rPr sz="1250" dirty="0">
                <a:solidFill>
                  <a:srgbClr val="1A1A1A"/>
                </a:solidFill>
              </a:rPr>
              <a:t> (4-bit NF4 + </a:t>
            </a:r>
            <a:r>
              <a:rPr sz="1250" dirty="0" err="1">
                <a:solidFill>
                  <a:srgbClr val="1A1A1A"/>
                </a:solidFill>
              </a:rPr>
              <a:t>LoRA</a:t>
            </a:r>
            <a:r>
              <a:rPr sz="1250" dirty="0">
                <a:solidFill>
                  <a:srgbClr val="1A1A1A"/>
                </a:solidFill>
              </a:rPr>
              <a:t> rank 16, alpha 16)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Only 0.76% of parameters trainable (~33 M)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NER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generative: "token: tag, token: tag …"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QA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generative: outputs a single letter A / B / C / D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2× training speed via </a:t>
            </a:r>
            <a:r>
              <a:rPr sz="1250" dirty="0" err="1">
                <a:solidFill>
                  <a:srgbClr val="1A1A1A"/>
                </a:solidFill>
              </a:rPr>
              <a:t>Unsloth</a:t>
            </a:r>
            <a:r>
              <a:rPr sz="1250" dirty="0">
                <a:solidFill>
                  <a:srgbClr val="1A1A1A"/>
                </a:solidFill>
              </a:rPr>
              <a:t> optimization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33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Trainable params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4-bit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NF4 quantization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3584448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1A7A40"/>
                </a:solidFill>
              </a:rPr>
              <a:t>128k</a:t>
            </a:r>
            <a:endParaRPr sz="2400" b="1" dirty="0">
              <a:solidFill>
                <a:srgbClr val="1A7A4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875520" y="3950208"/>
            <a:ext cx="1737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666666"/>
                </a:solidFill>
              </a:rPr>
              <a:t>Context window</a:t>
            </a:r>
            <a:endParaRPr sz="1000" b="0" dirty="0">
              <a:solidFill>
                <a:srgbClr val="666666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217920" y="4315968"/>
            <a:ext cx="411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59068" y="4315968"/>
            <a:ext cx="5445252" cy="34747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0216" y="4410974"/>
            <a:ext cx="52852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Acceptance of Google Terms of Usage is required for model usage.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232781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Task 1 - NER: </a:t>
            </a:r>
            <a:r>
              <a:rPr lang="en-US" sz="2200" b="1" dirty="0">
                <a:solidFill>
                  <a:srgbClr val="1A56A8"/>
                </a:solidFill>
              </a:rPr>
              <a:t>BERT</a:t>
            </a:r>
            <a:endParaRPr sz="2200" b="1" dirty="0">
              <a:solidFill>
                <a:srgbClr val="1A56A8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Load
MedMentions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8609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6292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Tokenize +
align labels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57701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5384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Compute
class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6793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4476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WeightedTrainer
fine-tune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885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seqeval F1
evaluation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4977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266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Push to
HF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874519"/>
            <a:ext cx="171970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874519"/>
            <a:ext cx="137588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Two</a:t>
            </a:r>
            <a:r>
              <a:rPr sz="1300" b="1" dirty="0">
                <a:solidFill>
                  <a:srgbClr val="1A56A8"/>
                </a:solidFill>
              </a:rPr>
              <a:t> Experiments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490171"/>
              </p:ext>
            </p:extLst>
          </p:nvPr>
        </p:nvGraphicFramePr>
        <p:xfrm>
          <a:off x="6217920" y="2176272"/>
          <a:ext cx="5486400" cy="1626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7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changed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Checkpoint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01-baseline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Standard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alexd063/bio-</a:t>
                      </a:r>
                      <a:r>
                        <a:rPr lang="en-US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clinicalbert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-finetuned-</a:t>
                      </a:r>
                      <a:r>
                        <a:rPr lang="en-US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medmentions</a:t>
                      </a:r>
                      <a:endParaRPr lang="en-US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02-weighted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Class weights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alexd063/bio-clinicalbert-finetuned-medmentions-v1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" name="Rectangle 38"/>
          <p:cNvSpPr/>
          <p:nvPr/>
        </p:nvSpPr>
        <p:spPr>
          <a:xfrm>
            <a:off x="457200" y="4297680"/>
            <a:ext cx="41148" cy="53035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98348" y="4297680"/>
            <a:ext cx="11205972" cy="53035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66928" y="4370832"/>
            <a:ext cx="11045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Class weighting was the single most impactful decision - without it the model collapses to predicting 'O' for all tokens.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535EF6DA-0606-E1D0-D871-CE4FC4658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758727"/>
              </p:ext>
            </p:extLst>
          </p:nvPr>
        </p:nvGraphicFramePr>
        <p:xfrm>
          <a:off x="548640" y="2216844"/>
          <a:ext cx="5348838" cy="16327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2946">
                  <a:extLst>
                    <a:ext uri="{9D8B030D-6E8A-4147-A177-3AD203B41FA5}">
                      <a16:colId xmlns:a16="http://schemas.microsoft.com/office/drawing/2014/main" val="211335415"/>
                    </a:ext>
                  </a:extLst>
                </a:gridCol>
                <a:gridCol w="1782946">
                  <a:extLst>
                    <a:ext uri="{9D8B030D-6E8A-4147-A177-3AD203B41FA5}">
                      <a16:colId xmlns:a16="http://schemas.microsoft.com/office/drawing/2014/main" val="2694271668"/>
                    </a:ext>
                  </a:extLst>
                </a:gridCol>
                <a:gridCol w="1782946">
                  <a:extLst>
                    <a:ext uri="{9D8B030D-6E8A-4147-A177-3AD203B41FA5}">
                      <a16:colId xmlns:a16="http://schemas.microsoft.com/office/drawing/2014/main" val="8321966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Model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Value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57929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8612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677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6849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WARMUP_RATIO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5514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6087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78804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6e-5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8002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9704793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Task 1 - NER: MedGemma-4B with QLoRA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Generative NER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84124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445252" cy="8412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2852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Unlike token classification,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generates a text sequence:
"aspirin: B-T103, prescribed: O, daily: O, …"
Each token is explicitly labelled in the output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12264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" y="5005111"/>
            <a:ext cx="530352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Checkpoint: </a:t>
            </a:r>
            <a:r>
              <a:rPr lang="en-US" sz="1200" dirty="0"/>
              <a:t>alexd063/</a:t>
            </a:r>
            <a:r>
              <a:rPr lang="en-US" sz="1200" dirty="0" err="1"/>
              <a:t>medgemma</a:t>
            </a:r>
            <a:r>
              <a:rPr lang="en-US" sz="1200" dirty="0"/>
              <a:t>-finetuned-</a:t>
            </a:r>
            <a:r>
              <a:rPr lang="en-US" sz="1200" dirty="0" err="1"/>
              <a:t>medmentions</a:t>
            </a:r>
            <a:r>
              <a:rPr lang="en-US" sz="1200" dirty="0"/>
              <a:t>-</a:t>
            </a:r>
            <a:r>
              <a:rPr lang="en-US" sz="1200" dirty="0" err="1"/>
              <a:t>ner</a:t>
            </a:r>
            <a:endParaRPr sz="1200" dirty="0">
              <a:solidFill>
                <a:srgbClr val="1A1A1A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3484" y="5601259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" y="5582412"/>
            <a:ext cx="5445252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5696712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Only 300 of ~1,462 steps trained (underfitting).
Parsing 'token: tag' format from free text is </a:t>
            </a:r>
            <a:r>
              <a:rPr lang="en-US" sz="1100" dirty="0">
                <a:solidFill>
                  <a:srgbClr val="1A1A1A"/>
                </a:solidFill>
              </a:rPr>
              <a:t>unreliable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Prompt Format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143000"/>
            <a:ext cx="5486400" cy="2286000"/>
          </a:xfrm>
          <a:prstGeom prst="rect">
            <a:avLst/>
          </a:prstGeom>
          <a:solidFill>
            <a:srgbClr val="F5F8FF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2344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>
                <a:solidFill>
                  <a:srgbClr val="1A1A1A"/>
                </a:solidFill>
              </a:rPr>
              <a:t>### Instruction:
Extract medical entities and label
each token with its NER tag.
### Input:
Patient presents with acute appendicitis
and elevated CRP levels.
### Response:
Patient: O, presents: O, with: O,
acute: B-T047, appendicitis: I-T047,
and: O, elevated: O, CRP: B-T059,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54787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Key Limitation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822191"/>
            <a:ext cx="41148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59068" y="3822191"/>
            <a:ext cx="5445252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3895343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Generative NER is promisin</a:t>
            </a:r>
            <a:r>
              <a:rPr lang="en-US" sz="1100" dirty="0">
                <a:solidFill>
                  <a:srgbClr val="1A1A1A"/>
                </a:solidFill>
              </a:rPr>
              <a:t>g </a:t>
            </a:r>
            <a:r>
              <a:rPr sz="1100" dirty="0">
                <a:solidFill>
                  <a:srgbClr val="1A1A1A"/>
                </a:solidFill>
              </a:rPr>
              <a:t>but requires structured output enforcement (constrained decoding or JSON mode) to be reliable.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3E9E521-E935-8243-8643-41EAD2E24B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918601"/>
              </p:ext>
            </p:extLst>
          </p:nvPr>
        </p:nvGraphicFramePr>
        <p:xfrm>
          <a:off x="499110" y="2395728"/>
          <a:ext cx="3981450" cy="23584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1217685546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10402459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Value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95194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MAX_SEQ_LENGTH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1021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1333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LORA_ALPHA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38178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LORA_DROPOUT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38477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5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GRAD_ACCUM_STEPS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2219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32156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300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6554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30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3438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4378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TARGET_MODULES (LORA)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q_proj, v_proj, k_proj, o_proj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7844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LR_SCHEDULER_TYPE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627409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- Task 1: Named Entity Recognition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7</a:t>
            </a:r>
            <a:r>
              <a:rPr sz="900" b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7A40"/>
                </a:solidFill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Macro F1 (full test)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0.27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
F1 (10% subset)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Entity classes
(UMLS types)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C00000"/>
                </a:solidFill>
              </a:rPr>
              <a:t>76%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"O" tokens
(class imbalance)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302435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 err="1">
                <a:solidFill>
                  <a:srgbClr val="1A56A8"/>
                </a:solidFill>
              </a:rPr>
              <a:t>BioClinicalBERT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lang="en-US" sz="1300" b="1" dirty="0">
                <a:solidFill>
                  <a:srgbClr val="1A56A8"/>
                </a:solidFill>
              </a:rPr>
              <a:t>–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lang="en-US" sz="1300" b="1" dirty="0">
                <a:solidFill>
                  <a:srgbClr val="1A56A8"/>
                </a:solidFill>
              </a:rPr>
              <a:t>Per-</a:t>
            </a:r>
            <a:r>
              <a:rPr sz="1300" b="1" dirty="0">
                <a:solidFill>
                  <a:srgbClr val="1A56A8"/>
                </a:solidFill>
              </a:rPr>
              <a:t>Entity Performance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1937737"/>
              </p:ext>
            </p:extLst>
          </p:nvPr>
        </p:nvGraphicFramePr>
        <p:xfrm>
          <a:off x="457200" y="2176272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Top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Bottom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T204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0.8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T103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0.75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T024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0.73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6238496" y="4704587"/>
            <a:ext cx="45719" cy="905256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86500" y="4722875"/>
            <a:ext cx="5445252" cy="905257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4809884"/>
            <a:ext cx="510235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Peer</a:t>
            </a:r>
            <a:r>
              <a:rPr sz="1100" dirty="0">
                <a:solidFill>
                  <a:srgbClr val="1A1A1A"/>
                </a:solidFill>
              </a:rPr>
              <a:t> baselines: </a:t>
            </a:r>
            <a:r>
              <a:rPr sz="1100" dirty="0" err="1">
                <a:solidFill>
                  <a:srgbClr val="1A1A1A"/>
                </a:solidFill>
              </a:rPr>
              <a:t>TaggerOne</a:t>
            </a:r>
            <a:r>
              <a:rPr sz="1100" dirty="0">
                <a:solidFill>
                  <a:srgbClr val="1A1A1A"/>
                </a:solidFill>
              </a:rPr>
              <a:t> F1=0.453 · BERT ceiling 0.56</a:t>
            </a:r>
            <a:r>
              <a:rPr lang="en-US" sz="1100" dirty="0">
                <a:solidFill>
                  <a:srgbClr val="1A1A1A"/>
                </a:solidFill>
              </a:rPr>
              <a:t>, </a:t>
            </a:r>
            <a:r>
              <a:rPr sz="1100" dirty="0">
                <a:solidFill>
                  <a:srgbClr val="1A1A1A"/>
                </a:solidFill>
              </a:rPr>
              <a:t>this project exceeds </a:t>
            </a:r>
            <a:r>
              <a:rPr lang="en-US" sz="1100" dirty="0">
                <a:solidFill>
                  <a:srgbClr val="1A1A1A"/>
                </a:solidFill>
              </a:rPr>
              <a:t>this metric.</a:t>
            </a:r>
            <a:r>
              <a:rPr sz="1100" dirty="0">
                <a:solidFill>
                  <a:srgbClr val="1A1A1A"/>
                </a:solidFill>
              </a:rPr>
              <a:t>
Encoder architecture is clearly better at token-level classification.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874519"/>
            <a:ext cx="91057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Evaluation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19" y="2176272"/>
            <a:ext cx="45719" cy="71903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59068" y="2176272"/>
            <a:ext cx="5445252" cy="719036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27648" y="2249424"/>
            <a:ext cx="528523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Asymmetric evaluation: </a:t>
            </a:r>
            <a:r>
              <a:rPr sz="1100" dirty="0" err="1">
                <a:solidFill>
                  <a:srgbClr val="1A1A1A"/>
                </a:solidFill>
              </a:rPr>
              <a:t>BioClinicalBERT</a:t>
            </a:r>
            <a:r>
              <a:rPr sz="1100" dirty="0">
                <a:solidFill>
                  <a:srgbClr val="1A1A1A"/>
                </a:solidFill>
              </a:rPr>
              <a:t> was evaluated on the full test split</a:t>
            </a:r>
            <a:r>
              <a:rPr lang="en-US" sz="1100" dirty="0">
                <a:solidFill>
                  <a:srgbClr val="1A1A1A"/>
                </a:solidFill>
              </a:rPr>
              <a:t>;</a:t>
            </a:r>
          </a:p>
          <a:p>
            <a:r>
              <a:rPr sz="1100" dirty="0" err="1">
                <a:solidFill>
                  <a:srgbClr val="1A1A1A"/>
                </a:solidFill>
              </a:rPr>
              <a:t>MedGemma</a:t>
            </a:r>
            <a:r>
              <a:rPr sz="1100" dirty="0">
                <a:solidFill>
                  <a:srgbClr val="1A1A1A"/>
                </a:solidFill>
              </a:rPr>
              <a:t> only on a 10% subset due to slow inference.
Direct F1 comparison is not </a:t>
            </a:r>
            <a:r>
              <a:rPr lang="en-US" sz="1100" dirty="0">
                <a:solidFill>
                  <a:srgbClr val="1A1A1A"/>
                </a:solidFill>
              </a:rPr>
              <a:t>completely fair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91840"/>
            <a:ext cx="211128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Cause of Low Overall Scores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593592"/>
            <a:ext cx="41148" cy="8046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59068" y="3593592"/>
            <a:ext cx="5445252" cy="804672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27648" y="3666744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1A1A1A"/>
                </a:solidFill>
              </a:rPr>
              <a:t>MedMentions</a:t>
            </a:r>
            <a:r>
              <a:rPr sz="1100" dirty="0">
                <a:solidFill>
                  <a:srgbClr val="1A1A1A"/>
                </a:solidFill>
              </a:rPr>
              <a:t> has 127 UMLS semantic types; the dataset inclu</a:t>
            </a:r>
            <a:r>
              <a:rPr lang="en-US" sz="1100" dirty="0">
                <a:solidFill>
                  <a:srgbClr val="1A1A1A"/>
                </a:solidFill>
              </a:rPr>
              <a:t>des</a:t>
            </a:r>
            <a:r>
              <a:rPr sz="1100" dirty="0">
                <a:solidFill>
                  <a:srgbClr val="1A1A1A"/>
                </a:solidFill>
              </a:rPr>
              <a:t> many with &lt; 5 training examples</a:t>
            </a:r>
            <a:r>
              <a:rPr lang="en-US" sz="1100" dirty="0">
                <a:solidFill>
                  <a:srgbClr val="1A1A1A"/>
                </a:solidFill>
              </a:rPr>
              <a:t>, creating a fundamental underfitting errors for models.</a:t>
            </a:r>
            <a:endParaRPr sz="1100" dirty="0">
              <a:solidFill>
                <a:srgbClr val="1A1A1A"/>
              </a:solidFill>
            </a:endParaRP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8322D22-1B99-0126-826F-E9BF910EC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118858"/>
              </p:ext>
            </p:extLst>
          </p:nvPr>
        </p:nvGraphicFramePr>
        <p:xfrm>
          <a:off x="457200" y="3915992"/>
          <a:ext cx="5303520" cy="725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67840">
                  <a:extLst>
                    <a:ext uri="{9D8B030D-6E8A-4147-A177-3AD203B41FA5}">
                      <a16:colId xmlns:a16="http://schemas.microsoft.com/office/drawing/2014/main" val="1318554875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1670163812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10303341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Model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Support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Macro F1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5571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Bio_ClinicalBERT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11,772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0.65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98030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Weighted Bio_ClinicalBERT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11,772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0.65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852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MedGemma-4B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1,221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0.27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64178470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47D7CCEC-12E9-7490-F983-1C8E2427F314}"/>
              </a:ext>
            </a:extLst>
          </p:cNvPr>
          <p:cNvSpPr txBox="1"/>
          <p:nvPr/>
        </p:nvSpPr>
        <p:spPr>
          <a:xfrm>
            <a:off x="457200" y="3520550"/>
            <a:ext cx="167542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P</a:t>
            </a:r>
            <a:r>
              <a:rPr sz="1300" b="1" dirty="0">
                <a:solidFill>
                  <a:srgbClr val="1A56A8"/>
                </a:solidFill>
              </a:rPr>
              <a:t>erformance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0AE469-6CE7-919A-C781-FE2EA4B5573F}"/>
              </a:ext>
            </a:extLst>
          </p:cNvPr>
          <p:cNvSpPr txBox="1"/>
          <p:nvPr/>
        </p:nvSpPr>
        <p:spPr>
          <a:xfrm>
            <a:off x="6217919" y="4421343"/>
            <a:ext cx="55983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Peers</a:t>
            </a:r>
            <a:endParaRPr sz="1300" b="1" dirty="0">
              <a:solidFill>
                <a:srgbClr val="1A56A8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NER Training Analysis - Bio_ClinicalBERT (Weighted)</a:t>
            </a:r>
          </a:p>
        </p:txBody>
      </p:sp>
      <p:pic>
        <p:nvPicPr>
          <p:cNvPr id="3" name="Picture 2" descr="ner02_cell1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31574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026138"/>
            <a:ext cx="1143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666666"/>
                </a:solidFill>
              </a:rPr>
              <a:t>Training loss </a:t>
            </a:r>
            <a:r>
              <a:rPr lang="en-US" sz="1000" b="0" i="1" dirty="0">
                <a:solidFill>
                  <a:srgbClr val="666666"/>
                </a:solidFill>
              </a:rPr>
              <a:t>falls-</a:t>
            </a:r>
            <a:r>
              <a:rPr sz="1000" b="0" i="1" dirty="0">
                <a:solidFill>
                  <a:srgbClr val="666666"/>
                </a:solidFill>
              </a:rPr>
              <a:t> validation loss rises </a:t>
            </a:r>
            <a:r>
              <a:rPr lang="en-US" sz="1000" b="0" i="1" dirty="0">
                <a:solidFill>
                  <a:srgbClr val="666666"/>
                </a:solidFill>
              </a:rPr>
              <a:t>-</a:t>
            </a:r>
            <a:r>
              <a:rPr sz="1000" b="0" i="1" dirty="0">
                <a:solidFill>
                  <a:srgbClr val="666666"/>
                </a:solidFill>
              </a:rPr>
              <a:t> </a:t>
            </a:r>
            <a:r>
              <a:rPr sz="1000" b="0" i="1" dirty="0" err="1">
                <a:solidFill>
                  <a:srgbClr val="666666"/>
                </a:solidFill>
              </a:rPr>
              <a:t>seqeval</a:t>
            </a:r>
            <a:r>
              <a:rPr sz="1000" b="0" i="1" dirty="0">
                <a:solidFill>
                  <a:srgbClr val="666666"/>
                </a:solidFill>
              </a:rPr>
              <a:t> F1 steadily improves to 0.65 · Both variants achieve comparable F1 (0.652 baseline / 0.650 weighted)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8</a:t>
            </a:r>
            <a:r>
              <a:rPr sz="900" b="0" i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547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</a:rPr>
              <a:t>BERT QA training: oscillating loss + flat F1 → model never learns from 512-token truncated inputs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437805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Task 2 - QA: </a:t>
            </a:r>
            <a:r>
              <a:rPr lang="en-US" sz="2200" b="1" dirty="0">
                <a:solidFill>
                  <a:srgbClr val="1A56A8"/>
                </a:solidFill>
              </a:rPr>
              <a:t>BERT &amp; MedGemma-4b</a:t>
            </a:r>
            <a:endParaRPr sz="2200" b="1" dirty="0">
              <a:solidFill>
                <a:srgbClr val="1A56A8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9</a:t>
            </a:r>
            <a:r>
              <a:rPr sz="900" b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BioClinicalBERT Multiple-Choice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3474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262372" cy="3474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[</a:t>
            </a:r>
            <a:r>
              <a:rPr sz="1100" dirty="0">
                <a:solidFill>
                  <a:srgbClr val="1A1A1A"/>
                </a:solidFill>
              </a:rPr>
              <a:t>(Q</a:t>
            </a:r>
            <a:r>
              <a:rPr lang="en-US" sz="1100" dirty="0">
                <a:solidFill>
                  <a:srgbClr val="1A1A1A"/>
                </a:solidFill>
              </a:rPr>
              <a:t>:</a:t>
            </a:r>
            <a:r>
              <a:rPr sz="1100" dirty="0">
                <a:solidFill>
                  <a:srgbClr val="1A1A1A"/>
                </a:solidFill>
              </a:rPr>
              <a:t> Option A)</a:t>
            </a:r>
            <a:r>
              <a:rPr lang="en-US" sz="1100" dirty="0">
                <a:solidFill>
                  <a:srgbClr val="1A1A1A"/>
                </a:solidFill>
              </a:rPr>
              <a:t>, …]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BERT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logit ×4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softmax</a:t>
            </a:r>
            <a:r>
              <a:rPr sz="1100" dirty="0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5303520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90/10 train/</a:t>
            </a:r>
            <a:r>
              <a:rPr sz="1250" dirty="0" err="1">
                <a:solidFill>
                  <a:srgbClr val="1A1A1A"/>
                </a:solidFill>
              </a:rPr>
              <a:t>val</a:t>
            </a:r>
            <a:r>
              <a:rPr sz="1250" dirty="0">
                <a:solidFill>
                  <a:srgbClr val="1A1A1A"/>
                </a:solidFill>
              </a:rPr>
              <a:t> split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Checkpoint: alexd063/bio-</a:t>
            </a:r>
            <a:r>
              <a:rPr sz="1250" dirty="0" err="1">
                <a:solidFill>
                  <a:srgbClr val="1A1A1A"/>
                </a:solidFill>
              </a:rPr>
              <a:t>clinicalbert</a:t>
            </a:r>
            <a:r>
              <a:rPr sz="1250" dirty="0">
                <a:solidFill>
                  <a:srgbClr val="1A1A1A"/>
                </a:solidFill>
              </a:rPr>
              <a:t>-finetuned-</a:t>
            </a:r>
            <a:r>
              <a:rPr sz="1250" dirty="0" err="1">
                <a:solidFill>
                  <a:srgbClr val="1A1A1A"/>
                </a:solidFill>
              </a:rPr>
              <a:t>medqa</a:t>
            </a:r>
            <a:endParaRPr lang="en-US" sz="1250" dirty="0">
              <a:solidFill>
                <a:srgbClr val="1A1A1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 Generative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41148" cy="5486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59068" y="1143000"/>
            <a:ext cx="5445252" cy="5486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1216152"/>
            <a:ext cx="5285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Model sees full question + all 4 options and outputs a single letter.
Instruction format: explicit EOS token appended to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83080"/>
            <a:ext cx="54864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Checkpoint: alexd063/gemma4bit-finetuned-medqa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3050" y="5609844"/>
            <a:ext cx="41148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59068" y="5609844"/>
            <a:ext cx="544525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5695483"/>
            <a:ext cx="52852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Only 2 epochs trained. Warmup = 10 steps is far too low for stable fine-tuning. No error analysis on incorrect predictions.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1CF123A-7DEA-1B93-39BE-41F8C8C99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601725"/>
              </p:ext>
            </p:extLst>
          </p:nvPr>
        </p:nvGraphicFramePr>
        <p:xfrm>
          <a:off x="484505" y="2416552"/>
          <a:ext cx="3981450" cy="1451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271244189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1909146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Value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0761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7628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4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127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5219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WARMUP_RATIO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096256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0577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1641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901855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9EEB348-C843-8C11-99DA-BF40693B9226}"/>
              </a:ext>
            </a:extLst>
          </p:cNvPr>
          <p:cNvSpPr txBox="1"/>
          <p:nvPr/>
        </p:nvSpPr>
        <p:spPr>
          <a:xfrm>
            <a:off x="457200" y="208483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D80B9B5-0A62-E6A2-5FEB-5F6DCBCD7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823050"/>
              </p:ext>
            </p:extLst>
          </p:nvPr>
        </p:nvGraphicFramePr>
        <p:xfrm>
          <a:off x="6327648" y="2559783"/>
          <a:ext cx="3981450" cy="255124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3512198957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39868898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Value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218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MAX_SEQ_LENGTH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1024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2952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0958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GRAD_ACCUM_STEPS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4479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03093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LORA_ALPHA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50659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LORA_DROPOUT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365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TARGET_MODULES (LORA)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q_proj, v_proj, k_proj, o_proj, gate_proj, up_proj, down_proj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354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89849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27050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57312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6101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4091523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10F00D47-20EC-7F7D-1AEF-47FD3DB6F644}"/>
              </a:ext>
            </a:extLst>
          </p:cNvPr>
          <p:cNvSpPr txBox="1"/>
          <p:nvPr/>
        </p:nvSpPr>
        <p:spPr>
          <a:xfrm>
            <a:off x="6259068" y="221811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- Task 2: Medical Question Answering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66666"/>
                </a:solidFill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Random baseline
(4-choice)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C0392B"/>
                </a:solidFill>
              </a:rPr>
              <a:t>26.2%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Test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55%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MedGemma-4B
Test Accuracy (fine-tuned)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1A7A40"/>
                </a:solidFill>
              </a:rPr>
              <a:t>84</a:t>
            </a:r>
            <a:r>
              <a:rPr sz="2400" b="1" dirty="0">
                <a:solidFill>
                  <a:srgbClr val="1A7A40"/>
                </a:solidFill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0" dirty="0">
                <a:solidFill>
                  <a:srgbClr val="666666"/>
                </a:solidFill>
              </a:rPr>
              <a:t>GPT-4</a:t>
            </a:r>
          </a:p>
          <a:p>
            <a:pPr algn="ctr"/>
            <a:r>
              <a:rPr sz="1000" b="0" dirty="0">
                <a:solidFill>
                  <a:srgbClr val="666666"/>
                </a:solidFill>
              </a:rPr>
              <a:t>Official 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BioClinicalBERT Underperforms on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76272"/>
            <a:ext cx="530352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Max sequence length 512 tokens - left-side truncation; long </a:t>
            </a:r>
            <a:r>
              <a:rPr lang="en-US" sz="1250" dirty="0">
                <a:solidFill>
                  <a:srgbClr val="1A1A1A"/>
                </a:solidFill>
              </a:rPr>
              <a:t>texts</a:t>
            </a:r>
            <a:r>
              <a:rPr sz="1250" dirty="0">
                <a:solidFill>
                  <a:srgbClr val="1A1A1A"/>
                </a:solidFill>
              </a:rPr>
              <a:t> may lose question text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Bidirectional encoder not designed for reasoning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Result: 26% accuracy</a:t>
            </a:r>
            <a:r>
              <a:rPr lang="en-US" sz="1250" dirty="0">
                <a:solidFill>
                  <a:srgbClr val="1A1A1A"/>
                </a:solidFill>
              </a:rPr>
              <a:t>, while</a:t>
            </a:r>
            <a:r>
              <a:rPr sz="1250" dirty="0">
                <a:solidFill>
                  <a:srgbClr val="1A1A1A"/>
                </a:solidFill>
              </a:rPr>
              <a:t> 25% </a:t>
            </a:r>
            <a:r>
              <a:rPr lang="en-US" sz="1250" dirty="0">
                <a:solidFill>
                  <a:srgbClr val="1A1A1A"/>
                </a:solidFill>
              </a:rPr>
              <a:t> is a </a:t>
            </a:r>
            <a:r>
              <a:rPr sz="1250" dirty="0">
                <a:solidFill>
                  <a:srgbClr val="1A1A1A"/>
                </a:solidFill>
              </a:rPr>
              <a:t>random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199" y="3639312"/>
            <a:ext cx="45719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8348" y="3639311"/>
            <a:ext cx="5262372" cy="850391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3712464"/>
            <a:ext cx="51023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1A1A1A"/>
                </a:solidFill>
              </a:rPr>
              <a:t>BioClinicalBERT</a:t>
            </a:r>
            <a:r>
              <a:rPr sz="1100" dirty="0">
                <a:solidFill>
                  <a:srgbClr val="1A1A1A"/>
                </a:solidFill>
              </a:rPr>
              <a:t> is architecturally </a:t>
            </a:r>
            <a:r>
              <a:rPr lang="en-US" sz="1100" dirty="0">
                <a:solidFill>
                  <a:srgbClr val="1A1A1A"/>
                </a:solidFill>
              </a:rPr>
              <a:t>not fit </a:t>
            </a:r>
            <a:r>
              <a:rPr sz="1100" dirty="0">
                <a:solidFill>
                  <a:srgbClr val="1A1A1A"/>
                </a:solidFill>
              </a:rPr>
              <a:t>for QA. Published baseline: </a:t>
            </a:r>
            <a:r>
              <a:rPr sz="1100" dirty="0" err="1">
                <a:solidFill>
                  <a:srgbClr val="1A1A1A"/>
                </a:solidFill>
              </a:rPr>
              <a:t>BioBERT</a:t>
            </a:r>
            <a:r>
              <a:rPr sz="1100" dirty="0">
                <a:solidFill>
                  <a:srgbClr val="1A1A1A"/>
                </a:solidFill>
              </a:rPr>
              <a:t>-Large fine-tuned achieves only 36.7% on this test set (Jin et al. 2021); GPT-3.5 reaches 53.6%, GPT-4 84%. MedGemma-4B at 55% is </a:t>
            </a:r>
            <a:r>
              <a:rPr lang="en-US" sz="1100" dirty="0">
                <a:solidFill>
                  <a:srgbClr val="1A1A1A"/>
                </a:solidFill>
              </a:rPr>
              <a:t>at</a:t>
            </a:r>
            <a:r>
              <a:rPr sz="1100" dirty="0">
                <a:solidFill>
                  <a:srgbClr val="1A1A1A"/>
                </a:solidFill>
              </a:rPr>
              <a:t> GPT-3.5 level for a 4B model fine-tuned for 2 epochs.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 Fine-tuning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176272"/>
            <a:ext cx="5486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55% test accuracy - 2× random baseline (ECE not applicable; generative model)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Official pre-trained benchmark: 64.4% on MedQA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Fine-tuning DEGRADED performance vs. pre-trained baseline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Possible causes: only 2 epochs, LR too high (2e-4), 10 warmup steps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Catastrophic forgetting: fine-tuning may damage medical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76472"/>
            <a:ext cx="41148" cy="7132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59068" y="3776472"/>
            <a:ext cx="5445252" cy="71323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27648" y="3849624"/>
            <a:ext cx="528523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S</a:t>
            </a:r>
            <a:r>
              <a:rPr sz="1100" dirty="0">
                <a:solidFill>
                  <a:srgbClr val="1A1A1A"/>
                </a:solidFill>
              </a:rPr>
              <a:t>trong</a:t>
            </a:r>
            <a:r>
              <a:rPr lang="en-US" sz="1100" dirty="0">
                <a:solidFill>
                  <a:srgbClr val="1A1A1A"/>
                </a:solidFill>
              </a:rPr>
              <a:t>ly</a:t>
            </a:r>
            <a:r>
              <a:rPr sz="1100" dirty="0">
                <a:solidFill>
                  <a:srgbClr val="1A1A1A"/>
                </a:solidFill>
              </a:rPr>
              <a:t> pre-trained medical model already </a:t>
            </a:r>
            <a:r>
              <a:rPr lang="en-US" sz="1100" dirty="0">
                <a:solidFill>
                  <a:srgbClr val="1A1A1A"/>
                </a:solidFill>
              </a:rPr>
              <a:t>has intrinsic medical knowledge</a:t>
            </a:r>
            <a:r>
              <a:rPr sz="1100" dirty="0">
                <a:solidFill>
                  <a:srgbClr val="1A1A1A"/>
                </a:solidFill>
              </a:rPr>
              <a:t>. </a:t>
            </a:r>
            <a:r>
              <a:rPr lang="en-US" sz="1100" dirty="0">
                <a:solidFill>
                  <a:srgbClr val="1A1A1A"/>
                </a:solidFill>
              </a:rPr>
              <a:t>Fine-tuning it on the </a:t>
            </a:r>
            <a:r>
              <a:rPr lang="en-US" sz="1100" dirty="0" err="1">
                <a:solidFill>
                  <a:srgbClr val="1A1A1A"/>
                </a:solidFill>
              </a:rPr>
              <a:t>MedQA</a:t>
            </a:r>
            <a:r>
              <a:rPr lang="en-US" sz="1100" dirty="0">
                <a:solidFill>
                  <a:srgbClr val="1A1A1A"/>
                </a:solidFill>
              </a:rPr>
              <a:t> task improves its performance and achieves the levels of widely distributed models such as GPT-3.5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QA Confusion Matrices: BERT vs MedGemma-4B (200 samples)</a:t>
            </a:r>
          </a:p>
        </p:txBody>
      </p:sp>
      <p:pic>
        <p:nvPicPr>
          <p:cNvPr id="3" name="Picture 2" descr="comp_cell1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41563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8080" y="4933603"/>
            <a:ext cx="1143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666666"/>
                </a:solidFill>
              </a:rPr>
              <a:t>BERT: near-uniform matrix (~25% each option) = guessing · </a:t>
            </a:r>
            <a:r>
              <a:rPr sz="1000" b="0" i="1" dirty="0" err="1">
                <a:solidFill>
                  <a:srgbClr val="666666"/>
                </a:solidFill>
              </a:rPr>
              <a:t>MedGemma</a:t>
            </a:r>
            <a:r>
              <a:rPr sz="1000" b="0" i="1" dirty="0">
                <a:solidFill>
                  <a:srgbClr val="666666"/>
                </a:solidFill>
              </a:rPr>
              <a:t>: strong diagonal = genuine medical reasoning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Comparative Analysis: Encoder vs.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86868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Bio_ClinicalBERT (Encoder)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MedGemma-4B (Decoder)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NER 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0.65 (full test, token classifier)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0.27 (subset, generative)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QA Accuracy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~26%  (≈ random)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55.7%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GPU time /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~20–40 min (110 M params)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~1.5–2.5 h (4B, QLoRA)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Trainable params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110 M (full fine-tune)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33 M (0.76% via LoRA)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Inference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Fast (single forward pass)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Slow (autoregressive)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Best suited for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Classification, token labeling, NER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Reasoning, generation, QA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584448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3584448"/>
            <a:ext cx="11233404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657600"/>
            <a:ext cx="1107338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A1A1A"/>
                </a:solidFill>
              </a:rPr>
              <a:t>Key: Use the right architecture for the task.
Encoders excel at structured extraction (NER). Decoders excel at open-ended reasoning (QA).
Neither model is universally better - task-architecture alignment is </a:t>
            </a:r>
            <a:r>
              <a:rPr lang="en-US" sz="1300" dirty="0">
                <a:solidFill>
                  <a:srgbClr val="1A1A1A"/>
                </a:solidFill>
              </a:rPr>
              <a:t>important.</a:t>
            </a:r>
            <a:endParaRPr sz="1300" dirty="0">
              <a:solidFill>
                <a:srgbClr val="1A1A1A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348" y="4480560"/>
            <a:ext cx="11233404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110733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Note: NER comparison is not a clean head-to-head - BERT on full 2,926-sample test split, MedGemma on 10% qualitative subset only.
200-sample QA comparative subset: BERT 30.0% accuracy / Gemma 56.5%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Comparative: All Tasks &amp; Metrics</a:t>
            </a:r>
          </a:p>
        </p:txBody>
      </p:sp>
      <p:pic>
        <p:nvPicPr>
          <p:cNvPr id="3" name="Picture 2" descr="comp_cell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5760720" cy="50979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777240"/>
            <a:ext cx="530352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NER</a:t>
            </a:r>
            <a:r>
              <a:rPr lang="en-US" sz="1300" b="1" dirty="0">
                <a:solidFill>
                  <a:srgbClr val="1A56A8"/>
                </a:solidFill>
              </a:rPr>
              <a:t>: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sz="1300" b="1" dirty="0" err="1">
                <a:solidFill>
                  <a:srgbClr val="1A56A8"/>
                </a:solidFill>
              </a:rPr>
              <a:t>Bio_ClinicalBERT</a:t>
            </a:r>
            <a:r>
              <a:rPr sz="1300" b="1" dirty="0">
                <a:solidFill>
                  <a:srgbClr val="1A56A8"/>
                </a:solidFill>
              </a:rPr>
              <a:t> wins</a:t>
            </a:r>
          </a:p>
          <a:p>
            <a:r>
              <a:rPr sz="1200" b="0" dirty="0">
                <a:solidFill>
                  <a:srgbClr val="1A1A1A"/>
                </a:solidFill>
              </a:rPr>
              <a:t>F1: 0.65 vs 0.27 · Bidirectional attention</a:t>
            </a:r>
          </a:p>
          <a:p>
            <a:endParaRPr sz="1200" b="0" dirty="0">
              <a:solidFill>
                <a:srgbClr val="1A1A1A"/>
              </a:solidFill>
            </a:endParaRPr>
          </a:p>
          <a:p>
            <a:r>
              <a:rPr sz="1300" b="1" dirty="0">
                <a:solidFill>
                  <a:srgbClr val="1A56A8"/>
                </a:solidFill>
              </a:rPr>
              <a:t>QA</a:t>
            </a:r>
            <a:r>
              <a:rPr lang="en-US" sz="1300" b="1" dirty="0">
                <a:solidFill>
                  <a:srgbClr val="1A56A8"/>
                </a:solidFill>
              </a:rPr>
              <a:t>:</a:t>
            </a:r>
            <a:r>
              <a:rPr sz="1300" b="1" dirty="0">
                <a:solidFill>
                  <a:srgbClr val="1A56A8"/>
                </a:solidFill>
              </a:rPr>
              <a:t> MedGemma-4B wins</a:t>
            </a:r>
          </a:p>
          <a:p>
            <a:r>
              <a:rPr sz="1200" b="0" dirty="0">
                <a:solidFill>
                  <a:srgbClr val="1A1A1A"/>
                </a:solidFill>
              </a:rPr>
              <a:t>55% vs 26.2% · 1,024-token context</a:t>
            </a:r>
          </a:p>
          <a:p>
            <a:endParaRPr sz="1200" b="0" dirty="0">
              <a:solidFill>
                <a:srgbClr val="1A1A1A"/>
              </a:solidFill>
            </a:endParaRPr>
          </a:p>
          <a:p>
            <a:r>
              <a:rPr lang="en-US" sz="1300" b="1" dirty="0">
                <a:solidFill>
                  <a:srgbClr val="1A1A1A"/>
                </a:solidFill>
              </a:rPr>
              <a:t>Summary</a:t>
            </a:r>
            <a:endParaRPr sz="1300" b="1" dirty="0">
              <a:solidFill>
                <a:srgbClr val="1A1A1A"/>
              </a:solidFill>
            </a:endParaRPr>
          </a:p>
          <a:p>
            <a:r>
              <a:rPr lang="en-US" sz="1200" dirty="0">
                <a:solidFill>
                  <a:srgbClr val="1A1A1A"/>
                </a:solidFill>
              </a:rPr>
              <a:t>No universally performant model, task-specific architectures</a:t>
            </a:r>
          </a:p>
          <a:p>
            <a:r>
              <a:rPr lang="en-US" sz="1200" dirty="0">
                <a:solidFill>
                  <a:srgbClr val="1A1A1A"/>
                </a:solidFill>
              </a:rPr>
              <a:t>d</a:t>
            </a:r>
            <a:r>
              <a:rPr lang="en-US" sz="1200" b="0" dirty="0">
                <a:solidFill>
                  <a:srgbClr val="1A1A1A"/>
                </a:solidFill>
              </a:rPr>
              <a:t>emonstrate better results.</a:t>
            </a:r>
            <a:endParaRPr sz="1200" b="0" dirty="0">
              <a:solidFill>
                <a:srgbClr val="1A1A1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244663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Compute Estimates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779526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GPU Execution Time (Google Colab A100)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65207"/>
              </p:ext>
            </p:extLst>
          </p:nvPr>
        </p:nvGraphicFramePr>
        <p:xfrm>
          <a:off x="365760" y="1108710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Actual / Estimated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NER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NER weighted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1A1A1A"/>
                          </a:solidFill>
                        </a:rPr>
                        <a:t>MedGemma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NER (300 steps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1h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QA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QA (2 epochs)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~1.5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h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Comparative analysis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Total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~5 – 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Discussion: What Worked &amp; What Didn't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7A40"/>
                </a:solidFill>
              </a:rPr>
              <a:t>What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486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Class weighting significantly improved NER on frequent entities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QLoRA</a:t>
            </a:r>
            <a:r>
              <a:rPr sz="1200" dirty="0">
                <a:solidFill>
                  <a:srgbClr val="1A1A1A"/>
                </a:solidFill>
              </a:rPr>
              <a:t> made the 4B model trainable on a single GPU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outperformed BERT 2:1 on QA (55% vs 26.2%)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Custom </a:t>
            </a:r>
            <a:r>
              <a:rPr sz="1200" dirty="0" err="1">
                <a:solidFill>
                  <a:srgbClr val="1A1A1A"/>
                </a:solidFill>
              </a:rPr>
              <a:t>WeightedTrainer</a:t>
            </a:r>
            <a:r>
              <a:rPr sz="1200" dirty="0">
                <a:solidFill>
                  <a:srgbClr val="1A1A1A"/>
                </a:solidFill>
              </a:rPr>
              <a:t> was clean, reusable, and well-documented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Cosine LR + early stopping stabilized training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All models published to </a:t>
            </a:r>
            <a:r>
              <a:rPr sz="1200" dirty="0" err="1">
                <a:solidFill>
                  <a:srgbClr val="1A1A1A"/>
                </a:solidFill>
              </a:rPr>
              <a:t>HuggingFace</a:t>
            </a:r>
            <a:r>
              <a:rPr sz="1200" dirty="0">
                <a:solidFill>
                  <a:srgbClr val="1A1A1A"/>
                </a:solidFill>
              </a:rPr>
              <a:t> Hub for full reproducibility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Unsloth</a:t>
            </a:r>
            <a:r>
              <a:rPr sz="1200" dirty="0">
                <a:solidFill>
                  <a:srgbClr val="1A1A1A"/>
                </a:solidFill>
              </a:rPr>
              <a:t> gave 2× training speedup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</a:rPr>
              <a:t>What Didn't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54864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BERT QA: near-random accuracy - wrong architecture for reasoning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NER: 300 steps only, no quantitative metrics</a:t>
            </a:r>
          </a:p>
          <a:p>
            <a:pPr>
              <a:spcBef>
                <a:spcPts val="300"/>
              </a:spcBef>
            </a:pPr>
            <a:r>
              <a:rPr lang="en-US" sz="1200" dirty="0">
                <a:solidFill>
                  <a:srgbClr val="1A1A1A"/>
                </a:solidFill>
              </a:rPr>
              <a:t>• Asymmetric NER evaluation - not a clean comparison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Data &amp;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113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MedMentions</a:t>
            </a:r>
            <a:r>
              <a:rPr sz="1250" dirty="0">
                <a:solidFill>
                  <a:srgbClr val="1A1A1A"/>
                </a:solidFill>
              </a:rPr>
              <a:t>: rare entity types with &lt; 5 examples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near-zero F1 (data sparsity, not architecture)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BERT QA: 512-token left-side truncation may discard </a:t>
            </a:r>
            <a:r>
              <a:rPr lang="en-US" sz="1250" dirty="0">
                <a:solidFill>
                  <a:srgbClr val="1A1A1A"/>
                </a:solidFill>
              </a:rPr>
              <a:t>crucial parts </a:t>
            </a:r>
            <a:r>
              <a:rPr sz="1250" dirty="0">
                <a:solidFill>
                  <a:srgbClr val="1A1A1A"/>
                </a:solidFill>
              </a:rPr>
              <a:t>for long </a:t>
            </a:r>
            <a:r>
              <a:rPr lang="en-US" sz="1250" dirty="0">
                <a:solidFill>
                  <a:srgbClr val="1A1A1A"/>
                </a:solidFill>
              </a:rPr>
              <a:t>texts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MedQA</a:t>
            </a:r>
            <a:r>
              <a:rPr sz="1250" dirty="0">
                <a:solidFill>
                  <a:srgbClr val="1A1A1A"/>
                </a:solidFill>
              </a:rPr>
              <a:t> is US-centric (USMLE) - does not reflect global practices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73552"/>
            <a:ext cx="41148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8348" y="3273552"/>
            <a:ext cx="5262372" cy="54864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346704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Data is the biggest </a:t>
            </a:r>
            <a:r>
              <a:rPr lang="en-US" sz="1100" dirty="0">
                <a:solidFill>
                  <a:srgbClr val="1A1A1A"/>
                </a:solidFill>
              </a:rPr>
              <a:t>issue</a:t>
            </a:r>
            <a:r>
              <a:rPr sz="1100" dirty="0">
                <a:solidFill>
                  <a:srgbClr val="1A1A1A"/>
                </a:solidFill>
              </a:rPr>
              <a:t> - model cannot learn types it has never seen.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Model &amp; Compute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170432"/>
            <a:ext cx="548640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Single GPU (A100) limits scal</a:t>
            </a:r>
            <a:r>
              <a:rPr lang="en-US" sz="1250" dirty="0">
                <a:solidFill>
                  <a:srgbClr val="1A1A1A"/>
                </a:solidFill>
              </a:rPr>
              <a:t>ing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No </a:t>
            </a:r>
            <a:r>
              <a:rPr lang="en-US" sz="1250" dirty="0">
                <a:solidFill>
                  <a:srgbClr val="1A1A1A"/>
                </a:solidFill>
              </a:rPr>
              <a:t>automatic </a:t>
            </a:r>
            <a:r>
              <a:rPr sz="1250" dirty="0">
                <a:solidFill>
                  <a:srgbClr val="1A1A1A"/>
                </a:solidFill>
              </a:rPr>
              <a:t>hyperparameter</a:t>
            </a:r>
            <a:r>
              <a:rPr lang="en-US" sz="1250" dirty="0">
                <a:solidFill>
                  <a:srgbClr val="1A1A1A"/>
                </a:solidFill>
              </a:rPr>
              <a:t>s</a:t>
            </a:r>
            <a:r>
              <a:rPr sz="1250" dirty="0">
                <a:solidFill>
                  <a:srgbClr val="1A1A1A"/>
                </a:solidFill>
              </a:rPr>
              <a:t> </a:t>
            </a:r>
            <a:r>
              <a:rPr lang="en-US" sz="1250" dirty="0">
                <a:solidFill>
                  <a:srgbClr val="1A1A1A"/>
                </a:solidFill>
              </a:rPr>
              <a:t>search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MedGemma</a:t>
            </a:r>
            <a:r>
              <a:rPr sz="1250" dirty="0">
                <a:solidFill>
                  <a:srgbClr val="1A1A1A"/>
                </a:solidFill>
              </a:rPr>
              <a:t> NER severely under-trained (300 of ~1,462 steps per epoch)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lang="en-US" sz="1250" dirty="0">
                <a:solidFill>
                  <a:srgbClr val="1A1A1A"/>
                </a:solidFill>
              </a:rPr>
              <a:t>No </a:t>
            </a:r>
            <a:r>
              <a:rPr lang="en-US" sz="1250" dirty="0" err="1">
                <a:solidFill>
                  <a:srgbClr val="1A1A1A"/>
                </a:solidFill>
              </a:rPr>
              <a:t>multiseed</a:t>
            </a:r>
            <a:r>
              <a:rPr lang="en-US" sz="1250" dirty="0">
                <a:solidFill>
                  <a:srgbClr val="1A1A1A"/>
                </a:solidFill>
              </a:rPr>
              <a:t> averaging for results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BioClinicalBERT</a:t>
            </a:r>
            <a:r>
              <a:rPr sz="1250" dirty="0">
                <a:solidFill>
                  <a:srgbClr val="1A1A1A"/>
                </a:solidFill>
              </a:rPr>
              <a:t> </a:t>
            </a:r>
            <a:r>
              <a:rPr lang="en-US" sz="1250" dirty="0">
                <a:solidFill>
                  <a:srgbClr val="1A1A1A"/>
                </a:solidFill>
              </a:rPr>
              <a:t>fine-tuned </a:t>
            </a:r>
            <a:r>
              <a:rPr sz="1250" dirty="0">
                <a:solidFill>
                  <a:srgbClr val="1A1A1A"/>
                </a:solidFill>
              </a:rPr>
              <a:t>on MIMIC-III only - US bias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273552"/>
            <a:ext cx="41148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9068" y="3273552"/>
            <a:ext cx="5445252" cy="5486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3346704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Fine-tuning strong pre-trained medical model </a:t>
            </a:r>
            <a:r>
              <a:rPr lang="en-US" sz="1100" dirty="0">
                <a:solidFill>
                  <a:srgbClr val="1A1A1A"/>
                </a:solidFill>
              </a:rPr>
              <a:t>is relatively more straightforward and yields better results.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CSCI E-222 · Foundations of Large Language Models ·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56A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</a:rPr>
              <a:t>NLP for Healthcare: Medical Text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41148" cy="8046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2668" y="2423160"/>
            <a:ext cx="4988052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496312"/>
            <a:ext cx="4828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Code &amp; Models
</a:t>
            </a:r>
            <a:r>
              <a:rPr sz="1200" dirty="0" err="1">
                <a:solidFill>
                  <a:srgbClr val="1A1A1A"/>
                </a:solidFill>
              </a:rPr>
              <a:t>huggingface.co</a:t>
            </a:r>
            <a:r>
              <a:rPr sz="1200" dirty="0">
                <a:solidFill>
                  <a:srgbClr val="1A1A1A"/>
                </a:solidFill>
              </a:rPr>
              <a:t>/alexd063
</a:t>
            </a:r>
            <a:r>
              <a:rPr lang="en-US" sz="1200" dirty="0">
                <a:solidFill>
                  <a:srgbClr val="1A1A1A"/>
                </a:solidFill>
              </a:rPr>
              <a:t>https://</a:t>
            </a:r>
            <a:r>
              <a:rPr lang="en-US" sz="1200" dirty="0" err="1">
                <a:solidFill>
                  <a:srgbClr val="1A1A1A"/>
                </a:solidFill>
              </a:rPr>
              <a:t>github.com</a:t>
            </a:r>
            <a:r>
              <a:rPr lang="en-US" sz="1200" dirty="0">
                <a:solidFill>
                  <a:srgbClr val="1A1A1A"/>
                </a:solidFill>
              </a:rPr>
              <a:t>/</a:t>
            </a:r>
            <a:r>
              <a:rPr lang="en-US" sz="1200" dirty="0" err="1">
                <a:solidFill>
                  <a:srgbClr val="1A1A1A"/>
                </a:solidFill>
              </a:rPr>
              <a:t>vonKleve</a:t>
            </a:r>
            <a:r>
              <a:rPr lang="en-US" sz="1200" dirty="0">
                <a:solidFill>
                  <a:srgbClr val="1A1A1A"/>
                </a:solidFill>
              </a:rPr>
              <a:t>/csci-e222-final-project/tree/master</a:t>
            </a:r>
            <a:endParaRPr sz="1200" dirty="0">
              <a:solidFill>
                <a:srgbClr val="1A1A1A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035040" y="2423160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76188" y="2423160"/>
            <a:ext cx="5353812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44768" y="2496312"/>
            <a:ext cx="51937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Datasets Used
Ben10x/MedMentions-MTI881-NER
GBaker/MedQA-USMLE-4-options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56432"/>
            <a:ext cx="10725912" cy="1234440"/>
          </a:xfrm>
          <a:prstGeom prst="rect">
            <a:avLst/>
          </a:prstGeom>
          <a:solidFill>
            <a:srgbClr val="FFF3CD"/>
          </a:solidFill>
          <a:ln w="25400">
            <a:solidFill>
              <a:srgbClr val="E6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</a:rPr>
              <a:t>Video Presentation URL: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58768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A56A8"/>
                </a:solidFill>
              </a:rPr>
              <a:t>[ INSERT VIDEO URL HERE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O. Mykhailovskyi · Harvard Extension School · CSCI E-222 ·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2410</Words>
  <Application>Microsoft Macintosh PowerPoint</Application>
  <PresentationFormat>Custom</PresentationFormat>
  <Paragraphs>398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Mykhailovskyi</cp:lastModifiedBy>
  <cp:revision>38</cp:revision>
  <dcterms:created xsi:type="dcterms:W3CDTF">2013-01-27T09:14:16Z</dcterms:created>
  <dcterms:modified xsi:type="dcterms:W3CDTF">2026-05-15T23:57:34Z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54b7cbc-c708-4bae-92f9-e7d5cd5d68c6_Enabled">
    <vt:lpwstr>true</vt:lpwstr>
  </property>
  <property fmtid="{D5CDD505-2E9C-101B-9397-08002B2CF9AE}" pid="3" name="MSIP_Label_054b7cbc-c708-4bae-92f9-e7d5cd5d68c6_SetDate">
    <vt:lpwstr>2026-05-15T19:11:38Z</vt:lpwstr>
  </property>
  <property fmtid="{D5CDD505-2E9C-101B-9397-08002B2CF9AE}" pid="4" name="MSIP_Label_054b7cbc-c708-4bae-92f9-e7d5cd5d68c6_Method">
    <vt:lpwstr>Standard</vt:lpwstr>
  </property>
  <property fmtid="{D5CDD505-2E9C-101B-9397-08002B2CF9AE}" pid="5" name="MSIP_Label_054b7cbc-c708-4bae-92f9-e7d5cd5d68c6_Name">
    <vt:lpwstr>Internal</vt:lpwstr>
  </property>
  <property fmtid="{D5CDD505-2E9C-101B-9397-08002B2CF9AE}" pid="6" name="MSIP_Label_054b7cbc-c708-4bae-92f9-e7d5cd5d68c6_SiteId">
    <vt:lpwstr>2a35d8fd-574d-48e3-927c-8c398e225a01</vt:lpwstr>
  </property>
  <property fmtid="{D5CDD505-2E9C-101B-9397-08002B2CF9AE}" pid="7" name="MSIP_Label_054b7cbc-c708-4bae-92f9-e7d5cd5d68c6_ActionId">
    <vt:lpwstr>a2a63b91-87a6-4a8d-8e31-21a9a8b6b6c1</vt:lpwstr>
  </property>
  <property fmtid="{D5CDD505-2E9C-101B-9397-08002B2CF9AE}" pid="8" name="MSIP_Label_054b7cbc-c708-4bae-92f9-e7d5cd5d68c6_ContentBits">
    <vt:lpwstr>0</vt:lpwstr>
  </property>
  <property fmtid="{D5CDD505-2E9C-101B-9397-08002B2CF9AE}" pid="9" name="MSIP_Label_054b7cbc-c708-4bae-92f9-e7d5cd5d68c6_Tag">
    <vt:lpwstr>50, 3, 0, 1</vt:lpwstr>
  </property>
</Properties>
</file>