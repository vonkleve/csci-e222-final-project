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A5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725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</a:rPr>
              <a:t>CSCI E-222 · Foundations of Large Language Models · Final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10725912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1A56A8"/>
                </a:solidFill>
              </a:rPr>
              <a:t>NLP for Healthcare:
Medical Text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51760"/>
            <a:ext cx="107259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444444"/>
                </a:solidFill>
              </a:rPr>
              <a:t>Fine-tuning &amp; Comparing Encoder vs. Decoder LLMs
on Medical NER and Question Answering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20440"/>
            <a:ext cx="107259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</a:rPr>
              <a:t>A. Mykhailovskyi  ·  May 2026  ·  Harvard Extension School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4023360"/>
            <a:ext cx="1554480" cy="292608"/>
          </a:xfrm>
          <a:prstGeom prst="rect">
            <a:avLst/>
          </a:prstGeom>
          <a:solidFill>
            <a:srgbClr val="E8F0FB"/>
          </a:solidFill>
          <a:ln w="9525">
            <a:solidFill>
              <a:srgbClr val="1A5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4050791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56A8"/>
                </a:solidFill>
              </a:rPr>
              <a:t>Bio_ClinicalBERT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68880" y="4023360"/>
            <a:ext cx="1554480" cy="292608"/>
          </a:xfrm>
          <a:prstGeom prst="rect">
            <a:avLst/>
          </a:prstGeom>
          <a:solidFill>
            <a:srgbClr val="E8F0FB"/>
          </a:solidFill>
          <a:ln w="9525">
            <a:solidFill>
              <a:srgbClr val="1A5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60320" y="4050791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56A8"/>
                </a:solidFill>
              </a:rPr>
              <a:t>MedGemma-4B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06240" y="4023360"/>
            <a:ext cx="1554480" cy="292608"/>
          </a:xfrm>
          <a:prstGeom prst="rect">
            <a:avLst/>
          </a:prstGeom>
          <a:solidFill>
            <a:srgbClr val="E6F7EE"/>
          </a:solidFill>
          <a:ln w="9525">
            <a:solidFill>
              <a:srgbClr val="1A7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0" y="4050791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7A40"/>
                </a:solidFill>
              </a:rPr>
              <a:t>MedMentions NER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0" y="4023360"/>
            <a:ext cx="1554480" cy="292608"/>
          </a:xfrm>
          <a:prstGeom prst="rect">
            <a:avLst/>
          </a:prstGeom>
          <a:solidFill>
            <a:srgbClr val="E6F7EE"/>
          </a:solidFill>
          <a:ln w="9525">
            <a:solidFill>
              <a:srgbClr val="1A7A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35040" y="4050791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7A40"/>
                </a:solidFill>
              </a:rPr>
              <a:t>MedQA USMLE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355080"/>
            <a:ext cx="107259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</a:rPr>
              <a:t>Code: huggingface.co/alexd063  ·  Tasks: NER · Multi-choice QA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A5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916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A56A8"/>
                </a:solidFill>
              </a:rPr>
              <a:t>Problem Statement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67512"/>
            <a:ext cx="11091672" cy="22860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F5F8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56248"/>
            <a:ext cx="12188952" cy="9144"/>
          </a:xfrm>
          <a:prstGeom prst="rect">
            <a:avLst/>
          </a:prstGeom>
          <a:solidFill>
            <a:srgbClr val="D0E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8368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CSCI E-222 · NLP for Healthcare · A. Mykhailovskyi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1672" y="6583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2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868680"/>
            <a:ext cx="41148" cy="777240"/>
          </a:xfrm>
          <a:prstGeom prst="rect">
            <a:avLst/>
          </a:prstGeom>
          <a:solidFill>
            <a:srgbClr val="1A5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98348" y="868680"/>
            <a:ext cx="11233404" cy="777240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941832"/>
            <a:ext cx="11073384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A1A1A"/>
                </a:solidFill>
              </a:rPr>
              <a:t>How do encoder-only (BioClinicalBERT) and decoder-based (MedGemma-4B) architectures compare when fine-tuned on two core medical NLP tasks — NER and QA — under a constrained compute budget?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783080"/>
            <a:ext cx="4572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A56A8"/>
                </a:solidFill>
              </a:rPr>
              <a:t>Why It Matters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084831"/>
            <a:ext cx="5303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Clinical NLP enables automated chart review, coding &amp; decision support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Domain-specific models outperform general LLMs but trade-offs are unclear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LoRA/QLoRA makes billion-parameter models accessible on a single GPU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Two very different architectures → clear ablation study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611880"/>
            <a:ext cx="4572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A56A8"/>
                </a:solidFill>
              </a:rPr>
              <a:t>Scope Constraints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13632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Single GPU — Google Colab Pro A100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PEFT only (LoRA/QLoRA) for the 4B model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Public, reproducible datasets only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35040" y="1783080"/>
            <a:ext cx="41148" cy="914400"/>
          </a:xfrm>
          <a:prstGeom prst="rect">
            <a:avLst/>
          </a:prstGeom>
          <a:solidFill>
            <a:srgbClr val="1A5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76188" y="1783080"/>
            <a:ext cx="5628132" cy="914400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44768" y="1856232"/>
            <a:ext cx="546811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1A1A1A"/>
                </a:solidFill>
              </a:rPr>
              <a:t>Task 1 — Named Entity Recognition (NER)
Label each token in biomedical text with a UMLS semantic type (e.g., T038 = Biologic Function, T103 = Chemical)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0" y="2834640"/>
            <a:ext cx="41148" cy="914400"/>
          </a:xfrm>
          <a:prstGeom prst="rect">
            <a:avLst/>
          </a:prstGeom>
          <a:solidFill>
            <a:srgbClr val="1A7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76188" y="2834640"/>
            <a:ext cx="5628132" cy="914400"/>
          </a:xfrm>
          <a:prstGeom prst="rect">
            <a:avLst/>
          </a:prstGeom>
          <a:solidFill>
            <a:srgbClr val="E6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44768" y="2907792"/>
            <a:ext cx="546811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1A1A1A"/>
                </a:solidFill>
              </a:rPr>
              <a:t>Task 2 — Medical Question Answering
Select the correct answer (A–D) from USMLE-style clinical questions requiring multi-step medical reasoning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35040" y="3886200"/>
            <a:ext cx="41148" cy="7315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76188" y="3886200"/>
            <a:ext cx="5628132" cy="73152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44768" y="3959352"/>
            <a:ext cx="546811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A1A1A"/>
                </a:solidFill>
              </a:rPr>
              <a:t>⚠  MedMentions uses a zero-shot label protocol — some test-set entity types are unseen during training, making evaluation harder across all models.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A5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916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A56A8"/>
                </a:solidFill>
              </a:rPr>
              <a:t>Datasets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67512"/>
            <a:ext cx="11091672" cy="22860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F5F8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56248"/>
            <a:ext cx="12188952" cy="9144"/>
          </a:xfrm>
          <a:prstGeom prst="rect">
            <a:avLst/>
          </a:prstGeom>
          <a:solidFill>
            <a:srgbClr val="D0E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8368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CSCI E-222 · NLP for Healthcare · A. Mykhailovskyi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1672" y="6583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3 / 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868680"/>
            <a:ext cx="4572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A56A8"/>
                </a:solidFill>
              </a:rPr>
              <a:t>Task 1 · NER — MedMentions MTI881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170432"/>
          <a:ext cx="4114800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</a:tblGrid>
              <a:tr h="2514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Split</a:t>
                      </a:r>
                    </a:p>
                  </a:txBody>
                  <a:tcPr>
                    <a:solidFill>
                      <a:srgbClr val="1A56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Samples</a:t>
                      </a:r>
                    </a:p>
                  </a:txBody>
                  <a:tcPr>
                    <a:solidFill>
                      <a:srgbClr val="1A56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Approx. Tokens</a:t>
                      </a:r>
                    </a:p>
                  </a:txBody>
                  <a:tcPr>
                    <a:solidFill>
                      <a:srgbClr val="1A56A8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Train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23,399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~700 K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Validation</a:t>
                      </a:r>
                    </a:p>
                  </a:txBody>
                  <a:tcPr>
                    <a:solidFill>
                      <a:srgbClr val="F5F8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2,924</a:t>
                      </a:r>
                    </a:p>
                  </a:txBody>
                  <a:tcPr>
                    <a:solidFill>
                      <a:srgbClr val="F5F8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~88 K</a:t>
                      </a:r>
                    </a:p>
                  </a:txBody>
                  <a:tcPr>
                    <a:solidFill>
                      <a:srgbClr val="F5F8FE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2,926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~88 K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2331720"/>
            <a:ext cx="5303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4,392 PubMed abstracts, 350 K+ UMLS-annotated mentions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105 entity classes (UMLS semantic types), BIO format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Severe class imbalance: "O" tag = 76% of all tokens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Source: Ben10x/MedMentions-MTI881-NER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794760"/>
            <a:ext cx="41148" cy="62179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8348" y="3794760"/>
            <a:ext cx="5445252" cy="621792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3867912"/>
            <a:ext cx="5285232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A1A1A"/>
                </a:solidFill>
              </a:rPr>
              <a:t>⚠  Dataset has no stated license — legal status is ambiguous. Usage proceeds under research exemption but should carry a disclaimer.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868680"/>
            <a:ext cx="4572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A56A8"/>
                </a:solidFill>
              </a:rPr>
              <a:t>Task 2 · QA — MedQA USMLE-4-options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217920" y="1170432"/>
          <a:ext cx="2926080" cy="7498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463040"/>
              </a:tblGrid>
              <a:tr h="24993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Split</a:t>
                      </a:r>
                    </a:p>
                  </a:txBody>
                  <a:tcPr>
                    <a:solidFill>
                      <a:srgbClr val="1A56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Samples</a:t>
                      </a:r>
                    </a:p>
                  </a:txBody>
                  <a:tcPr>
                    <a:solidFill>
                      <a:srgbClr val="1A56A8"/>
                    </a:solidFill>
                  </a:tcPr>
                </a:tc>
              </a:tr>
              <a:tr h="24993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Train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10,200</a:t>
                      </a:r>
                    </a:p>
                  </a:txBody>
                  <a:tcPr/>
                </a:tc>
              </a:tr>
              <a:tr h="24993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Test</a:t>
                      </a:r>
                    </a:p>
                  </a:txBody>
                  <a:tcPr>
                    <a:solidFill>
                      <a:srgbClr val="F5F8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1,270</a:t>
                      </a:r>
                    </a:p>
                  </a:txBody>
                  <a:tcPr>
                    <a:solidFill>
                      <a:srgbClr val="F5F8FE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6217920" y="2057400"/>
            <a:ext cx="54864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USMLE Step 1/2/3 clinical reasoning questions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4-option multiple choice (A–D)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Random baseline: 25%  ·  Human expert: ~90%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License: CC-BY-4.0 (permissive)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Source: GBaker/MedQA-USMLE-4-options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Standard benchmark: MedGemma 4B scores 64.4% (pre-trained)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A5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916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A56A8"/>
                </a:solidFill>
              </a:rPr>
              <a:t>Models &amp; Methods 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67512"/>
            <a:ext cx="11091672" cy="22860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F5F8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56248"/>
            <a:ext cx="12188952" cy="9144"/>
          </a:xfrm>
          <a:prstGeom prst="rect">
            <a:avLst/>
          </a:prstGeom>
          <a:solidFill>
            <a:srgbClr val="D0E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8368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CSCI E-222 · NLP for Healthcare · A. Mykhailovskyi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1672" y="6583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4 / 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868680"/>
            <a:ext cx="4572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A56A8"/>
                </a:solidFill>
              </a:rPr>
              <a:t>Bio_ClinicalBERT  (Encoder)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170432"/>
            <a:ext cx="53035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110 M parameters, BERT-base architecture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Pre-trained on MIMIC-III clinical notes (~880 M words)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Fine-tuned with full parameter update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NER → Token Classification head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QA  → Multiple Choice head (4 seqs → 1 logit each)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Bidirectional attention — strong at classification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Max sequence length: 128 tokens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520440"/>
            <a:ext cx="41148" cy="438912"/>
          </a:xfrm>
          <a:prstGeom prst="rect">
            <a:avLst/>
          </a:prstGeom>
          <a:solidFill>
            <a:srgbClr val="1A5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8348" y="3520440"/>
            <a:ext cx="5262372" cy="438912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3593592"/>
            <a:ext cx="51023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A1A1A"/>
                </a:solidFill>
              </a:rPr>
              <a:t>Architecture: Input → [ClinicalBERT] → Label / Choice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1648"/>
            <a:ext cx="41148" cy="347472"/>
          </a:xfrm>
          <a:prstGeom prst="rect">
            <a:avLst/>
          </a:prstGeom>
          <a:solidFill>
            <a:srgbClr val="1A7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8348" y="4041648"/>
            <a:ext cx="5262372" cy="347472"/>
          </a:xfrm>
          <a:prstGeom prst="rect">
            <a:avLst/>
          </a:prstGeom>
          <a:solidFill>
            <a:srgbClr val="E6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4114800"/>
            <a:ext cx="51023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A1A1A"/>
                </a:solidFill>
              </a:rPr>
              <a:t>MIT License — permissive for research use.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868680"/>
            <a:ext cx="4572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A56A8"/>
                </a:solidFill>
              </a:rPr>
              <a:t>MedGemma-4B-IT  (Decoder + QLoRA)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1170432"/>
            <a:ext cx="5486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4.3 B parameters, Gemma-3 architecture, 128 K context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Pre-trained on medical images + text (Google Health AI)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PEFT: QLoRA (4-bit NF4 + LoRA rank 16, alpha 16)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Only 0.76% of parameters trainable (~33 M)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NER → generative: "token: tag, token: tag …"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QA  → generative: outputs a single letter A / B / C / D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2× training speed via Unsloth optimization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3493008"/>
            <a:ext cx="1737360" cy="713232"/>
          </a:xfrm>
          <a:prstGeom prst="rect">
            <a:avLst/>
          </a:prstGeom>
          <a:solidFill>
            <a:srgbClr val="F5F8FE"/>
          </a:solidFill>
          <a:ln w="12700">
            <a:solidFill>
              <a:srgbClr val="D0E2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0" y="3584448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A56A8"/>
                </a:solidFill>
              </a:rPr>
              <a:t>33 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3950208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</a:rPr>
              <a:t>Trainable params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46720" y="3493008"/>
            <a:ext cx="1737360" cy="713232"/>
          </a:xfrm>
          <a:prstGeom prst="rect">
            <a:avLst/>
          </a:prstGeom>
          <a:solidFill>
            <a:srgbClr val="F5F8FE"/>
          </a:solidFill>
          <a:ln w="12700">
            <a:solidFill>
              <a:srgbClr val="D0E2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0" y="3584448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A56A8"/>
                </a:solidFill>
              </a:rPr>
              <a:t>4-bit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950208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</a:rPr>
              <a:t>NF4 quantization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875520" y="3493008"/>
            <a:ext cx="1737360" cy="713232"/>
          </a:xfrm>
          <a:prstGeom prst="rect">
            <a:avLst/>
          </a:prstGeom>
          <a:solidFill>
            <a:srgbClr val="F5F8FE"/>
          </a:solidFill>
          <a:ln w="12700">
            <a:solidFill>
              <a:srgbClr val="D0E2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75520" y="3584448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A7A40"/>
                </a:solidFill>
              </a:rPr>
              <a:t>2×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75520" y="3950208"/>
            <a:ext cx="1737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</a:rPr>
              <a:t>Faster via Unsloth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7920" y="4315968"/>
            <a:ext cx="41148" cy="34747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59068" y="4315968"/>
            <a:ext cx="5445252" cy="347472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27648" y="4389120"/>
            <a:ext cx="52852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A1A1A"/>
                </a:solidFill>
              </a:rPr>
              <a:t>Google Health AI Developer Foundations terms required — restricts commercial use.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A5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916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A56A8"/>
                </a:solidFill>
              </a:rPr>
              <a:t>Task 1 — NER: Implementation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67512"/>
            <a:ext cx="11091672" cy="22860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F5F8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56248"/>
            <a:ext cx="12188952" cy="9144"/>
          </a:xfrm>
          <a:prstGeom prst="rect">
            <a:avLst/>
          </a:prstGeom>
          <a:solidFill>
            <a:srgbClr val="D0E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8368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CSCI E-222 · NLP for Healthcare · A. Mykhailovskyi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1672" y="6583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5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1114882" y="960120"/>
            <a:ext cx="563727" cy="274320"/>
          </a:xfrm>
          <a:prstGeom prst="rect">
            <a:avLst/>
          </a:prstGeom>
          <a:solidFill>
            <a:srgbClr val="1A56A8"/>
          </a:solidFill>
          <a:ln>
            <a:solidFill>
              <a:srgbClr val="1A5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4882" y="960120"/>
            <a:ext cx="56372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298448"/>
            <a:ext cx="18790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</a:rPr>
              <a:t>Load
MedMentions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78609" y="1069848"/>
            <a:ext cx="657682" cy="45720"/>
          </a:xfrm>
          <a:prstGeom prst="rect">
            <a:avLst/>
          </a:prstGeom>
          <a:solidFill>
            <a:srgbClr val="D0E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93974" y="960120"/>
            <a:ext cx="563727" cy="274320"/>
          </a:xfrm>
          <a:prstGeom prst="rect">
            <a:avLst/>
          </a:prstGeom>
          <a:solidFill>
            <a:srgbClr val="1A56A8"/>
          </a:solidFill>
          <a:ln>
            <a:solidFill>
              <a:srgbClr val="1A5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93974" y="960120"/>
            <a:ext cx="56372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36292" y="1298448"/>
            <a:ext cx="18790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</a:rPr>
              <a:t>Tokenize +
align labels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57701" y="1069848"/>
            <a:ext cx="657682" cy="45720"/>
          </a:xfrm>
          <a:prstGeom prst="rect">
            <a:avLst/>
          </a:prstGeom>
          <a:solidFill>
            <a:srgbClr val="D0E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73066" y="960120"/>
            <a:ext cx="563727" cy="274320"/>
          </a:xfrm>
          <a:prstGeom prst="rect">
            <a:avLst/>
          </a:prstGeom>
          <a:solidFill>
            <a:srgbClr val="1A56A8"/>
          </a:solidFill>
          <a:ln>
            <a:solidFill>
              <a:srgbClr val="1A5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73066" y="960120"/>
            <a:ext cx="56372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15384" y="1298448"/>
            <a:ext cx="18790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</a:rPr>
              <a:t>Compute
class weights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36793" y="1069848"/>
            <a:ext cx="657682" cy="45720"/>
          </a:xfrm>
          <a:prstGeom prst="rect">
            <a:avLst/>
          </a:prstGeom>
          <a:solidFill>
            <a:srgbClr val="D0E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752158" y="960120"/>
            <a:ext cx="563727" cy="274320"/>
          </a:xfrm>
          <a:prstGeom prst="rect">
            <a:avLst/>
          </a:prstGeom>
          <a:solidFill>
            <a:srgbClr val="1A56A8"/>
          </a:solidFill>
          <a:ln>
            <a:solidFill>
              <a:srgbClr val="1A5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52158" y="960120"/>
            <a:ext cx="56372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4476" y="1298448"/>
            <a:ext cx="18790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</a:rPr>
              <a:t>WeightedTrainer
fine-tune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885" y="1069848"/>
            <a:ext cx="657682" cy="45720"/>
          </a:xfrm>
          <a:prstGeom prst="rect">
            <a:avLst/>
          </a:prstGeom>
          <a:solidFill>
            <a:srgbClr val="D0E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631250" y="960120"/>
            <a:ext cx="563727" cy="274320"/>
          </a:xfrm>
          <a:prstGeom prst="rect">
            <a:avLst/>
          </a:prstGeom>
          <a:solidFill>
            <a:srgbClr val="1A56A8"/>
          </a:solidFill>
          <a:ln>
            <a:solidFill>
              <a:srgbClr val="1A5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31250" y="960120"/>
            <a:ext cx="56372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73568" y="1298448"/>
            <a:ext cx="18790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</a:rPr>
              <a:t>seqeval F1
evaluation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94977" y="1069848"/>
            <a:ext cx="657682" cy="45720"/>
          </a:xfrm>
          <a:prstGeom prst="rect">
            <a:avLst/>
          </a:prstGeom>
          <a:solidFill>
            <a:srgbClr val="D0E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510342" y="960120"/>
            <a:ext cx="563727" cy="274320"/>
          </a:xfrm>
          <a:prstGeom prst="rect">
            <a:avLst/>
          </a:prstGeom>
          <a:solidFill>
            <a:srgbClr val="1A56A8"/>
          </a:solidFill>
          <a:ln>
            <a:solidFill>
              <a:srgbClr val="1A56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10342" y="960120"/>
            <a:ext cx="56372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52660" y="1298448"/>
            <a:ext cx="18790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A1A1A"/>
                </a:solidFill>
              </a:rPr>
              <a:t>Push to
HF Hub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1874519"/>
            <a:ext cx="4572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A56A8"/>
                </a:solidFill>
              </a:rPr>
              <a:t>Key Engineering Decisions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2176272"/>
            <a:ext cx="53035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Subword tokens → -100 label (ignored in cross-entropy loss)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Exponential class weights: exp(−nC/N)×100, O-class fixed at 0.5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Custom WeightedTrainer injects per-class loss weights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Cosine LR schedule with 10% warmup, LR = 6e-5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Early stopping (patience = 2 on macro F1)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Checkpoints: alexd063/bio-clinicalbert-finetuned-medmentions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0" y="1874519"/>
            <a:ext cx="4572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A56A8"/>
                </a:solidFill>
              </a:rPr>
              <a:t>Three Experiments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6217920" y="2176272"/>
          <a:ext cx="5486400" cy="1078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286000"/>
                <a:gridCol w="1554480"/>
              </a:tblGrid>
              <a:tr h="2697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Notebook</a:t>
                      </a:r>
                    </a:p>
                  </a:txBody>
                  <a:tcPr>
                    <a:solidFill>
                      <a:srgbClr val="1A56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What changed</a:t>
                      </a:r>
                    </a:p>
                  </a:txBody>
                  <a:tcPr>
                    <a:solidFill>
                      <a:srgbClr val="1A56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1A56A8"/>
                    </a:solidFill>
                  </a:tcPr>
                </a:tc>
              </a:tr>
              <a:tr h="26974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01-baseline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Standard fine-tuning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✓ Complete</a:t>
                      </a:r>
                    </a:p>
                  </a:txBody>
                  <a:tcPr/>
                </a:tc>
              </a:tr>
              <a:tr h="26974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02-weighted</a:t>
                      </a:r>
                    </a:p>
                  </a:txBody>
                  <a:tcPr>
                    <a:solidFill>
                      <a:srgbClr val="F5F8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+ Class weights, cosine LR</a:t>
                      </a:r>
                    </a:p>
                  </a:txBody>
                  <a:tcPr>
                    <a:solidFill>
                      <a:srgbClr val="F5F8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✓ Complete</a:t>
                      </a:r>
                    </a:p>
                  </a:txBody>
                  <a:tcPr>
                    <a:solidFill>
                      <a:srgbClr val="F5F8FE"/>
                    </a:solidFill>
                  </a:tcPr>
                </a:tc>
              </a:tr>
              <a:tr h="26974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wip-crf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+ CRF layer (seq. modelling)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✗ Init error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36" name="Rectangle 35"/>
          <p:cNvSpPr/>
          <p:nvPr/>
        </p:nvSpPr>
        <p:spPr>
          <a:xfrm>
            <a:off x="6217920" y="3337560"/>
            <a:ext cx="41148" cy="59436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259068" y="3337560"/>
            <a:ext cx="5445252" cy="59436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27648" y="3410712"/>
            <a:ext cx="5285232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A1A1A"/>
                </a:solidFill>
              </a:rPr>
              <a:t>CRF notebook fails: _tied_weights_keys = [] should be {} causing AttributeError in HuggingFace post_init(). Fix is a one-line change.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4297680"/>
            <a:ext cx="41148" cy="530352"/>
          </a:xfrm>
          <a:prstGeom prst="rect">
            <a:avLst/>
          </a:prstGeom>
          <a:solidFill>
            <a:srgbClr val="1A7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98348" y="4297680"/>
            <a:ext cx="11205972" cy="530352"/>
          </a:xfrm>
          <a:prstGeom prst="rect">
            <a:avLst/>
          </a:prstGeom>
          <a:solidFill>
            <a:srgbClr val="E6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6928" y="4370832"/>
            <a:ext cx="1104595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1A1A1A"/>
                </a:solidFill>
              </a:rPr>
              <a:t>✓  Class weighting was the single most impactful engineering decision — without it the model collapses to predicting 'O' for all tokens.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A5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916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A56A8"/>
                </a:solidFill>
              </a:rPr>
              <a:t>Task 1 — NER: MedGemma-4B with QLoRA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67512"/>
            <a:ext cx="11091672" cy="22860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F5F8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56248"/>
            <a:ext cx="12188952" cy="9144"/>
          </a:xfrm>
          <a:prstGeom prst="rect">
            <a:avLst/>
          </a:prstGeom>
          <a:solidFill>
            <a:srgbClr val="D0E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8368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CSCI E-222 · NLP for Healthcare · A. Mykhailovskyi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1672" y="6583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6 / 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868680"/>
            <a:ext cx="4572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A56A8"/>
                </a:solidFill>
              </a:rPr>
              <a:t>Generative NER Approach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143000"/>
            <a:ext cx="41148" cy="841248"/>
          </a:xfrm>
          <a:prstGeom prst="rect">
            <a:avLst/>
          </a:prstGeom>
          <a:solidFill>
            <a:srgbClr val="1A5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8348" y="1143000"/>
            <a:ext cx="5445252" cy="841248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216152"/>
            <a:ext cx="52852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1A1A1A"/>
                </a:solidFill>
              </a:rPr>
              <a:t>Unlike token classification, MedGemma generates a free-text sequence:
"aspirin: B-T103, prescribed: O, daily: O, …"
Each token is explicitly labelled in the output text.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103120"/>
            <a:ext cx="4572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A56A8"/>
                </a:solidFill>
              </a:rPr>
              <a:t>Training Configuration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404872"/>
            <a:ext cx="5303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QLoRA: 4-bit NF4, rank 16, alpha 16, no dropout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Unsloth for 2× training speed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SFTTrainer, max 300 steps (≈ 20% of 1 epoch)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LR = 2e-4, batch = 4, grad accum = 4 (eff. batch 16)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Evaluation: qualitative inspection of 3 validation samples only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Checkpoint: alexd063/bio-gemma4bit-finetuned-medmentions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315968"/>
            <a:ext cx="41148" cy="62179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8348" y="4315968"/>
            <a:ext cx="5445252" cy="621792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4389120"/>
            <a:ext cx="5285232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A1A1A"/>
                </a:solidFill>
              </a:rPr>
              <a:t>⚠  Only 300 of ~1,462 steps trained (severe underfitting).
No quantitative F1 — evaluation is visual only.
Parsing 'token: tag' format from free text is fragile.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868680"/>
            <a:ext cx="4572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A56A8"/>
                </a:solidFill>
              </a:rPr>
              <a:t>Prompt Format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1143000"/>
            <a:ext cx="5486400" cy="2286000"/>
          </a:xfrm>
          <a:prstGeom prst="rect">
            <a:avLst/>
          </a:prstGeom>
          <a:solidFill>
            <a:srgbClr val="F5F8FF"/>
          </a:solidFill>
          <a:ln w="12700">
            <a:solidFill>
              <a:srgbClr val="D0E2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1234440"/>
            <a:ext cx="51206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</a:rPr>
              <a:t>### Instruction:
Extract medical entities and label
each token with its NER tag.
### Input:
Patient presents with acute appendicitis
and elevated CRP levels.
### Response:
Patient: O, presents: O, with: O,
acute: B-T047, appendicitis: I-T047,
and: O, elevated: O, CRP: B-T059, 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3547872"/>
            <a:ext cx="4572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A56A8"/>
                </a:solidFill>
              </a:rPr>
              <a:t>Key Limitation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0" y="3822191"/>
            <a:ext cx="41148" cy="6858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59068" y="3822191"/>
            <a:ext cx="5445252" cy="685800"/>
          </a:xfrm>
          <a:prstGeom prst="rect">
            <a:avLst/>
          </a:prstGeom>
          <a:solidFill>
            <a:srgbClr val="FDEC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27648" y="3895343"/>
            <a:ext cx="5285232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A1A1A"/>
                </a:solidFill>
              </a:rPr>
              <a:t>Generative NER is promising for arbitrary schema but requires structured output enforcement (constrained decoding or JSON mode) to be reliable at scale.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A5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916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A56A8"/>
                </a:solidFill>
              </a:rPr>
              <a:t>Task 2 — QA: Implementation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67512"/>
            <a:ext cx="11091672" cy="22860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F5F8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56248"/>
            <a:ext cx="12188952" cy="9144"/>
          </a:xfrm>
          <a:prstGeom prst="rect">
            <a:avLst/>
          </a:prstGeom>
          <a:solidFill>
            <a:srgbClr val="D0E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8368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CSCI E-222 · NLP for Healthcare · A. Mykhailovskyi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1672" y="6583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7 / 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868680"/>
            <a:ext cx="4572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A56A8"/>
                </a:solidFill>
              </a:rPr>
              <a:t>BioClinicalBERT Multiple-Choice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143000"/>
            <a:ext cx="41148" cy="347472"/>
          </a:xfrm>
          <a:prstGeom prst="rect">
            <a:avLst/>
          </a:prstGeom>
          <a:solidFill>
            <a:srgbClr val="1A5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8348" y="1143000"/>
            <a:ext cx="5262372" cy="347472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216152"/>
            <a:ext cx="51023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A1A1A"/>
                </a:solidFill>
              </a:rPr>
              <a:t>(Q + Option A) → BERT → logit  ×4 → softmax → argmax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572768"/>
            <a:ext cx="53035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Custom DataCollatorForMultipleChoice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3 metrics: Accuracy, Macro F1, ECE (calibration)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LR = 4e-5, cosine schedule, 10 epochs max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Truncation side = left (preserves answer text)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Early stopping patience = 2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90/10 train/val split with seed=42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Checkpoint: alexd063/bio-clinicalbert-finetuned-medqa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858768"/>
            <a:ext cx="41148" cy="594360"/>
          </a:xfrm>
          <a:prstGeom prst="rect">
            <a:avLst/>
          </a:prstGeom>
          <a:solidFill>
            <a:srgbClr val="1A7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8348" y="3858768"/>
            <a:ext cx="5262372" cy="594360"/>
          </a:xfrm>
          <a:prstGeom prst="rect">
            <a:avLst/>
          </a:prstGeom>
          <a:solidFill>
            <a:srgbClr val="E6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931920"/>
            <a:ext cx="5102352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A1A1A"/>
                </a:solidFill>
              </a:rPr>
              <a:t>ECE (Expected Calibration Error) is an excellent addition — measures whether model confidence matches actual accuracy, beyond just raw metrics.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868680"/>
            <a:ext cx="4572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A56A8"/>
                </a:solidFill>
              </a:rPr>
              <a:t>MedGemma Generative QA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1143000"/>
            <a:ext cx="41148" cy="548640"/>
          </a:xfrm>
          <a:prstGeom prst="rect">
            <a:avLst/>
          </a:prstGeom>
          <a:solidFill>
            <a:srgbClr val="1A5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59068" y="1143000"/>
            <a:ext cx="5445252" cy="548640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27648" y="1216152"/>
            <a:ext cx="528523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A1A1A"/>
                </a:solidFill>
              </a:rPr>
              <a:t>Model sees full question + all 4 options and outputs a single letter.
Instruction format: explicit EOS token appended to answer.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1783080"/>
            <a:ext cx="54864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Custom MedicalQAEvaluationCallback — accuracy mid-training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Temperature = 0.1 at inference (near-deterministic)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2 epochs, LR = 2e-4, LoRA rank 16 on all attention matrices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Packing enabled for throughput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10 warmup steps (0.87% of total — too low)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Checkpoint: alexd063/bio-gemma4bit-finetuned-medqa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0" y="3794760"/>
            <a:ext cx="41148" cy="59436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59068" y="3794760"/>
            <a:ext cx="5445252" cy="59436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27648" y="3867912"/>
            <a:ext cx="5285232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A1A1A"/>
                </a:solidFill>
              </a:rPr>
              <a:t>⚠  Only 2 epochs trained. Warmup = 10 steps is far too low for stable fine-tuning. No error analysis on incorrect predictions.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A5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916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A56A8"/>
                </a:solidFill>
              </a:rPr>
              <a:t>Results — Task 1: Named Entity Recognition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67512"/>
            <a:ext cx="11091672" cy="22860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F5F8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56248"/>
            <a:ext cx="12188952" cy="9144"/>
          </a:xfrm>
          <a:prstGeom prst="rect">
            <a:avLst/>
          </a:prstGeom>
          <a:solidFill>
            <a:srgbClr val="D0E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8368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CSCI E-222 · NLP for Healthcare · A. Mykhailovskyi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1672" y="6583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8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868680"/>
            <a:ext cx="2651760" cy="822960"/>
          </a:xfrm>
          <a:prstGeom prst="rect">
            <a:avLst/>
          </a:prstGeom>
          <a:solidFill>
            <a:srgbClr val="F5F8FE"/>
          </a:solidFill>
          <a:ln w="12700">
            <a:solidFill>
              <a:srgbClr val="D0E2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960120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A7A40"/>
                </a:solidFill>
              </a:rPr>
              <a:t>0.65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325880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</a:rPr>
              <a:t>BioClinicalBERT
Macro F1 (full test)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46120" y="868680"/>
            <a:ext cx="2651760" cy="822960"/>
          </a:xfrm>
          <a:prstGeom prst="rect">
            <a:avLst/>
          </a:prstGeom>
          <a:solidFill>
            <a:srgbClr val="F5F8FE"/>
          </a:solidFill>
          <a:ln w="12700">
            <a:solidFill>
              <a:srgbClr val="D0E2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46120" y="960120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E67E22"/>
                </a:solidFill>
              </a:rPr>
              <a:t>0.27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1325880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</a:rPr>
              <a:t>MedGemma
F1 (10% subset)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868680"/>
            <a:ext cx="2651760" cy="822960"/>
          </a:xfrm>
          <a:prstGeom prst="rect">
            <a:avLst/>
          </a:prstGeom>
          <a:solidFill>
            <a:srgbClr val="F5F8FE"/>
          </a:solidFill>
          <a:ln w="12700">
            <a:solidFill>
              <a:srgbClr val="D0E2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40" y="960120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A56A8"/>
                </a:solidFill>
              </a:rPr>
              <a:t>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1325880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</a:rPr>
              <a:t>Entity classes
(UMLS types)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23960" y="868680"/>
            <a:ext cx="2651760" cy="822960"/>
          </a:xfrm>
          <a:prstGeom prst="rect">
            <a:avLst/>
          </a:prstGeom>
          <a:solidFill>
            <a:srgbClr val="F5F8FE"/>
          </a:solidFill>
          <a:ln w="12700">
            <a:solidFill>
              <a:srgbClr val="D0E2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23960" y="960120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A56A8"/>
                </a:solidFill>
              </a:rPr>
              <a:t>76%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23960" y="1325880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</a:rPr>
              <a:t>"O" tokens
(class imbalance)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1874519"/>
            <a:ext cx="4572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A56A8"/>
                </a:solidFill>
              </a:rPr>
              <a:t>BioClinicalBERT — Entity Performance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457200" y="2176272"/>
          <a:ext cx="530352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640080"/>
                <a:gridCol w="2103120"/>
                <a:gridCol w="731520"/>
              </a:tblGrid>
              <a:tr h="2743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Top performers</a:t>
                      </a:r>
                    </a:p>
                  </a:txBody>
                  <a:tcPr>
                    <a:solidFill>
                      <a:srgbClr val="1A56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F1</a:t>
                      </a:r>
                    </a:p>
                  </a:txBody>
                  <a:tcPr>
                    <a:solidFill>
                      <a:srgbClr val="1A56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Bottom performers</a:t>
                      </a:r>
                    </a:p>
                  </a:txBody>
                  <a:tcPr>
                    <a:solidFill>
                      <a:srgbClr val="1A56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F1</a:t>
                      </a:r>
                    </a:p>
                  </a:txBody>
                  <a:tcPr>
                    <a:solidFill>
                      <a:srgbClr val="1A56A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T204 (Receptor)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T059 (Lab Procedure)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~0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T103 (Chemical)</a:t>
                      </a:r>
                    </a:p>
                  </a:txBody>
                  <a:tcPr>
                    <a:solidFill>
                      <a:srgbClr val="F5F8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F5F8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T024 (Cell Component)</a:t>
                      </a:r>
                    </a:p>
                  </a:txBody>
                  <a:tcPr>
                    <a:solidFill>
                      <a:srgbClr val="F5F8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~0</a:t>
                      </a:r>
                    </a:p>
                  </a:txBody>
                  <a:tcPr>
                    <a:solidFill>
                      <a:srgbClr val="F5F8F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T017 (Anatomy)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T081 (Quantitative Concept)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~0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23" name="Rectangle 22"/>
          <p:cNvSpPr/>
          <p:nvPr/>
        </p:nvSpPr>
        <p:spPr>
          <a:xfrm>
            <a:off x="457200" y="3401568"/>
            <a:ext cx="41148" cy="594360"/>
          </a:xfrm>
          <a:prstGeom prst="rect">
            <a:avLst/>
          </a:prstGeom>
          <a:solidFill>
            <a:srgbClr val="1A5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98348" y="3401568"/>
            <a:ext cx="5262372" cy="594360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3474720"/>
            <a:ext cx="5102352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A1A1A"/>
                </a:solidFill>
              </a:rPr>
              <a:t>Class weighting helps frequent entities but very rare classes (&lt; 5 training examples) remain near zero — a fundamental data sparsity problem.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087368"/>
            <a:ext cx="41148" cy="594360"/>
          </a:xfrm>
          <a:prstGeom prst="rect">
            <a:avLst/>
          </a:prstGeom>
          <a:solidFill>
            <a:srgbClr val="1A7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98348" y="4087368"/>
            <a:ext cx="5262372" cy="594360"/>
          </a:xfrm>
          <a:prstGeom prst="rect">
            <a:avLst/>
          </a:prstGeom>
          <a:solidFill>
            <a:srgbClr val="E6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4160520"/>
            <a:ext cx="5102352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A1A1A"/>
                </a:solidFill>
              </a:rPr>
              <a:t>✓  Key finding: Encoder architecture is clearly better at token-level classification. Generative NER is promising but needs output enforcement.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7920" y="1874519"/>
            <a:ext cx="4572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A56A8"/>
                </a:solidFill>
              </a:rPr>
              <a:t>Evaluation Caveat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17920" y="2176272"/>
            <a:ext cx="41148" cy="10058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59068" y="2176272"/>
            <a:ext cx="5445252" cy="100584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27648" y="2249424"/>
            <a:ext cx="5285232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A1A1A"/>
                </a:solidFill>
              </a:rPr>
              <a:t>Asymmetric evaluation: BioClinicalBERT was evaluated on the full test split (2,926 samples); MedGemma only on a 10% qualitative subset due to slow autoregressive inference.
Direct F1 comparison is not statistically clean.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3291840"/>
            <a:ext cx="4572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A56A8"/>
                </a:solidFill>
              </a:rPr>
              <a:t>Root Cause of Low Overall Scores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17920" y="3593592"/>
            <a:ext cx="41148" cy="80467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59068" y="3593592"/>
            <a:ext cx="5445252" cy="804672"/>
          </a:xfrm>
          <a:prstGeom prst="rect">
            <a:avLst/>
          </a:prstGeom>
          <a:solidFill>
            <a:srgbClr val="FDEC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27648" y="3666744"/>
            <a:ext cx="5285232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A1A1A"/>
                </a:solidFill>
              </a:rPr>
              <a:t>MedMentions uses a zero-shot label protocol — some test entity types are entirely absent from training data. This structurally limits the ceiling for any fine-tuned model regardless of architecture.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A5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916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A56A8"/>
                </a:solidFill>
              </a:rPr>
              <a:t>Results — Task 2: Medical Question Answering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67512"/>
            <a:ext cx="11091672" cy="22860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F5F8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56248"/>
            <a:ext cx="12188952" cy="9144"/>
          </a:xfrm>
          <a:prstGeom prst="rect">
            <a:avLst/>
          </a:prstGeom>
          <a:solidFill>
            <a:srgbClr val="D0E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8368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CSCI E-222 · NLP for Healthcare · A. Mykhailovskyi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1672" y="6583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9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868680"/>
            <a:ext cx="2651760" cy="822960"/>
          </a:xfrm>
          <a:prstGeom prst="rect">
            <a:avLst/>
          </a:prstGeom>
          <a:solidFill>
            <a:srgbClr val="F5F8FE"/>
          </a:solidFill>
          <a:ln w="12700">
            <a:solidFill>
              <a:srgbClr val="D0E2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960120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666666"/>
                </a:solidFill>
              </a:rPr>
              <a:t>25%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325880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</a:rPr>
              <a:t>Random baseline
(4-choice)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46120" y="868680"/>
            <a:ext cx="2651760" cy="822960"/>
          </a:xfrm>
          <a:prstGeom prst="rect">
            <a:avLst/>
          </a:prstGeom>
          <a:solidFill>
            <a:srgbClr val="F5F8FE"/>
          </a:solidFill>
          <a:ln w="12700">
            <a:solidFill>
              <a:srgbClr val="D0E2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46120" y="960120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C0392B"/>
                </a:solidFill>
              </a:rPr>
              <a:t>~26%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1325880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</a:rPr>
              <a:t>BioClinicalBERT
Test Accuracy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868680"/>
            <a:ext cx="2651760" cy="822960"/>
          </a:xfrm>
          <a:prstGeom prst="rect">
            <a:avLst/>
          </a:prstGeom>
          <a:solidFill>
            <a:srgbClr val="F5F8FE"/>
          </a:solidFill>
          <a:ln w="12700">
            <a:solidFill>
              <a:srgbClr val="D0E2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40" y="960120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E67E22"/>
                </a:solidFill>
              </a:rPr>
              <a:t>55.7%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1325880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</a:rPr>
              <a:t>MedGemma-4B
Test Accuracy (fine-tuned)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23960" y="868680"/>
            <a:ext cx="2651760" cy="822960"/>
          </a:xfrm>
          <a:prstGeom prst="rect">
            <a:avLst/>
          </a:prstGeom>
          <a:solidFill>
            <a:srgbClr val="F5F8FE"/>
          </a:solidFill>
          <a:ln w="12700">
            <a:solidFill>
              <a:srgbClr val="D0E2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23960" y="960120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A7A40"/>
                </a:solidFill>
              </a:rPr>
              <a:t>64.4%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23960" y="1325880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</a:rPr>
              <a:t>MedGemma-4B
Official benchmark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1874519"/>
            <a:ext cx="4572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A56A8"/>
                </a:solidFill>
              </a:rPr>
              <a:t>Why BioClinicalBERT Underperforms on QA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176272"/>
            <a:ext cx="5303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Max sequence length 128 tokens — USMLE questions often exceed this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Truncation discards part of the question context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Bidirectional encoder not designed for multi-step reasoning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Result: 26% accuracy ≈ 25% random baseline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639312"/>
            <a:ext cx="41148" cy="59436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98348" y="3639312"/>
            <a:ext cx="5262372" cy="594360"/>
          </a:xfrm>
          <a:prstGeom prst="rect">
            <a:avLst/>
          </a:prstGeom>
          <a:solidFill>
            <a:srgbClr val="FDEC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3712464"/>
            <a:ext cx="5102352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A1A1A"/>
                </a:solidFill>
              </a:rPr>
              <a:t>BioClinicalBERT is architecturally ill-suited for QA. The result confirms that task–architecture mismatch is the dominant factor — not dataset difficulty.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1874519"/>
            <a:ext cx="4572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A56A8"/>
                </a:solidFill>
              </a:rPr>
              <a:t>MedGemma-4B Fine-tuning Analysis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2176272"/>
            <a:ext cx="54864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55.7% test accuracy — 2× random baseline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Official pre-trained benchmark: 64.4% on MedQA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Fine-tuning DEGRADED performance vs. pre-trained baseline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Possible causes: only 2 epochs, LR too high (2e-4), 10 warmup steps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Catastrophic forgetting: fine-tuning may damage medical priors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7920" y="3776472"/>
            <a:ext cx="41148" cy="71323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59068" y="3776472"/>
            <a:ext cx="5445252" cy="713232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27648" y="3849624"/>
            <a:ext cx="5285232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A1A1A"/>
                </a:solidFill>
              </a:rPr>
              <a:t>Lesson: a strong pre-trained medical model already 'knows medicine'. Aggressive fine-tuning on a small dataset can hurt more than it helps. Conservative instruction tuning (low LR, more warmup) would be safer.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A5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916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A56A8"/>
                </a:solidFill>
              </a:rPr>
              <a:t>Comparative Analysis: Encoder vs. Decoder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67512"/>
            <a:ext cx="11091672" cy="22860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F5F8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56248"/>
            <a:ext cx="12188952" cy="9144"/>
          </a:xfrm>
          <a:prstGeom prst="rect">
            <a:avLst/>
          </a:prstGeom>
          <a:solidFill>
            <a:srgbClr val="D0E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8368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CSCI E-222 · NLP for Healthcare · A. Mykhailovskyi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1672" y="6583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10 / 16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868680"/>
          <a:ext cx="107899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389120"/>
                <a:gridCol w="438912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Dimension</a:t>
                      </a:r>
                    </a:p>
                  </a:txBody>
                  <a:tcPr>
                    <a:solidFill>
                      <a:srgbClr val="1A56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Bio_ClinicalBERT (Encoder)</a:t>
                      </a:r>
                    </a:p>
                  </a:txBody>
                  <a:tcPr>
                    <a:solidFill>
                      <a:srgbClr val="1A56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MedGemma-4B (Decoder)</a:t>
                      </a:r>
                    </a:p>
                  </a:txBody>
                  <a:tcPr>
                    <a:solidFill>
                      <a:srgbClr val="1A56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NER Macro 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0.65 (full test, token classifier)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0.27 (subset, generative)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QA Accuracy</a:t>
                      </a:r>
                    </a:p>
                  </a:txBody>
                  <a:tcPr>
                    <a:solidFill>
                      <a:srgbClr val="F5F8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~26%  (≈ random)</a:t>
                      </a:r>
                    </a:p>
                  </a:txBody>
                  <a:tcPr>
                    <a:solidFill>
                      <a:srgbClr val="F5F8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55.7%</a:t>
                      </a:r>
                    </a:p>
                  </a:txBody>
                  <a:tcPr>
                    <a:solidFill>
                      <a:srgbClr val="F5F8F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GPU time / task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~20–40 min (110 M params)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~1.5–2.5 h (4B, QLoRA)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Trainable params</a:t>
                      </a:r>
                    </a:p>
                  </a:txBody>
                  <a:tcPr>
                    <a:solidFill>
                      <a:srgbClr val="F5F8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110 M (full fine-tune)</a:t>
                      </a:r>
                    </a:p>
                  </a:txBody>
                  <a:tcPr>
                    <a:solidFill>
                      <a:srgbClr val="F5F8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33 M (0.76% via LoRA)</a:t>
                      </a:r>
                    </a:p>
                  </a:txBody>
                  <a:tcPr>
                    <a:solidFill>
                      <a:srgbClr val="F5F8F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Inference speed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Fast (single forward pass)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Slow (autoregressive)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Best suited for</a:t>
                      </a:r>
                    </a:p>
                  </a:txBody>
                  <a:tcPr>
                    <a:solidFill>
                      <a:srgbClr val="F5F8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Classification, token labeling, NER</a:t>
                      </a:r>
                    </a:p>
                  </a:txBody>
                  <a:tcPr>
                    <a:solidFill>
                      <a:srgbClr val="F5F8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Reasoning, generation, QA</a:t>
                      </a:r>
                    </a:p>
                  </a:txBody>
                  <a:tcPr>
                    <a:solidFill>
                      <a:srgbClr val="F5F8FE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3584448"/>
            <a:ext cx="41148" cy="804672"/>
          </a:xfrm>
          <a:prstGeom prst="rect">
            <a:avLst/>
          </a:prstGeom>
          <a:solidFill>
            <a:srgbClr val="1A7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8348" y="3584448"/>
            <a:ext cx="11233404" cy="804672"/>
          </a:xfrm>
          <a:prstGeom prst="rect">
            <a:avLst/>
          </a:prstGeom>
          <a:solidFill>
            <a:srgbClr val="E6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3657600"/>
            <a:ext cx="11073384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A1A1A"/>
                </a:solidFill>
              </a:rPr>
              <a:t>✓  Key takeaway: Use the right architecture for the task.
Encoders excel at structured extraction (NER). Decoders excel at open-ended reasoning (QA).
Neither model is universally better — task–architecture alignment is the dominant factor.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480560"/>
            <a:ext cx="41148" cy="62179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8348" y="4480560"/>
            <a:ext cx="11233404" cy="621792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553712"/>
            <a:ext cx="1107338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A1A1A"/>
                </a:solidFill>
              </a:rPr>
              <a:t>Note: The NER comparison is not a clean head-to-head — BERT used the full 2,926-sample test split while MedGemma used only a 10% qualitative subset. A fair comparison would evaluate both on the same subset.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A5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916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A56A8"/>
                </a:solidFill>
              </a:rPr>
              <a:t>Implementation Effort &amp; Compute Estimates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67512"/>
            <a:ext cx="11091672" cy="22860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F5F8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56248"/>
            <a:ext cx="12188952" cy="9144"/>
          </a:xfrm>
          <a:prstGeom prst="rect">
            <a:avLst/>
          </a:prstGeom>
          <a:solidFill>
            <a:srgbClr val="D0E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8368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CSCI E-222 · NLP for Healthcare · A. Mykhailovskyi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1672" y="6583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11 / 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868680"/>
            <a:ext cx="4572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A56A8"/>
                </a:solidFill>
              </a:rPr>
              <a:t>Development Time (estimated per component)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170432"/>
          <a:ext cx="530352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1828800"/>
              </a:tblGrid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Component</a:t>
                      </a:r>
                    </a:p>
                  </a:txBody>
                  <a:tcPr>
                    <a:solidFill>
                      <a:srgbClr val="1A56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Hours</a:t>
                      </a:r>
                    </a:p>
                  </a:txBody>
                  <a:tcPr>
                    <a:solidFill>
                      <a:srgbClr val="1A56A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EDA &amp; data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1.5 – 2 h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BERT NER baseline</a:t>
                      </a:r>
                    </a:p>
                  </a:txBody>
                  <a:tcPr>
                    <a:solidFill>
                      <a:srgbClr val="F5F8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4 – 5 h</a:t>
                      </a:r>
                    </a:p>
                  </a:txBody>
                  <a:tcPr>
                    <a:solidFill>
                      <a:srgbClr val="F5F8F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BERT NER with class weights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5 – 6 h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MedGemma NER (QLoRA)</a:t>
                      </a:r>
                    </a:p>
                  </a:txBody>
                  <a:tcPr>
                    <a:solidFill>
                      <a:srgbClr val="F5F8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6 – 8 h</a:t>
                      </a:r>
                    </a:p>
                  </a:txBody>
                  <a:tcPr>
                    <a:solidFill>
                      <a:srgbClr val="F5F8F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BERT QA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2.5 – 3.5 h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MedGemma QA (QLoRA)</a:t>
                      </a:r>
                    </a:p>
                  </a:txBody>
                  <a:tcPr>
                    <a:solidFill>
                      <a:srgbClr val="F5F8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3 – 4 h</a:t>
                      </a:r>
                    </a:p>
                  </a:txBody>
                  <a:tcPr>
                    <a:solidFill>
                      <a:srgbClr val="F5F8F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Comparative analysis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3 – 4 h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Report &amp; documentation</a:t>
                      </a:r>
                    </a:p>
                  </a:txBody>
                  <a:tcPr>
                    <a:solidFill>
                      <a:srgbClr val="F5F8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~10 h</a:t>
                      </a:r>
                    </a:p>
                  </a:txBody>
                  <a:tcPr>
                    <a:solidFill>
                      <a:srgbClr val="F5F8F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Total (estimate)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~36 – 44 h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217920" y="868680"/>
            <a:ext cx="4572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A56A8"/>
                </a:solidFill>
              </a:rPr>
              <a:t>GPU Execution Time (Google Colab A100)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217920" y="1170432"/>
          <a:ext cx="548640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2011680"/>
              </a:tblGrid>
              <a:tr h="314325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Notebook</a:t>
                      </a:r>
                    </a:p>
                  </a:txBody>
                  <a:tcPr>
                    <a:solidFill>
                      <a:srgbClr val="1A56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Actual / Estimated</a:t>
                      </a:r>
                    </a:p>
                  </a:txBody>
                  <a:tcPr>
                    <a:solidFill>
                      <a:srgbClr val="1A56A8"/>
                    </a:solidFill>
                  </a:tcPr>
                </a:tc>
              </a:tr>
              <a:tr h="31432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BERT NER baseline (early stop ~6 ep)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~1 – 2 h</a:t>
                      </a:r>
                    </a:p>
                  </a:txBody>
                  <a:tcPr/>
                </a:tc>
              </a:tr>
              <a:tr h="31432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BERT NER weighted (early stop)</a:t>
                      </a:r>
                    </a:p>
                  </a:txBody>
                  <a:tcPr>
                    <a:solidFill>
                      <a:srgbClr val="F5F8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~1 – 2 h</a:t>
                      </a:r>
                    </a:p>
                  </a:txBody>
                  <a:tcPr>
                    <a:solidFill>
                      <a:srgbClr val="F5F8FE"/>
                    </a:solidFill>
                  </a:tcPr>
                </a:tc>
              </a:tr>
              <a:tr h="31432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MedGemma NER (300 steps only)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~3 min ⚠</a:t>
                      </a:r>
                    </a:p>
                  </a:txBody>
                  <a:tcPr/>
                </a:tc>
              </a:tr>
              <a:tr h="31432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BERT QA (early stop ~7 ep)</a:t>
                      </a:r>
                    </a:p>
                  </a:txBody>
                  <a:tcPr>
                    <a:solidFill>
                      <a:srgbClr val="F5F8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~10 – 15 min</a:t>
                      </a:r>
                    </a:p>
                  </a:txBody>
                  <a:tcPr>
                    <a:solidFill>
                      <a:srgbClr val="F5F8FE"/>
                    </a:solidFill>
                  </a:tcPr>
                </a:tc>
              </a:tr>
              <a:tr h="31432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MedGemma QA (2 epochs)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~1.5 – 2.5 h</a:t>
                      </a:r>
                    </a:p>
                  </a:txBody>
                  <a:tcPr/>
                </a:tc>
              </a:tr>
              <a:tr h="31432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Comparative analysis (inference only)</a:t>
                      </a:r>
                    </a:p>
                  </a:txBody>
                  <a:tcPr>
                    <a:solidFill>
                      <a:srgbClr val="F5F8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~20 – 30 min</a:t>
                      </a:r>
                    </a:p>
                  </a:txBody>
                  <a:tcPr>
                    <a:solidFill>
                      <a:srgbClr val="F5F8FE"/>
                    </a:solidFill>
                  </a:tcPr>
                </a:tc>
              </a:tr>
              <a:tr h="31432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Total GPU 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</a:rPr>
                        <a:t>~5 – 8 h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6217920" y="3767328"/>
            <a:ext cx="41148" cy="59436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59068" y="3767328"/>
            <a:ext cx="5445252" cy="59436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7648" y="3840480"/>
            <a:ext cx="5285232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A1A1A"/>
                </a:solidFill>
              </a:rPr>
              <a:t>MedGemma NER trained only 300 of ~1,462 steps per epoch — effectively ran for 3 minutes. Full training would require 6–12 h. Results are not comparable.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A5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916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A56A8"/>
                </a:solidFill>
              </a:rPr>
              <a:t>Discussion: What Worked &amp; What Didn't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67512"/>
            <a:ext cx="11091672" cy="22860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F5F8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56248"/>
            <a:ext cx="12188952" cy="9144"/>
          </a:xfrm>
          <a:prstGeom prst="rect">
            <a:avLst/>
          </a:prstGeom>
          <a:solidFill>
            <a:srgbClr val="D0E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8368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CSCI E-222 · NLP for Healthcare · A. Mykhailovskyi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1672" y="6583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12 / 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868680"/>
            <a:ext cx="4572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A7A40"/>
                </a:solidFill>
              </a:rPr>
              <a:t>What Worked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170432"/>
            <a:ext cx="54864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00">
                <a:solidFill>
                  <a:srgbClr val="1A1A1A"/>
                </a:solidFill>
              </a:rPr>
              <a:t>• ✓  Class weighting significantly improved NER on frequent entities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A1A1A"/>
                </a:solidFill>
              </a:rPr>
              <a:t>• ✓  QLoRA made the 4B model trainable on a single GPU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A1A1A"/>
                </a:solidFill>
              </a:rPr>
              <a:t>• ✓  MedGemma outperformed BERT 2:1 on QA (55.7% vs 26%)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A1A1A"/>
                </a:solidFill>
              </a:rPr>
              <a:t>• ✓  Custom WeightedTrainer was clean, reusable, and well-documented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A1A1A"/>
                </a:solidFill>
              </a:rPr>
              <a:t>• ✓  Cosine LR + early stopping stabilized training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A1A1A"/>
                </a:solidFill>
              </a:rPr>
              <a:t>• ✓  ECE metric added calibration insight beyond raw accuracy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A1A1A"/>
                </a:solidFill>
              </a:rPr>
              <a:t>• ✓  All models published to HuggingFace Hub for full reproducibility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A1A1A"/>
                </a:solidFill>
              </a:rPr>
              <a:t>• ✓  Unsloth gave 2× training speedup at no additional cost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868680"/>
            <a:ext cx="4572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0392B"/>
                </a:solidFill>
              </a:rPr>
              <a:t>What Didn't 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170432"/>
            <a:ext cx="54864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00">
                <a:solidFill>
                  <a:srgbClr val="1A1A1A"/>
                </a:solidFill>
              </a:rPr>
              <a:t>• ✗  CRF layer: fails on 1-line bug in post_init() — never ran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A1A1A"/>
                </a:solidFill>
              </a:rPr>
              <a:t>• ✗  Synthetic data augmentation: 33 samples generated, no impact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A1A1A"/>
                </a:solidFill>
              </a:rPr>
              <a:t>• ✗  BERT QA: near-random accuracy — wrong architecture for reasoning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A1A1A"/>
                </a:solidFill>
              </a:rPr>
              <a:t>• ✗  MedGemma NER: 300 steps only, no quantitative metrics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A1A1A"/>
                </a:solidFill>
              </a:rPr>
              <a:t>• ✗  Fine-tuning MedGemma QA degraded vs pre-trained baseline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A1A1A"/>
                </a:solidFill>
              </a:rPr>
              <a:t>• ✗  Asymmetric NER evaluation — not a clean comparison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A1A1A"/>
                </a:solidFill>
              </a:rPr>
              <a:t>• ✗  No random seeds in most BERT notebooks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1A1A1A"/>
                </a:solidFill>
              </a:rPr>
              <a:t>• ✗  Summarization task originally proposed — never implemented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A5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916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A56A8"/>
                </a:solidFill>
              </a:rPr>
              <a:t>Limitations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67512"/>
            <a:ext cx="11091672" cy="22860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F5F8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56248"/>
            <a:ext cx="12188952" cy="9144"/>
          </a:xfrm>
          <a:prstGeom prst="rect">
            <a:avLst/>
          </a:prstGeom>
          <a:solidFill>
            <a:srgbClr val="D0E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8368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CSCI E-222 · NLP for Healthcare · A. Mykhailovskyi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1672" y="6583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13 / 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868680"/>
            <a:ext cx="4572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A56A8"/>
                </a:solidFill>
              </a:rPr>
              <a:t>Data &amp; Evaluation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170432"/>
            <a:ext cx="53035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MedMentions zero-shot label protocol: test entities unseen during training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MedGemma NER evaluated only qualitatively on 3 samples — no reliable F1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BERT QA truncates to 128 tokens — full context lost for longer questions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MedQA is US-centric (USMLE) — does not reflect global clinical practices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MedMentions-MTI881-NER dataset has no stated license — legal status unclear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273552"/>
            <a:ext cx="41148" cy="54864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8348" y="3273552"/>
            <a:ext cx="5262372" cy="548640"/>
          </a:xfrm>
          <a:prstGeom prst="rect">
            <a:avLst/>
          </a:prstGeom>
          <a:solidFill>
            <a:srgbClr val="FDEC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3346704"/>
            <a:ext cx="510235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A1A1A"/>
                </a:solidFill>
              </a:rPr>
              <a:t>The zero-shot label design is the biggest structural barrier — even a perfect model cannot predict entity types it has never seen.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868680"/>
            <a:ext cx="4572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A56A8"/>
                </a:solidFill>
              </a:rPr>
              <a:t>Model &amp; Compute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1170432"/>
            <a:ext cx="5486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Single GPU (A100) limits experiment scale and ablation studies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No hyperparameter search — all settings are single-run choices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MedGemma NER severely under-trained (300 of ~1,462 steps per epoch)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No confidence intervals or multi-seed averaging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Catastrophic forgetting risk from fine-tuning MedGemma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BioClinicalBERT trained on MIMIC-III only — US ICU bias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3273552"/>
            <a:ext cx="41148" cy="5486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59068" y="3273552"/>
            <a:ext cx="5445252" cy="54864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27648" y="3346704"/>
            <a:ext cx="528523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A1A1A"/>
                </a:solidFill>
              </a:rPr>
              <a:t>Fine-tuning a strong pre-trained medical model requires more care than fine-tuning a general model — the model already 'knows medicine'.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005072"/>
            <a:ext cx="41148" cy="548640"/>
          </a:xfrm>
          <a:prstGeom prst="rect">
            <a:avLst/>
          </a:prstGeom>
          <a:solidFill>
            <a:srgbClr val="1A5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8348" y="4005072"/>
            <a:ext cx="11233404" cy="548640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078224"/>
            <a:ext cx="1107338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1A1A1A"/>
                </a:solidFill>
              </a:rPr>
              <a:t>Summary: results are directionally valid but not publication-quality. The comparative conclusion (encoders for NER, decoders for QA) is robust.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A5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916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A56A8"/>
                </a:solidFill>
              </a:rPr>
              <a:t>Future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67512"/>
            <a:ext cx="11091672" cy="22860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F5F8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56248"/>
            <a:ext cx="12188952" cy="9144"/>
          </a:xfrm>
          <a:prstGeom prst="rect">
            <a:avLst/>
          </a:prstGeom>
          <a:solidFill>
            <a:srgbClr val="D0E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8368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CSCI E-222 · NLP for Healthcare · A. Mykhailovskyi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1672" y="6583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14 / 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868680"/>
            <a:ext cx="4572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A56A8"/>
                </a:solidFill>
              </a:rPr>
              <a:t>Near-term (straightforward)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170432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Fix CRF notebook (_tied_weights_keys = {}) and run full training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Add random seeds to all BERT notebooks for reproducibility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Run MedGemma NER for 3 full epochs with quantitative seqeval F1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Add constrained decoding for QA (force output to A/B/C/D)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Evaluate BERT QA with Longformer (longer context window)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Add confusion matrix and per-class breakdown to all result tables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868680"/>
            <a:ext cx="4572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A56A8"/>
                </a:solidFill>
              </a:rPr>
              <a:t>Medium-term (research directions)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170432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RAG: retrieve UMLS definitions to augment NER context at inference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Chain-of-thought prompting for QA reasoning steps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Higher LoRA rank (32–64) + structured output (JSON schema)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Medical summarization task (originally proposed, not implemented)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PubMedBERT as third NER model (originally planned, dropped)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Test on MIMIC-IV notes for real-world deployment evaluation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Build lightweight agent combining NER + QA pipelines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566160"/>
            <a:ext cx="41148" cy="566928"/>
          </a:xfrm>
          <a:prstGeom prst="rect">
            <a:avLst/>
          </a:prstGeom>
          <a:solidFill>
            <a:srgbClr val="1A5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8348" y="3566160"/>
            <a:ext cx="11233404" cy="566928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639312"/>
            <a:ext cx="1107338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1A1A1A"/>
                </a:solidFill>
              </a:rPr>
              <a:t>The most impactful single improvement: run MedGemma NER for a full epoch with quantitative evaluation — this would give a valid head-to-head comparison.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206240"/>
            <a:ext cx="41148" cy="566928"/>
          </a:xfrm>
          <a:prstGeom prst="rect">
            <a:avLst/>
          </a:prstGeom>
          <a:solidFill>
            <a:srgbClr val="1A7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8348" y="4206240"/>
            <a:ext cx="11233404" cy="566928"/>
          </a:xfrm>
          <a:prstGeom prst="rect">
            <a:avLst/>
          </a:prstGeom>
          <a:solidFill>
            <a:srgbClr val="E6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4279392"/>
            <a:ext cx="1107338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1A1A1A"/>
                </a:solidFill>
              </a:rPr>
              <a:t>Consider using the pre-trained MedGemma (no fine-tuning) for QA with few-shot prompting — may outperform the fine-tuned version.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1A5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10916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A56A8"/>
                </a:solidFill>
              </a:rPr>
              <a:t>Responsible Use &amp; Ethical Considerations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67512"/>
            <a:ext cx="11091672" cy="22860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F5F8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56248"/>
            <a:ext cx="12188952" cy="9144"/>
          </a:xfrm>
          <a:prstGeom prst="rect">
            <a:avLst/>
          </a:prstGeom>
          <a:solidFill>
            <a:srgbClr val="D0E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8368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</a:rPr>
              <a:t>CSCI E-222 · NLP for Healthcare · A. Mykhailovskyi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1672" y="6583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66666"/>
                </a:solidFill>
              </a:rPr>
              <a:t>15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868680"/>
            <a:ext cx="41148" cy="53035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98348" y="868680"/>
            <a:ext cx="11233404" cy="530352"/>
          </a:xfrm>
          <a:prstGeom prst="rect">
            <a:avLst/>
          </a:prstGeom>
          <a:solidFill>
            <a:srgbClr val="FDEC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941832"/>
            <a:ext cx="1107338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A1A1A"/>
                </a:solidFill>
              </a:rPr>
              <a:t>⚠  THESE MODELS MUST NOT BE USED FOR CLINICAL DECISIONS.  All outputs require review by a qualified medical professional.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536192"/>
            <a:ext cx="4572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A56A8"/>
                </a:solidFill>
              </a:rPr>
              <a:t>Clinical Safety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828800"/>
            <a:ext cx="53035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Models trained on limited datasets — real patients have far more complex presentations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MedGemma can hallucinate plausible but incorrect clinical facts with high confidence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NER errors (false positives/negatives) could misclassify diagnoses or medications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BioClinicalBERT pre-trained on US ICU data only — potential bias toward US populations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55.7% QA accuracy means the model is wrong ~44% of the time — far below clinical threshold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1536192"/>
            <a:ext cx="4572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A56A8"/>
                </a:solidFill>
              </a:rPr>
              <a:t>Data &amp; Licensing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1828800"/>
            <a:ext cx="54864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MedMentions-MTI881-NER: no license stated — legally ambiguous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MedQA-USMLE: CC-BY-4.0 — permissive with attribution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MedGemma: Google Health AI Developer Foundations terms — restricts commercial use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MIMIC-III (BioClinicalBERT pre-training): PhysioNet credentialed — not re-distributable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A1A1A"/>
                </a:solidFill>
              </a:rPr>
              <a:t>• Published HF checkpoints should carry explicit responsible-use disclaimers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041648"/>
            <a:ext cx="41148" cy="530352"/>
          </a:xfrm>
          <a:prstGeom prst="rect">
            <a:avLst/>
          </a:prstGeom>
          <a:solidFill>
            <a:srgbClr val="1A5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8348" y="4041648"/>
            <a:ext cx="11233404" cy="530352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4114800"/>
            <a:ext cx="1107338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1A1A1A"/>
                </a:solidFill>
              </a:rPr>
              <a:t>All code and models are released for educational purposes only. This project is a technology demonstration, not a clinical tool.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A5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7259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</a:rPr>
              <a:t>CSCI E-222 · Foundations of Large Language Models · Final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107259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A56A8"/>
                </a:solidFill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83080"/>
            <a:ext cx="107259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66666"/>
                </a:solidFill>
              </a:rPr>
              <a:t>NLP for Healthcare: Medical Text Analysis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423160"/>
            <a:ext cx="41148" cy="804672"/>
          </a:xfrm>
          <a:prstGeom prst="rect">
            <a:avLst/>
          </a:prstGeom>
          <a:solidFill>
            <a:srgbClr val="1A56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2668" y="2423160"/>
            <a:ext cx="4988052" cy="804672"/>
          </a:xfrm>
          <a:prstGeom prst="rect">
            <a:avLst/>
          </a:prstGeom>
          <a:solidFill>
            <a:srgbClr val="E8F0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2496312"/>
            <a:ext cx="4828032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1A1A1A"/>
                </a:solidFill>
              </a:rPr>
              <a:t>Code &amp; Models
huggingface.co/alexd063
Checkpoints for all 4 fine-tuned models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0" y="2423160"/>
            <a:ext cx="41148" cy="804672"/>
          </a:xfrm>
          <a:prstGeom prst="rect">
            <a:avLst/>
          </a:prstGeom>
          <a:solidFill>
            <a:srgbClr val="1A7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76188" y="2423160"/>
            <a:ext cx="5353812" cy="804672"/>
          </a:xfrm>
          <a:prstGeom prst="rect">
            <a:avLst/>
          </a:prstGeom>
          <a:solidFill>
            <a:srgbClr val="E6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44768" y="2496312"/>
            <a:ext cx="5193792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1A1A1A"/>
                </a:solidFill>
              </a:rPr>
              <a:t>Datasets Used
Ben10x/MedMentions-MTI881-NER
GBaker/MedQA-USMLE-4-options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456432"/>
            <a:ext cx="10725912" cy="1234440"/>
          </a:xfrm>
          <a:prstGeom prst="rect">
            <a:avLst/>
          </a:prstGeom>
          <a:solidFill>
            <a:srgbClr val="FFF3CD"/>
          </a:solidFill>
          <a:ln w="25400">
            <a:solidFill>
              <a:srgbClr val="E6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566160"/>
            <a:ext cx="10360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A1A1A"/>
                </a:solidFill>
              </a:rPr>
              <a:t>Video Presentation URL: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858768"/>
            <a:ext cx="103601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A56A8"/>
                </a:solidFill>
              </a:rPr>
              <a:t>[ INSERT VIDEO URL HERE 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315968"/>
            <a:ext cx="103601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</a:rPr>
              <a:t>Required: 7–15 minute video covering problem, models, demo, results, and takeaways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6309360"/>
            <a:ext cx="107259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</a:rPr>
              <a:t>A. Mykhailovskyi  ·  Harvard Extension School  ·  CSCI E-222  ·  May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