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C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33" autoAdjust="0"/>
    <p:restoredTop sz="94660"/>
  </p:normalViewPr>
  <p:slideViewPr>
    <p:cSldViewPr>
      <p:cViewPr varScale="1">
        <p:scale>
          <a:sx n="115" d="100"/>
          <a:sy n="115" d="100"/>
        </p:scale>
        <p:origin x="168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40" d="100"/>
        <a:sy n="4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3E7E92B-59FA-49FB-B014-1669F564A86F}" type="datetimeFigureOut">
              <a:rPr lang="en-US"/>
              <a:pPr>
                <a:defRPr/>
              </a:pPr>
              <a:t>5/15/26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5CAD7887-406F-46CC-9589-B5DF14B164F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4776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FD7B8707-E1CD-4CEF-A00B-04778EC3BE00}" type="datetimeFigureOut">
              <a:rPr lang="en-US"/>
              <a:pPr>
                <a:defRPr/>
              </a:pPr>
              <a:t>5/15/26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E692987E-3A66-4994-9BE4-8BDBBB69D16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05788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0382D7-6004-43C9-AB02-56543EB3FDAB}" type="datetime1">
              <a:rPr lang="en-US"/>
              <a:pPr>
                <a:defRPr/>
              </a:pPr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@Your Name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D066EC-5749-4585-9837-C7D7BD5CB86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1515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0651"/>
            <a:ext cx="8229600" cy="715962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rgbClr val="0070C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14400"/>
            <a:ext cx="8229600" cy="5334000"/>
          </a:xfrm>
        </p:spPr>
        <p:txBody>
          <a:bodyPr/>
          <a:lstStyle>
            <a:lvl1pPr>
              <a:buClr>
                <a:srgbClr val="0070C0"/>
              </a:buClr>
              <a:buFont typeface="Wingdings" pitchFamily="2" charset="2"/>
              <a:buChar char="§"/>
              <a:defRPr sz="1800" baseline="0"/>
            </a:lvl1pPr>
            <a:lvl2pPr>
              <a:buClr>
                <a:srgbClr val="92D050"/>
              </a:buClr>
              <a:buFont typeface="Wingdings" pitchFamily="2" charset="2"/>
              <a:buChar char="§"/>
              <a:defRPr sz="1800" baseline="0"/>
            </a:lvl2pPr>
            <a:lvl3pPr>
              <a:buClr>
                <a:srgbClr val="FF0000"/>
              </a:buClr>
              <a:buFont typeface="Wingdings" pitchFamily="2" charset="2"/>
              <a:buChar char="§"/>
              <a:defRPr sz="1600" baseline="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A10935-C4E4-4A31-A905-CBD3B88B377F}" type="datetime1">
              <a:rPr lang="en-US"/>
              <a:pPr>
                <a:defRPr/>
              </a:pPr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@Your Name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1"/>
            </a:lvl1pPr>
          </a:lstStyle>
          <a:p>
            <a:pPr>
              <a:defRPr/>
            </a:pPr>
            <a:fld id="{F8C3E294-9E12-4E24-B275-9BA1AC14E86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220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AA3077-BD5E-4DF2-86F4-B2787C87502F}" type="datetime1">
              <a:rPr lang="en-US"/>
              <a:pPr>
                <a:defRPr/>
              </a:pPr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@Your Name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D6EFB9-832D-41AA-B6AA-BA3FDFDF217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952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D9D7AE-2072-4CF1-81AF-6875EEBBE225}" type="datetime1">
              <a:rPr lang="en-US"/>
              <a:pPr>
                <a:defRPr/>
              </a:pPr>
              <a:t>5/15/26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@Your Name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1FBD6B9-3A33-4A94-B724-9A8AE8A254D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277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AD28BE-7261-4565-BDD9-9D13920F46F3}" type="datetime1">
              <a:rPr lang="en-US"/>
              <a:pPr>
                <a:defRPr/>
              </a:pPr>
              <a:t>5/15/26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@Your Name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F3FC6E-2B66-4D2D-9218-6A86576333C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669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EF4F18-6076-4F4D-8701-7E7E46FB9673}" type="datetime1">
              <a:rPr lang="en-US"/>
              <a:pPr>
                <a:defRPr/>
              </a:pPr>
              <a:t>5/15/26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@Your Name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C73807-B068-4863-956B-F1B33613174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551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68202-4F72-4F7C-A5F1-E7B21F92F430}" type="datetime1">
              <a:rPr lang="en-US"/>
              <a:pPr>
                <a:defRPr/>
              </a:pPr>
              <a:t>5/15/26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@Your Name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F5520D-11A7-44C7-A268-AAA329E6ED9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035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AA5998-59A9-4C76-B55B-B07AD0665B82}" type="datetime1">
              <a:rPr lang="en-US"/>
              <a:pPr>
                <a:defRPr/>
              </a:pPr>
              <a:t>5/15/26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@Your Name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DEA0E33-B153-4585-A659-757BD76D8C7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186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DFA7D98-E199-4E72-A4FE-85F4B3A9BF25}" type="datetime1">
              <a:rPr lang="en-US"/>
              <a:pPr>
                <a:defRPr/>
              </a:pPr>
              <a:t>5/15/26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@Your Name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0AEC9DF-A8CA-492E-9A95-52D982BBB1F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8345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CD6C3C-A366-4DF9-81B4-5B0188B44BD9}" type="datetime1">
              <a:rPr lang="en-US"/>
              <a:pPr>
                <a:defRPr/>
              </a:pPr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@Your Name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236EC8-B6B4-4047-8E94-DB4977AA8CD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753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8308A0-081A-40E0-AB91-AE760FA81C51}" type="datetime1">
              <a:rPr lang="en-US"/>
              <a:pPr>
                <a:defRPr/>
              </a:pPr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@Your Name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83A777-F07E-472E-A020-7B4D580524B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9344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457200" y="274638"/>
            <a:ext cx="8229600" cy="6397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990600"/>
            <a:ext cx="4038600" cy="2514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990600"/>
            <a:ext cx="4038600" cy="2514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57200" y="3657600"/>
            <a:ext cx="4038600" cy="2514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8200" y="3657600"/>
            <a:ext cx="4038600" cy="2514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831DDB-45BE-4D5A-8382-8E06A7A6251F}" type="datetime1">
              <a:rPr lang="en-US"/>
              <a:pPr>
                <a:defRPr/>
              </a:pPr>
              <a:t>5/15/26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@Your Name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A7F69CA-01CC-4DEF-B5D8-B239B6D1E8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199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639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990600"/>
            <a:ext cx="82296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97832353-B273-4796-B91B-464BBEE56517}" type="datetime1">
              <a:rPr lang="en-US"/>
              <a:pPr>
                <a:defRPr/>
              </a:pPr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/>
              <a:t>@Your Name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F34D79D8-E937-4F7F-B5D1-0FDC90AE5A5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12" r:id="rId1"/>
    <p:sldLayoutId id="2147484123" r:id="rId2"/>
    <p:sldLayoutId id="2147484113" r:id="rId3"/>
    <p:sldLayoutId id="2147484114" r:id="rId4"/>
    <p:sldLayoutId id="2147484115" r:id="rId5"/>
    <p:sldLayoutId id="2147484116" r:id="rId6"/>
    <p:sldLayoutId id="2147484117" r:id="rId7"/>
    <p:sldLayoutId id="2147484118" r:id="rId8"/>
    <p:sldLayoutId id="2147484119" r:id="rId9"/>
    <p:sldLayoutId id="2147484120" r:id="rId10"/>
    <p:sldLayoutId id="2147484121" r:id="rId11"/>
    <p:sldLayoutId id="2147484122" r:id="rId12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 kern="1200">
          <a:solidFill>
            <a:schemeClr val="hlink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hlink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hlink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hlink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hlink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600">
          <a:solidFill>
            <a:schemeClr val="hlink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600">
          <a:solidFill>
            <a:schemeClr val="hlink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600">
          <a:solidFill>
            <a:schemeClr val="hlink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600">
          <a:solidFill>
            <a:schemeClr val="hlink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CC00"/>
        </a:buClr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NLP for Healthcare: Medical Text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A. Mykhailovskyi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1 ·  Problem Statement &amp; Motivation</a:t>
            </a:r>
          </a:p>
          <a:p>
            <a:r>
              <a:t>2 ·  Datasets</a:t>
            </a:r>
          </a:p>
          <a:p>
            <a:r>
              <a:t>3 ·  Models &amp; Approach  (Bio_ClinicalBERT · MedGemma-4B)</a:t>
            </a:r>
          </a:p>
          <a:p>
            <a:r>
              <a:t>4 ·  Implementation: NER &amp; QA Pipelines</a:t>
            </a:r>
          </a:p>
          <a:p>
            <a:r>
              <a:t>5 ·  Model Output Examples</a:t>
            </a:r>
          </a:p>
          <a:p>
            <a:r>
              <a:t>6 ·  Results: NER &amp; QA</a:t>
            </a:r>
          </a:p>
          <a:p>
            <a:r>
              <a:t>7 ·  Comparative Analysis</a:t>
            </a:r>
          </a:p>
          <a:p>
            <a:r>
              <a:t>8 ·  Discussion · Limitations · Future Work</a:t>
            </a:r>
          </a:p>
          <a:p>
            <a:r>
              <a:t>9 ·  Responsible Use &amp; 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/>
              <a:t>Research Question</a:t>
            </a:r>
          </a:p>
          <a:p>
            <a:pPr lvl="1"/>
            <a:r>
              <a:rPr dirty="0"/>
              <a:t>How do encoder-only (</a:t>
            </a:r>
            <a:r>
              <a:rPr dirty="0" err="1"/>
              <a:t>Bio_ClinicalBERT</a:t>
            </a:r>
            <a:r>
              <a:rPr dirty="0"/>
              <a:t>) and decoder-based (MedGemma-4B) architectures compare when fine-tuned on NER and QA under a constrained compute budget?</a:t>
            </a:r>
          </a:p>
          <a:p>
            <a:r>
              <a:rPr dirty="0"/>
              <a:t>Tasks</a:t>
            </a:r>
          </a:p>
          <a:p>
            <a:pPr lvl="1"/>
            <a:r>
              <a:rPr dirty="0"/>
              <a:t>Task 1 — NER: label each token in biomedical text with a UMLS semantic type</a:t>
            </a:r>
          </a:p>
          <a:p>
            <a:pPr lvl="1"/>
            <a:r>
              <a:rPr dirty="0"/>
              <a:t>Task 2 — QA: select the correct answer (A–D) from USMLE-style clinical questions</a:t>
            </a:r>
          </a:p>
          <a:p>
            <a:r>
              <a:rPr dirty="0"/>
              <a:t>Scope &amp; Constraints</a:t>
            </a:r>
          </a:p>
          <a:p>
            <a:pPr lvl="1"/>
            <a:r>
              <a:rPr dirty="0"/>
              <a:t>Single GPU — Google </a:t>
            </a:r>
            <a:r>
              <a:rPr dirty="0" err="1"/>
              <a:t>Colab</a:t>
            </a:r>
            <a:r>
              <a:rPr dirty="0"/>
              <a:t> Pro A100  ·  PEFT only (</a:t>
            </a:r>
            <a:r>
              <a:rPr dirty="0" err="1"/>
              <a:t>LoRA</a:t>
            </a:r>
            <a:r>
              <a:rPr dirty="0"/>
              <a:t>/</a:t>
            </a:r>
            <a:r>
              <a:rPr dirty="0" err="1"/>
              <a:t>QLoRA</a:t>
            </a:r>
            <a:r>
              <a:rPr dirty="0"/>
              <a:t>) for the 4B model</a:t>
            </a:r>
          </a:p>
          <a:p>
            <a:pPr lvl="1"/>
            <a:r>
              <a:rPr dirty="0"/>
              <a:t>Original scope (</a:t>
            </a:r>
            <a:r>
              <a:rPr dirty="0" err="1"/>
              <a:t>PubMedBERT</a:t>
            </a:r>
            <a:r>
              <a:rPr dirty="0"/>
              <a:t> + </a:t>
            </a:r>
            <a:r>
              <a:rPr dirty="0" err="1"/>
              <a:t>summarisation</a:t>
            </a:r>
            <a:r>
              <a:rPr dirty="0"/>
              <a:t>) narrowed to 2 models × 2 tasks due to compute constraints</a:t>
            </a:r>
          </a:p>
          <a:p>
            <a:r>
              <a:rPr dirty="0"/>
              <a:t>⚠  </a:t>
            </a:r>
            <a:r>
              <a:rPr dirty="0" err="1"/>
              <a:t>MedMentions</a:t>
            </a:r>
            <a:r>
              <a:rPr dirty="0"/>
              <a:t> zero-shot label protocol: some</a:t>
            </a:r>
            <a:r>
              <a:rPr lang="en-US" dirty="0"/>
              <a:t> but not all</a:t>
            </a:r>
            <a:r>
              <a:rPr dirty="0"/>
              <a:t> test entity types unseen during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/>
              <a:t>Task 1 — NER: </a:t>
            </a:r>
            <a:r>
              <a:rPr dirty="0" err="1"/>
              <a:t>MedMentions</a:t>
            </a:r>
            <a:r>
              <a:rPr dirty="0"/>
              <a:t> MTI881  (Ben10x/MedMentions-MTI881-NER)</a:t>
            </a:r>
          </a:p>
          <a:p>
            <a:pPr lvl="1"/>
            <a:r>
              <a:rPr dirty="0"/>
              <a:t>4,392 PubMed abstracts · 350K+ UMLS-annotated entity mentions</a:t>
            </a:r>
          </a:p>
          <a:p>
            <a:pPr lvl="1"/>
            <a:r>
              <a:rPr dirty="0"/>
              <a:t>Train 23,399 / Val 2,924 / Test 2,926 tokenized sequences · 105 entity classes · BIO format</a:t>
            </a:r>
          </a:p>
          <a:p>
            <a:pPr lvl="1"/>
            <a:r>
              <a:rPr dirty="0"/>
              <a:t>Severe class imbalance: "O" tag = 76% of tokens · many rare classes with &lt; 5 examples</a:t>
            </a:r>
          </a:p>
          <a:p>
            <a:r>
              <a:rPr dirty="0"/>
              <a:t>Task 2 — QA: </a:t>
            </a:r>
            <a:r>
              <a:rPr dirty="0" err="1"/>
              <a:t>MedQA</a:t>
            </a:r>
            <a:r>
              <a:rPr dirty="0"/>
              <a:t> USMLE-4-options  (</a:t>
            </a:r>
            <a:r>
              <a:rPr dirty="0" err="1"/>
              <a:t>GBaker</a:t>
            </a:r>
            <a:r>
              <a:rPr dirty="0"/>
              <a:t>/MedQA-USMLE-4-options)</a:t>
            </a:r>
          </a:p>
          <a:p>
            <a:pPr lvl="1"/>
            <a:r>
              <a:rPr dirty="0"/>
              <a:t>~11,500 USMLE Step 1/2/3 clinical reasoning questions · 4-option multiple choice (A–D)</a:t>
            </a:r>
          </a:p>
          <a:p>
            <a:pPr lvl="1"/>
            <a:r>
              <a:rPr dirty="0"/>
              <a:t>Train: 9,160  |  Val: 1,018 (10% holdout from train)  |  Test: 1,273</a:t>
            </a:r>
          </a:p>
          <a:p>
            <a:pPr lvl="1"/>
            <a:r>
              <a:rPr dirty="0"/>
              <a:t>Random baseline: 25%  ·  Human expert: ~90%  ·  MedGemma-4B pre-trained: 64.4%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Bio_ClinicalBERT —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Model</a:t>
            </a:r>
          </a:p>
          <a:p>
            <a:pPr lvl="1"/>
            <a:r>
              <a:t>110M parameters · BERT-base · encoder-only · bidirectional attention</a:t>
            </a:r>
          </a:p>
          <a:p>
            <a:pPr lvl="1"/>
            <a:r>
              <a:t>Pre-trained: BERT → PubMed corpus → MIMIC-III clinical notes (~880M words)</a:t>
            </a:r>
          </a:p>
          <a:p>
            <a:pPr lvl="1"/>
            <a:r>
              <a:t>Max sequence length: 512 tokens · MIT License</a:t>
            </a:r>
          </a:p>
          <a:p>
            <a:r>
              <a:t>NER Task Framing</a:t>
            </a:r>
          </a:p>
          <a:p>
            <a:pPr lvl="1"/>
            <a:r>
              <a:t>AutoModelForTokenClassification — per-token 127-class softmax head</a:t>
            </a:r>
          </a:p>
          <a:p>
            <a:pPr lvl="1"/>
            <a:r>
              <a:t>Baseline: standard cross-entropy · LR = 2e-5</a:t>
            </a:r>
          </a:p>
          <a:p>
            <a:pPr lvl="1"/>
            <a:r>
              <a:t>Weighted: exponential inverse-frequency class weights · LR = 6e-5</a:t>
            </a:r>
          </a:p>
          <a:p>
            <a:r>
              <a:t>QA Task Framing</a:t>
            </a:r>
          </a:p>
          <a:p>
            <a:pPr lvl="1"/>
            <a:r>
              <a:t>AutoModelForMultipleChoice — 4 × [Question, Option] → CLS → logit → softmax</a:t>
            </a:r>
          </a:p>
          <a:p>
            <a:pPr lvl="1"/>
            <a:r>
              <a:t>Left-side truncation at 512 tokens · LR = 4e-5 · cosine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MedGemma-4B — Architecture &amp; QLoRA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Model</a:t>
            </a:r>
          </a:p>
          <a:p>
            <a:pPr lvl="1"/>
            <a:r>
              <a:t>4.3B parameters · Gemma-3 decoder-only · 8K+ context window</a:t>
            </a:r>
          </a:p>
          <a:p>
            <a:pPr lvl="1"/>
            <a:r>
              <a:t>Pre-trained by Google Health AI on medical images + text</a:t>
            </a:r>
          </a:p>
          <a:p>
            <a:r>
              <a:t>Fine-tuning: QLoRA via Unsloth</a:t>
            </a:r>
          </a:p>
          <a:p>
            <a:pPr lvl="1"/>
            <a:r>
              <a:t>4-bit NF4 quantization — VRAM: 16 GB → ~4 GB · 2× speed via Unsloth</a:t>
            </a:r>
          </a:p>
          <a:p>
            <a:pPr lvl="1"/>
            <a:r>
              <a:t>LoRA rank 16 · alpha 16 · 0.76% trainable parameters (33M of 4.3B)</a:t>
            </a:r>
          </a:p>
          <a:p>
            <a:pPr lvl="1"/>
            <a:r>
              <a:t>NER: attention layers only (q,k,v,o) · 300 steps · LR = 2e-4</a:t>
            </a:r>
          </a:p>
          <a:p>
            <a:pPr lvl="1"/>
            <a:r>
              <a:t>QA:  attention + MLP (7 modules) · 2 epochs · max 1,024 tokens · LR = 2e-4</a:t>
            </a:r>
          </a:p>
          <a:p>
            <a:r>
              <a:t>Task Framing</a:t>
            </a:r>
          </a:p>
          <a:p>
            <a:pPr lvl="1"/>
            <a:r>
              <a:t>NER → generative: outputs "token: tag, token: tag …" (text-to-text)</a:t>
            </a:r>
          </a:p>
          <a:p>
            <a:pPr lvl="1"/>
            <a:r>
              <a:t>QA  → generative: outputs single letter A / B / C / D + EOS</a:t>
            </a:r>
          </a:p>
          <a:p>
            <a:pPr lvl="1"/>
            <a:r>
              <a:t>Google Health AI terms — restricts commercial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 · Implementation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NER &amp; QA fine-tuning pipelines for both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NER: Implementation &amp; Key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Bio_ClinicalBERT NER — Two Variants</a:t>
            </a:r>
          </a:p>
          <a:p>
            <a:pPr lvl="1"/>
            <a:r>
              <a:t>Baseline: standard cross-entropy over 127 UMLS classes · LR=2e-5 · patience=3</a:t>
            </a:r>
          </a:p>
          <a:p>
            <a:pPr lvl="1"/>
            <a:r>
              <a:t>Weighted: custom WeightedTrainer with exponential inverse-frequency class weights · LR=6e-5 · patience=2</a:t>
            </a:r>
          </a:p>
          <a:p>
            <a:pPr lvl="1"/>
            <a:r>
              <a:t>O-class fixed at 0.5 · rare classes up to 100× · cosine LR · 10% warmup</a:t>
            </a:r>
          </a:p>
          <a:p>
            <a:pPr lvl="1"/>
            <a:r>
              <a:t>✓  Class weighting was the single most impactful decision — prevents model predicting "O" for all tokens</a:t>
            </a:r>
          </a:p>
          <a:p>
            <a:r>
              <a:t>MedGemma-4B NER — Generative Approach</a:t>
            </a:r>
          </a:p>
          <a:p>
            <a:pPr lvl="1"/>
            <a:r>
              <a:t>Text-to-text: "Patient: O, aspirin: B-T103, prescribed: O, …"</a:t>
            </a:r>
          </a:p>
          <a:p>
            <a:pPr lvl="1"/>
            <a:r>
              <a:t>SFTTrainer · 300 steps only (~20% of 1 epoch) · LR = 2e-4 · LoRA on attention layers</a:t>
            </a:r>
          </a:p>
          <a:p>
            <a:pPr lvl="1"/>
            <a:r>
              <a:t>⚠  Severe underfitting · evaluation is qualitative only (3 samples) · no quantitative F1</a:t>
            </a:r>
          </a:p>
          <a:p>
            <a:pPr lvl="1"/>
            <a:r>
              <a:t>⚠  Parsing "token: tag" free text is fragile — requires constrained decoding in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QA: Implementation &amp; Key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Bio_ClinicalBERT QA</a:t>
            </a:r>
          </a:p>
          <a:p>
            <a:pPr lvl="1"/>
            <a:r>
              <a:t>AutoModelForMultipleChoice: 4 × [Question, Option] → CLS → logit → softmax → argmax</a:t>
            </a:r>
          </a:p>
          <a:p>
            <a:pPr lvl="1"/>
            <a:r>
              <a:t>Left-side truncation at 512 tokens · LR = 4e-5 · cosine · 10 epochs max · early stop on accuracy</a:t>
            </a:r>
          </a:p>
          <a:p>
            <a:pPr lvl="1"/>
            <a:r>
              <a:t>3 metrics: Accuracy · Macro F1 · ECE (Expected Calibration Error)</a:t>
            </a:r>
          </a:p>
          <a:p>
            <a:r>
              <a:t>MedGemma-4B QA</a:t>
            </a:r>
          </a:p>
          <a:p>
            <a:pPr lvl="1"/>
            <a:r>
              <a:t>Max seq length: 1,024 tokens · generates single letter (A/B/C/D) + EOS</a:t>
            </a:r>
          </a:p>
          <a:p>
            <a:pPr lvl="1"/>
            <a:r>
              <a:t>Custom MedicalQAEvaluationCallback (50-sample val subset per epoch)</a:t>
            </a:r>
          </a:p>
          <a:p>
            <a:pPr lvl="1"/>
            <a:r>
              <a:t>LR = 2e-4 · 2 epochs · LoRA on attention + MLP layers</a:t>
            </a:r>
          </a:p>
          <a:p>
            <a:pPr lvl="1"/>
            <a:r>
              <a:t>⚠  10 warmup steps (0.87% of total) is too low for stable fine-tuning</a:t>
            </a:r>
          </a:p>
          <a:p>
            <a:pPr lvl="1"/>
            <a:r>
              <a:t>⚠  High LR on small dataset risks catastrophic forgetting of medical priors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Output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NER — MedGemma-4B Prediction (test set sample)</a:t>
            </a:r>
          </a:p>
          <a:p>
            <a:pPr lvl="1"/>
            <a:r>
              <a:t>Input:  "…predicting liver fibrosis stage ≥3 is 10.0 kPa in Japanese NAFLD patients."</a:t>
            </a:r>
          </a:p>
          <a:p>
            <a:pPr lvl="1"/>
            <a:r>
              <a:t>Expected:  TE: B-T058 · liver fibrosis stage: B/I-T033 · Japanese: B-T098 · NAFLD: B-T038</a:t>
            </a:r>
          </a:p>
          <a:p>
            <a:pPr lvl="1"/>
            <a:r>
              <a:t>Predicted: TE: B-T058 ✓  · liver…stage: B-T038 (wrong type) ✗  · output truncated ⚠</a:t>
            </a:r>
          </a:p>
          <a:p>
            <a:pPr lvl="1"/>
            <a:r>
              <a:t>→ Correct span detection but UMLS type misclassification and truncation visible</a:t>
            </a:r>
          </a:p>
          <a:p>
            <a:r>
              <a:t>QA — Bio_ClinicalBERT (confusion matrix insight)</a:t>
            </a:r>
          </a:p>
          <a:p>
            <a:pPr lvl="1"/>
            <a:r>
              <a:t>Predicts each option (A/B/C/D) with roughly equal probability (~25% each)</a:t>
            </a:r>
          </a:p>
          <a:p>
            <a:pPr lvl="1"/>
            <a:r>
              <a:t>→ Uniform distribution = model is guessing; 512-token truncation discards question context</a:t>
            </a:r>
          </a:p>
          <a:p>
            <a:r>
              <a:t>QA — MedGemma-4B (confusion matrix insight)</a:t>
            </a:r>
          </a:p>
          <a:p>
            <a:pPr lvl="1"/>
            <a:r>
              <a:t>Non-uniform prediction distribution → model applies genuine medical reasoning</a:t>
            </a:r>
          </a:p>
          <a:p>
            <a:pPr lvl="1"/>
            <a:r>
              <a:t>Correct on ~55% of questions; errors on ambiguous multi-step reasoning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 · Results &amp;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NER · QA · Comparative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— Task 1: Named Entity Recognition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Bio_ClinicalBERT Baseline  F1 = 0.652  |  Weighted variant  F1 = 0.650   (full test · 11,772 entity mentions)</a:t>
            </a:r>
          </a:p>
          <a:p>
            <a:r>
              <a:t>MedGemma-4B               F1 = 0.27    (legacy eval · 10% subset · 1,221 entity mentions · model trained 300 steps only)</a:t>
            </a:r>
          </a:p>
          <a:p>
            <a:r>
              <a:t>Published Baselines for Context</a:t>
            </a:r>
          </a:p>
          <a:p>
            <a:pPr lvl="1"/>
            <a:r>
              <a:t>TaggerOne (Mohan &amp; Li 2019) [3]:  F1 = 0.453</a:t>
            </a:r>
          </a:p>
          <a:p>
            <a:pPr lvl="1"/>
            <a:r>
              <a:t>General BERT-based models:          F1 ≈ 0.56  (typical ceiling)</a:t>
            </a:r>
          </a:p>
          <a:p>
            <a:pPr lvl="1"/>
            <a:r>
              <a:t>✓  Bio_ClinicalBERT F1 = 0.65 exceeds the published BERT ceiling for this task</a:t>
            </a:r>
          </a:p>
          <a:p>
            <a:r>
              <a:t>Key Findings</a:t>
            </a:r>
          </a:p>
          <a:p>
            <a:pPr lvl="1"/>
            <a:r>
              <a:t>Encoder bidirectional attention is clearly better for token-level classification</a:t>
            </a:r>
          </a:p>
          <a:p>
            <a:pPr lvl="1"/>
            <a:r>
              <a:t>Class weighting helps frequent entities; rare classes (&lt; 5 examples) remain near zero F1</a:t>
            </a:r>
          </a:p>
          <a:p>
            <a:pPr lvl="1"/>
            <a:r>
              <a:t>MedGemma NER limited by: 20%-epoch training · fragile text parsing · no constrained decoding</a:t>
            </a:r>
          </a:p>
          <a:p>
            <a:r>
              <a:t>⚠  Asymmetric test sets — BERT on full split, MedGemma on 10% subset: not a clean head-to-head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— Task 2: Medical Question Answering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Random chance:            25%   (4-choice)</a:t>
            </a:r>
          </a:p>
          <a:p>
            <a:r>
              <a:t>Bio_ClinicalBERT:         26.2%  (ECE = 0.009) ≈ random chance</a:t>
            </a:r>
          </a:p>
          <a:p>
            <a:r>
              <a:t>MedGemma-4B fine-tuned:  55%    (2× random baseline)</a:t>
            </a:r>
          </a:p>
          <a:p>
            <a:r>
              <a:t>MedGemma-4B pre-trained: 64.4%  — fine-tuning DEGRADED performance</a:t>
            </a:r>
          </a:p>
          <a:p>
            <a:r>
              <a:t>Published Baselines (Jin et al. 2021) [4]</a:t>
            </a:r>
          </a:p>
          <a:p>
            <a:pPr lvl="1"/>
            <a:r>
              <a:t>BioBERT-Large fine-tuned: 36.7%   |   GPT-3.5: 53.6%   |   GPT-4: ~84%</a:t>
            </a:r>
          </a:p>
          <a:p>
            <a:pPr lvl="1"/>
            <a:r>
              <a:t>✓  MedGemma-4B 55% = GPT-3.5 level — strong for a 4B model fine-tuned for 2 epochs</a:t>
            </a:r>
          </a:p>
          <a:p>
            <a:r>
              <a:t>Why Bio_ClinicalBERT Fails on QA</a:t>
            </a:r>
          </a:p>
          <a:p>
            <a:pPr lvl="1"/>
            <a:r>
              <a:t>512-token truncation discards clinical context — model often never sees answer options</a:t>
            </a:r>
          </a:p>
          <a:p>
            <a:pPr lvl="1"/>
            <a:r>
              <a:t>Bidirectional encoder not designed for multi-step clinical reasoning</a:t>
            </a:r>
          </a:p>
          <a:p>
            <a:r>
              <a:t>Why Fine-tuning Hurt MedGemma</a:t>
            </a:r>
          </a:p>
          <a:p>
            <a:pPr lvl="1"/>
            <a:r>
              <a:t>Catastrophic forgetting: high LR (2e-4) + only 10 warmup steps on small dataset</a:t>
            </a:r>
          </a:p>
          <a:p>
            <a:pPr lvl="1"/>
            <a:r>
              <a:t>Conservative instruction-tuning would be safer for strong pre-trained medical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Comparative Analysis: Encoder vs.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NER — Bio_ClinicalBERT wins  (F1 = 0.65 vs 0.27)</a:t>
            </a:r>
          </a:p>
          <a:p>
            <a:pPr lvl="1"/>
            <a:r>
              <a:t>Bidirectional attention sees full sentence context simultaneously</a:t>
            </a:r>
          </a:p>
          <a:p>
            <a:pPr lvl="1"/>
            <a:r>
              <a:t>Per-token classification head maps directly to BIO label space</a:t>
            </a:r>
          </a:p>
          <a:p>
            <a:pPr lvl="1"/>
            <a:r>
              <a:t>Generative NER fragile without output enforcement (constrained decoding)</a:t>
            </a:r>
          </a:p>
          <a:p>
            <a:r>
              <a:t>QA — MedGemma-4B wins  (55% vs 26%)</a:t>
            </a:r>
          </a:p>
          <a:p>
            <a:pPr lvl="1"/>
            <a:r>
              <a:t>1,024-token context window vs 512 → less truncation on long clinical vignettes</a:t>
            </a:r>
          </a:p>
          <a:p>
            <a:pPr lvl="1"/>
            <a:r>
              <a:t>Medical pre-training enables multi-step clinical reasoning</a:t>
            </a:r>
          </a:p>
          <a:p>
            <a:pPr lvl="1"/>
            <a:r>
              <a:t>Autoregressive generation naturally produces a single answer letter</a:t>
            </a:r>
          </a:p>
          <a:p>
            <a:r>
              <a:t>★  Key Takeaway</a:t>
            </a:r>
          </a:p>
          <a:p>
            <a:pPr lvl="1"/>
            <a:r>
              <a:t>Task–architecture alignment is the dominant factor — neither model is universally better</a:t>
            </a:r>
          </a:p>
          <a:p>
            <a:pPr lvl="1"/>
            <a:r>
              <a:t>Encoders excel at structured extraction (NER) · Decoders excel at open-ended reasoning (QA)</a:t>
            </a:r>
          </a:p>
          <a:p>
            <a:r>
              <a:t>⚠  NER comparison not a clean head-to-head: BERT on full test · MedGemma on 10% subset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Discussion: What Worked &amp; What Didn't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r>
              <a:rPr b="1"/>
              <a:t>✓  What Worked</a:t>
            </a:r>
          </a:p>
          <a:p>
            <a:pPr lvl="1"/>
            <a:r>
              <a:t>Class weighting prevented O-label dominance in NER</a:t>
            </a:r>
          </a:p>
          <a:p>
            <a:pPr lvl="1"/>
            <a:r>
              <a:t>QLoRA made 4B model trainable on a single GPU</a:t>
            </a:r>
          </a:p>
          <a:p>
            <a:pPr lvl="1"/>
            <a:r>
              <a:t>MedGemma 2× BERT on QA (55% vs 26%)</a:t>
            </a:r>
          </a:p>
          <a:p>
            <a:pPr lvl="1"/>
            <a:r>
              <a:t>WeightedTrainer: clean, reusable implementation</a:t>
            </a:r>
          </a:p>
          <a:p>
            <a:pPr lvl="1"/>
            <a:r>
              <a:t>Cosine LR + early stopping stabilised BERT training</a:t>
            </a:r>
          </a:p>
          <a:p>
            <a:pPr lvl="1"/>
            <a:r>
              <a:t>All checkpoints published to HuggingFace Hub</a:t>
            </a:r>
          </a:p>
          <a:p>
            <a:pPr lvl="1"/>
            <a:r>
              <a:t>Unsloth 2× training speedup at no additional cost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r>
              <a:rPr b="1"/>
              <a:t>✗  What Didn't Work</a:t>
            </a:r>
          </a:p>
          <a:p>
            <a:pPr lvl="1"/>
            <a:r>
              <a:t>CRF layer: 1-line bug in post_init() — never ran</a:t>
            </a:r>
          </a:p>
          <a:p>
            <a:pPr lvl="1"/>
            <a:r>
              <a:t>BERT QA: near-random accuracy — wrong architecture</a:t>
            </a:r>
          </a:p>
          <a:p>
            <a:pPr lvl="1"/>
            <a:r>
              <a:t>MedGemma NER: 300 steps only · no quantitative F1</a:t>
            </a:r>
          </a:p>
          <a:p>
            <a:pPr lvl="1"/>
            <a:r>
              <a:t>Fine-tuning degraded MedGemma QA vs pre-trained</a:t>
            </a:r>
          </a:p>
          <a:p>
            <a:pPr lvl="1"/>
            <a:r>
              <a:t>Asymmetric NER evaluation — not a clean comparison</a:t>
            </a:r>
          </a:p>
          <a:p>
            <a:pPr lvl="1"/>
            <a:r>
              <a:t>No random seeds in most BERT notebooks</a:t>
            </a:r>
          </a:p>
          <a:p>
            <a:pPr lvl="1"/>
            <a:r>
              <a:t>Summarisation task never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Data &amp; Evaluation</a:t>
            </a:r>
          </a:p>
          <a:p>
            <a:pPr lvl="1"/>
            <a:r>
              <a:t>MedMentions zero-shot protocol: some test entity types absent from training</a:t>
            </a:r>
          </a:p>
          <a:p>
            <a:pPr lvl="1"/>
            <a:r>
              <a:t>MedGemma NER: qualitative evaluation on 3 samples only — no reliable F1</a:t>
            </a:r>
          </a:p>
          <a:p>
            <a:pPr lvl="1"/>
            <a:r>
              <a:t>BERT QA: 512-token truncation loses full clinical context for long vignettes</a:t>
            </a:r>
          </a:p>
          <a:p>
            <a:pPr lvl="1"/>
            <a:r>
              <a:t>MedQA is US-centric (USMLE) — limited global applicability</a:t>
            </a:r>
          </a:p>
          <a:p>
            <a:pPr lvl="1"/>
            <a:r>
              <a:t>MedMentions has no stated license — legally ambiguous</a:t>
            </a:r>
          </a:p>
          <a:p>
            <a:r>
              <a:t>Model &amp; Compute</a:t>
            </a:r>
          </a:p>
          <a:p>
            <a:pPr lvl="1"/>
            <a:r>
              <a:t>Single GPU — no hyperparameter search, no ablation grid, no multi-seed averaging</a:t>
            </a:r>
          </a:p>
          <a:p>
            <a:pPr lvl="1"/>
            <a:r>
              <a:t>MedGemma NER severely under-trained: 300 of ~1,462 steps per epoch</a:t>
            </a:r>
          </a:p>
          <a:p>
            <a:pPr lvl="1"/>
            <a:r>
              <a:t>BioClinicalBERT trained on US ICU data (MIMIC-III) — potential demographic bias</a:t>
            </a:r>
          </a:p>
          <a:p>
            <a:pPr lvl="1"/>
            <a:r>
              <a:t>Fine-tuning a strong pre-trained medical model requires more care than a general model</a:t>
            </a:r>
          </a:p>
          <a:p>
            <a:r>
              <a:t>Results are directionally valid but not publication-quality.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Near-Term (straightforward)</a:t>
            </a:r>
          </a:p>
          <a:p>
            <a:pPr lvl="1"/>
            <a:r>
              <a:t>Fix CRF notebook (_tied_weights_keys = {}) and run full training</a:t>
            </a:r>
          </a:p>
          <a:p>
            <a:pPr lvl="1"/>
            <a:r>
              <a:t>Run MedGemma NER for 3 full epochs with quantitative seqeval F1</a:t>
            </a:r>
          </a:p>
          <a:p>
            <a:pPr lvl="1"/>
            <a:r>
              <a:t>Add constrained decoding to QA (force output to A/B/C/D)</a:t>
            </a:r>
          </a:p>
          <a:p>
            <a:pPr lvl="1"/>
            <a:r>
              <a:t>Replace BERT QA base model with Longformer — removes 512-token limit</a:t>
            </a:r>
          </a:p>
          <a:p>
            <a:pPr lvl="1"/>
            <a:r>
              <a:t>Add random seeds to all BERT notebooks for reproducibility</a:t>
            </a:r>
          </a:p>
          <a:p>
            <a:r>
              <a:t>Medium-Term (research directions)</a:t>
            </a:r>
          </a:p>
          <a:p>
            <a:pPr lvl="1"/>
            <a:r>
              <a:t>RAG + UMLS retrieval for richer NER context at inference time</a:t>
            </a:r>
          </a:p>
          <a:p>
            <a:pPr lvl="1"/>
            <a:r>
              <a:t>Chain-of-thought prompting for QA reasoning steps</a:t>
            </a:r>
          </a:p>
          <a:p>
            <a:pPr lvl="1"/>
            <a:r>
              <a:t>PubMedBERT as third NER model · Medical summarisation task (originally proposed)</a:t>
            </a:r>
          </a:p>
          <a:p>
            <a:pPr lvl="1"/>
            <a:r>
              <a:t>Evaluate on MIMIC-IV notes for real-world deployment</a:t>
            </a:r>
          </a:p>
          <a:p>
            <a:r>
              <a:t>★  Most impactful: run MedGemma NER for a full epoch to enable a fair head-to-head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Responsible Use &amp; Ethical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⚠  THESE MODELS MUST NOT BE USED FOR CLINICAL DECISIONS</a:t>
            </a:r>
          </a:p>
          <a:p>
            <a:pPr lvl="1"/>
            <a:r>
              <a:t>All outputs require review by a qualified medical professional</a:t>
            </a:r>
          </a:p>
          <a:p>
            <a:r>
              <a:t>Clinical Safety</a:t>
            </a:r>
          </a:p>
          <a:p>
            <a:pPr lvl="1"/>
            <a:r>
              <a:t>MedGemma hallucinates plausible but incorrect clinical facts with high confidence</a:t>
            </a:r>
          </a:p>
          <a:p>
            <a:pPr lvl="1"/>
            <a:r>
              <a:t>NER errors could misclassify diagnoses or medications</a:t>
            </a:r>
          </a:p>
          <a:p>
            <a:pPr lvl="1"/>
            <a:r>
              <a:t>QA accuracy 55% → model is wrong ~44% of the time</a:t>
            </a:r>
          </a:p>
          <a:p>
            <a:pPr lvl="1"/>
            <a:r>
              <a:t>BioClinicalBERT trained on US ICU data — potential bias toward US populations</a:t>
            </a:r>
          </a:p>
          <a:p>
            <a:r>
              <a:t>Data &amp; Licensing</a:t>
            </a:r>
          </a:p>
          <a:p>
            <a:pPr lvl="1"/>
            <a:r>
              <a:t>MedMentions: no license — research exemption only</a:t>
            </a:r>
          </a:p>
          <a:p>
            <a:pPr lvl="1"/>
            <a:r>
              <a:t>MedQA: CC-BY-4.0 · MedGemma: Google Health AI terms (restricts commercial use)</a:t>
            </a:r>
          </a:p>
          <a:p>
            <a:pPr lvl="1"/>
            <a:r>
              <a:t>MIMIC-III (pre-training source): PhysioNet credentialed — not redistributable</a:t>
            </a:r>
          </a:p>
          <a:p>
            <a:r>
              <a:t>All code and models released for educational purposes only.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Video 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/>
              <a:t>Video presentation:</a:t>
            </a:r>
          </a:p>
          <a:p>
            <a:r>
              <a:rPr dirty="0"/>
              <a:t>⟹  [ INSERT VIDEO URL HERE — required for submission ]</a:t>
            </a:r>
          </a:p>
          <a:p>
            <a:endParaRPr dirty="0"/>
          </a:p>
          <a:p>
            <a:r>
              <a:rPr dirty="0"/>
              <a:t>Code &amp; Models:   </a:t>
            </a:r>
            <a:r>
              <a:rPr dirty="0" err="1"/>
              <a:t>huggingface.co</a:t>
            </a:r>
            <a:r>
              <a:rPr dirty="0"/>
              <a:t>/alexd063   (all 4 fine-tuned checkpoints)</a:t>
            </a:r>
          </a:p>
          <a:p>
            <a:r>
              <a:rPr dirty="0"/>
              <a:t>Datasets:   Ben10x/MedMentions-MTI881-NER   ·   </a:t>
            </a:r>
            <a:r>
              <a:rPr dirty="0" err="1"/>
              <a:t>GBaker</a:t>
            </a:r>
            <a:r>
              <a:rPr dirty="0"/>
              <a:t>/MedQA-USMLE-4-options</a:t>
            </a:r>
          </a:p>
          <a:p>
            <a:endParaRPr dirty="0"/>
          </a:p>
          <a:p>
            <a:r>
              <a:rPr dirty="0"/>
              <a:t>A. </a:t>
            </a:r>
            <a:r>
              <a:t>Mykhailovskyi  ·  Harvard Extension School  ·  CSCI E-222  ·  May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248" y="6355080"/>
            <a:ext cx="2898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/>
              <a:t>A. Mykhailovskyi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10647</TotalTime>
  <Words>2079</Words>
  <Application>Microsoft Macintosh PowerPoint</Application>
  <PresentationFormat>On-screen Show (4:3)</PresentationFormat>
  <Paragraphs>216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Wingdings</vt:lpstr>
      <vt:lpstr>Office Theme</vt:lpstr>
      <vt:lpstr>NLP for Healthcare: Medical Text Analysis</vt:lpstr>
      <vt:lpstr>Agenda</vt:lpstr>
      <vt:lpstr>Problem Statement</vt:lpstr>
      <vt:lpstr>Datasets</vt:lpstr>
      <vt:lpstr>Bio_ClinicalBERT — Architecture</vt:lpstr>
      <vt:lpstr>MedGemma-4B — Architecture &amp; QLoRA</vt:lpstr>
      <vt:lpstr>Part 1 · Implementation</vt:lpstr>
      <vt:lpstr>NER: Implementation &amp; Key Decisions</vt:lpstr>
      <vt:lpstr>QA: Implementation &amp; Key Decisions</vt:lpstr>
      <vt:lpstr>Model Output Examples</vt:lpstr>
      <vt:lpstr>Part 2 · Results &amp; Analysis</vt:lpstr>
      <vt:lpstr>Results — Task 1: Named Entity Recognition</vt:lpstr>
      <vt:lpstr>Results — Task 2: Medical Question Answering</vt:lpstr>
      <vt:lpstr>Comparative Analysis: Encoder vs. Decoder</vt:lpstr>
      <vt:lpstr>Discussion: What Worked &amp; What Didn't</vt:lpstr>
      <vt:lpstr>Limitations</vt:lpstr>
      <vt:lpstr>Future Work</vt:lpstr>
      <vt:lpstr>Responsible Use &amp; Ethical Considerations</vt:lpstr>
      <vt:lpstr>Video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zdjordje</dc:creator>
  <cp:lastModifiedBy>Alex Mykhailovskyi</cp:lastModifiedBy>
  <cp:revision>890</cp:revision>
  <cp:lastPrinted>2012-11-30T20:59:45Z</cp:lastPrinted>
  <dcterms:created xsi:type="dcterms:W3CDTF">2006-08-16T00:00:00Z</dcterms:created>
  <dcterms:modified xsi:type="dcterms:W3CDTF">2026-05-15T17:42:50Z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54b7cbc-c708-4bae-92f9-e7d5cd5d68c6_Enabled">
    <vt:lpwstr>true</vt:lpwstr>
  </property>
  <property fmtid="{D5CDD505-2E9C-101B-9397-08002B2CF9AE}" pid="3" name="MSIP_Label_054b7cbc-c708-4bae-92f9-e7d5cd5d68c6_SetDate">
    <vt:lpwstr>2026-05-15T17:42:50Z</vt:lpwstr>
  </property>
  <property fmtid="{D5CDD505-2E9C-101B-9397-08002B2CF9AE}" pid="4" name="MSIP_Label_054b7cbc-c708-4bae-92f9-e7d5cd5d68c6_Method">
    <vt:lpwstr>Standard</vt:lpwstr>
  </property>
  <property fmtid="{D5CDD505-2E9C-101B-9397-08002B2CF9AE}" pid="5" name="MSIP_Label_054b7cbc-c708-4bae-92f9-e7d5cd5d68c6_Name">
    <vt:lpwstr>Internal</vt:lpwstr>
  </property>
  <property fmtid="{D5CDD505-2E9C-101B-9397-08002B2CF9AE}" pid="6" name="MSIP_Label_054b7cbc-c708-4bae-92f9-e7d5cd5d68c6_SiteId">
    <vt:lpwstr>2a35d8fd-574d-48e3-927c-8c398e225a01</vt:lpwstr>
  </property>
  <property fmtid="{D5CDD505-2E9C-101B-9397-08002B2CF9AE}" pid="7" name="MSIP_Label_054b7cbc-c708-4bae-92f9-e7d5cd5d68c6_ActionId">
    <vt:lpwstr>dc4c1e7b-15ed-4648-ab8c-fe0279905b2e</vt:lpwstr>
  </property>
  <property fmtid="{D5CDD505-2E9C-101B-9397-08002B2CF9AE}" pid="8" name="MSIP_Label_054b7cbc-c708-4bae-92f9-e7d5cd5d68c6_ContentBits">
    <vt:lpwstr>0</vt:lpwstr>
  </property>
  <property fmtid="{D5CDD505-2E9C-101B-9397-08002B2CF9AE}" pid="9" name="MSIP_Label_054b7cbc-c708-4bae-92f9-e7d5cd5d68c6_Tag">
    <vt:lpwstr>50, 3, 0, 1</vt:lpwstr>
  </property>
</Properties>
</file>