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72" r:id="rId9"/>
    <p:sldId id="262" r:id="rId10"/>
    <p:sldId id="264" r:id="rId11"/>
    <p:sldId id="273" r:id="rId12"/>
    <p:sldId id="265" r:id="rId13"/>
    <p:sldId id="274" r:id="rId14"/>
    <p:sldId id="266" r:id="rId15"/>
    <p:sldId id="267" r:id="rId16"/>
    <p:sldId id="268" r:id="rId17"/>
    <p:sldId id="271" r:id="rId1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7"/>
    <p:restoredTop sz="94698"/>
  </p:normalViewPr>
  <p:slideViewPr>
    <p:cSldViewPr snapToGrid="0" snapToObjects="1">
      <p:cViewPr>
        <p:scale>
          <a:sx n="127" d="100"/>
          <a:sy n="127" d="100"/>
        </p:scale>
        <p:origin x="-96" y="1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A51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8968" y="1143000"/>
            <a:ext cx="1280160" cy="1463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3716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CSCI E-222 · Foundations of Large Language Models · Spring 2026 · Harvard Extension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97480"/>
            <a:ext cx="112745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A51C30"/>
                </a:solidFill>
              </a:rPr>
              <a:t>NLP for Healthcare: Medical Text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20440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444444"/>
                </a:solidFill>
              </a:rPr>
              <a:t>Fine-tuning &amp; Comparing Encoder vs. Decoder LLMs on Medical NER and Question Answering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1480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66666"/>
                </a:solidFill>
              </a:rPr>
              <a:t>O. Mykhailovskyi · May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Bio_ClinicalBERT · MedGemma-4B | MedMentions NER · MedQA USMLE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solidFill>
                  <a:schemeClr val="bg1"/>
                </a:solidFill>
              </a:rPr>
              <a:t>CSCI E-222 · NLP for Healthcare · O. Mykhailovskyi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576" y="292608"/>
            <a:ext cx="110916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56A8"/>
                </a:solidFill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O.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2 /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868680"/>
            <a:ext cx="41148" cy="777240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98348" y="868680"/>
            <a:ext cx="11233404" cy="77724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941832"/>
            <a:ext cx="11073384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dirty="0">
                <a:solidFill>
                  <a:srgbClr val="1A1A1A"/>
                </a:solidFill>
              </a:rPr>
              <a:t>How do encoder-only (</a:t>
            </a:r>
            <a:r>
              <a:rPr sz="1300" dirty="0" err="1">
                <a:solidFill>
                  <a:srgbClr val="1A1A1A"/>
                </a:solidFill>
              </a:rPr>
              <a:t>BioClinicalBERT</a:t>
            </a:r>
            <a:r>
              <a:rPr sz="1300" dirty="0">
                <a:solidFill>
                  <a:srgbClr val="1A1A1A"/>
                </a:solidFill>
              </a:rPr>
              <a:t>) and decoder-based (MedGemma-4B) architectures compare when fine-tuned on two core medical NLP tasks - NER and QA - under a constrained compute budget?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7830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Why It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084831"/>
            <a:ext cx="5303520" cy="5155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Clinical NLP enables automated chart review, coding &amp; decision support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Domain-specific models outperform general LLMs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6118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Scope Constraints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13632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Single GPU - Google Colab Pro A100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PEFT only (LoRA/QLoRA) for the 4B model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Public, reproducible datasets only
• Original scope (PubMedBERT + summarisation) narrowed due to compute constraints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1783080"/>
            <a:ext cx="41148" cy="914400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076188" y="1783080"/>
            <a:ext cx="5628132" cy="91440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44768" y="1856232"/>
            <a:ext cx="54681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1A1A"/>
                </a:solidFill>
              </a:rPr>
              <a:t>Task 1 - Named Entity Recognition (NER)
Label each token in biomedical text with a UMLS semantic type (e.g., T038 = Biologic Function, T103 = Chemical)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834640"/>
            <a:ext cx="41148" cy="914400"/>
          </a:xfrm>
          <a:prstGeom prst="rect">
            <a:avLst/>
          </a:prstGeom>
          <a:solidFill>
            <a:srgbClr val="1A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076188" y="2834640"/>
            <a:ext cx="5628132" cy="914400"/>
          </a:xfrm>
          <a:prstGeom prst="rect">
            <a:avLst/>
          </a:prstGeom>
          <a:solidFill>
            <a:srgbClr val="E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44768" y="2907792"/>
            <a:ext cx="54681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1A1A"/>
                </a:solidFill>
              </a:rPr>
              <a:t>Task 2 - Medical Question Answering
Select the correct answer (A-D) from USMLE-style clinical questions requiring multi-step medical reasoning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56A8"/>
                </a:solidFill>
              </a:rPr>
              <a:t>Datasets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O.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3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Task 1 · NER - MedMentions MTI881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1727363"/>
              </p:ext>
            </p:extLst>
          </p:nvPr>
        </p:nvGraphicFramePr>
        <p:xfrm>
          <a:off x="457200" y="1170432"/>
          <a:ext cx="2743200" cy="103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14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Split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Samples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23,399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Validation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2,924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2,926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331720"/>
            <a:ext cx="5303520" cy="977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4,392 PubMed abstracts, 350K+ UMLS-annotated mentions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105 entity classes (UMLS semantic types), BIO format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Severe class imbalance: "O" tag = 76% of all tokens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Source: Ben10x/MedMentions-MTI881-NER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868680"/>
            <a:ext cx="283552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1A56A8"/>
                </a:solidFill>
              </a:rPr>
              <a:t>Task 2 · QA - </a:t>
            </a:r>
            <a:r>
              <a:rPr sz="1300" b="1" dirty="0" err="1">
                <a:solidFill>
                  <a:srgbClr val="1A56A8"/>
                </a:solidFill>
              </a:rPr>
              <a:t>MedQA</a:t>
            </a:r>
            <a:r>
              <a:rPr sz="1300" b="1" dirty="0">
                <a:solidFill>
                  <a:srgbClr val="1A56A8"/>
                </a:solidFill>
              </a:rPr>
              <a:t> U</a:t>
            </a:r>
            <a:r>
              <a:rPr lang="en-US" sz="1300" b="1" dirty="0">
                <a:solidFill>
                  <a:srgbClr val="1A56A8"/>
                </a:solidFill>
              </a:rPr>
              <a:t>SMLE</a:t>
            </a:r>
            <a:r>
              <a:rPr sz="1300" b="1" dirty="0">
                <a:solidFill>
                  <a:srgbClr val="1A56A8"/>
                </a:solidFill>
              </a:rPr>
              <a:t>-4-options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217920" y="1170432"/>
          <a:ext cx="2926080" cy="77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99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Split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Samples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99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10,200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99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Test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1,270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217920" y="2057400"/>
            <a:ext cx="5486400" cy="977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USMLE Step 1/2/3 clinical reasoning questions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4-option multiple choice (A-D)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</a:t>
            </a:r>
            <a:r>
              <a:rPr lang="en-US" sz="1250" dirty="0">
                <a:solidFill>
                  <a:srgbClr val="1A1A1A"/>
                </a:solidFill>
              </a:rPr>
              <a:t>Random baseline: 25% · </a:t>
            </a:r>
            <a:r>
              <a:rPr sz="1250" dirty="0">
                <a:solidFill>
                  <a:srgbClr val="1A1A1A"/>
                </a:solidFill>
              </a:rPr>
              <a:t>Human expert: ~90%</a:t>
            </a:r>
            <a:endParaRPr lang="en-US" sz="1250" dirty="0">
              <a:solidFill>
                <a:srgbClr val="1A1A1A"/>
              </a:solidFill>
            </a:endParaRPr>
          </a:p>
          <a:p>
            <a:pPr>
              <a:spcBef>
                <a:spcPts val="300"/>
              </a:spcBef>
            </a:pPr>
            <a:r>
              <a:rPr lang="en-US" sz="1250" dirty="0">
                <a:solidFill>
                  <a:srgbClr val="1A1A1A"/>
                </a:solidFill>
              </a:rPr>
              <a:t>• Source: </a:t>
            </a:r>
            <a:r>
              <a:rPr lang="en-US" sz="1250" dirty="0" err="1">
                <a:solidFill>
                  <a:srgbClr val="1A1A1A"/>
                </a:solidFill>
              </a:rPr>
              <a:t>GBaker</a:t>
            </a:r>
            <a:r>
              <a:rPr lang="en-US" sz="1250" dirty="0">
                <a:solidFill>
                  <a:srgbClr val="1A1A1A"/>
                </a:solidFill>
              </a:rPr>
              <a:t>/MedQA-USMLE-4-options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56A8"/>
                </a:solidFill>
              </a:rPr>
              <a:t>Models &amp; Methods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O.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4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Bio_ClinicalBERT (Encoder)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5303520" cy="1669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110 M parameters, BERT-base architecture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Pre-trained on MIMIC-III clinical notes (~880 M words)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Fine-tuned with full parameter update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NER</a:t>
            </a:r>
            <a:r>
              <a:rPr lang="en-US" sz="1250" dirty="0">
                <a:solidFill>
                  <a:srgbClr val="1A1A1A"/>
                </a:solidFill>
              </a:rPr>
              <a:t> -</a:t>
            </a:r>
            <a:r>
              <a:rPr sz="1250" dirty="0">
                <a:solidFill>
                  <a:srgbClr val="1A1A1A"/>
                </a:solidFill>
              </a:rPr>
              <a:t> Token Classification head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QA</a:t>
            </a:r>
            <a:r>
              <a:rPr lang="en-US" sz="1250" dirty="0">
                <a:solidFill>
                  <a:srgbClr val="1A1A1A"/>
                </a:solidFill>
              </a:rPr>
              <a:t> -</a:t>
            </a:r>
            <a:r>
              <a:rPr sz="1250" dirty="0">
                <a:solidFill>
                  <a:srgbClr val="1A1A1A"/>
                </a:solidFill>
              </a:rPr>
              <a:t> Multiple Choice head (4 seqs</a:t>
            </a:r>
            <a:r>
              <a:rPr lang="en-US" sz="1250" dirty="0">
                <a:solidFill>
                  <a:srgbClr val="1A1A1A"/>
                </a:solidFill>
              </a:rPr>
              <a:t> -</a:t>
            </a:r>
            <a:r>
              <a:rPr sz="1250" dirty="0">
                <a:solidFill>
                  <a:srgbClr val="1A1A1A"/>
                </a:solidFill>
              </a:rPr>
              <a:t> 1 logit each)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Bidirectional attention - strong at classification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Max sequence length: 512 tokens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520440"/>
            <a:ext cx="41148" cy="438912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98348" y="3520440"/>
            <a:ext cx="5262372" cy="43891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" y="3593592"/>
            <a:ext cx="51023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>
                <a:solidFill>
                  <a:srgbClr val="1A1A1A"/>
                </a:solidFill>
              </a:rPr>
              <a:t>Architecture: Input </a:t>
            </a:r>
            <a:r>
              <a:rPr lang="en-US" sz="1100" dirty="0">
                <a:solidFill>
                  <a:srgbClr val="1A1A1A"/>
                </a:solidFill>
              </a:rPr>
              <a:t>-&gt;</a:t>
            </a:r>
            <a:r>
              <a:rPr sz="1100" dirty="0">
                <a:solidFill>
                  <a:srgbClr val="1A1A1A"/>
                </a:solidFill>
              </a:rPr>
              <a:t> [</a:t>
            </a:r>
            <a:r>
              <a:rPr lang="en-US" sz="1100" dirty="0" err="1">
                <a:solidFill>
                  <a:srgbClr val="1A1A1A"/>
                </a:solidFill>
              </a:rPr>
              <a:t>Bio_</a:t>
            </a:r>
            <a:r>
              <a:rPr sz="1100" dirty="0" err="1">
                <a:solidFill>
                  <a:srgbClr val="1A1A1A"/>
                </a:solidFill>
              </a:rPr>
              <a:t>ClinicalBERT</a:t>
            </a:r>
            <a:r>
              <a:rPr sz="1100" dirty="0">
                <a:solidFill>
                  <a:srgbClr val="1A1A1A"/>
                </a:solidFill>
              </a:rPr>
              <a:t>] </a:t>
            </a:r>
            <a:r>
              <a:rPr lang="en-US" sz="1100" dirty="0">
                <a:solidFill>
                  <a:srgbClr val="1A1A1A"/>
                </a:solidFill>
              </a:rPr>
              <a:t>-&gt;</a:t>
            </a:r>
            <a:r>
              <a:rPr sz="1100" dirty="0">
                <a:solidFill>
                  <a:srgbClr val="1A1A1A"/>
                </a:solidFill>
              </a:rPr>
              <a:t> Label / Choice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1648"/>
            <a:ext cx="41148" cy="347472"/>
          </a:xfrm>
          <a:prstGeom prst="rect">
            <a:avLst/>
          </a:prstGeom>
          <a:solidFill>
            <a:srgbClr val="1A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98348" y="4041648"/>
            <a:ext cx="5262372" cy="347472"/>
          </a:xfrm>
          <a:prstGeom prst="rect">
            <a:avLst/>
          </a:prstGeom>
          <a:solidFill>
            <a:srgbClr val="E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6928" y="4114800"/>
            <a:ext cx="51023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>
                <a:solidFill>
                  <a:srgbClr val="1A1A1A"/>
                </a:solidFill>
              </a:rPr>
              <a:t>MIT License</a:t>
            </a:r>
            <a:r>
              <a:rPr lang="en-US" sz="1100" dirty="0">
                <a:solidFill>
                  <a:srgbClr val="1A1A1A"/>
                </a:solidFill>
              </a:rPr>
              <a:t> for dataset usage.</a:t>
            </a:r>
            <a:endParaRPr sz="1100" dirty="0">
              <a:solidFill>
                <a:srgbClr val="1A1A1A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21792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MedGemma-4B-IT (Decoder + QLoRA)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170432"/>
            <a:ext cx="5486400" cy="1669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4.3 B parameters, Gemma-3 architecture, 128 K context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Pre-trained on medical images + text (Google Health AI)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PEFT: </a:t>
            </a:r>
            <a:r>
              <a:rPr sz="1250" dirty="0" err="1">
                <a:solidFill>
                  <a:srgbClr val="1A1A1A"/>
                </a:solidFill>
              </a:rPr>
              <a:t>QLoRA</a:t>
            </a:r>
            <a:r>
              <a:rPr sz="1250" dirty="0">
                <a:solidFill>
                  <a:srgbClr val="1A1A1A"/>
                </a:solidFill>
              </a:rPr>
              <a:t> (4-bit NF4 + </a:t>
            </a:r>
            <a:r>
              <a:rPr sz="1250" dirty="0" err="1">
                <a:solidFill>
                  <a:srgbClr val="1A1A1A"/>
                </a:solidFill>
              </a:rPr>
              <a:t>LoRA</a:t>
            </a:r>
            <a:r>
              <a:rPr sz="1250" dirty="0">
                <a:solidFill>
                  <a:srgbClr val="1A1A1A"/>
                </a:solidFill>
              </a:rPr>
              <a:t> rank 16, alpha 16)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Only 0.76% of parameters trainable (~33 M)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NER </a:t>
            </a:r>
            <a:r>
              <a:rPr lang="en-US" sz="1250" dirty="0">
                <a:solidFill>
                  <a:srgbClr val="1A1A1A"/>
                </a:solidFill>
              </a:rPr>
              <a:t>-</a:t>
            </a:r>
            <a:r>
              <a:rPr sz="1250" dirty="0">
                <a:solidFill>
                  <a:srgbClr val="1A1A1A"/>
                </a:solidFill>
              </a:rPr>
              <a:t> generative: "token: tag, token: tag …"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QA </a:t>
            </a:r>
            <a:r>
              <a:rPr lang="en-US" sz="1250" dirty="0">
                <a:solidFill>
                  <a:srgbClr val="1A1A1A"/>
                </a:solidFill>
              </a:rPr>
              <a:t>-</a:t>
            </a:r>
            <a:r>
              <a:rPr sz="1250" dirty="0">
                <a:solidFill>
                  <a:srgbClr val="1A1A1A"/>
                </a:solidFill>
              </a:rPr>
              <a:t> generative: outputs a single letter A / B / C / D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2× training speed via </a:t>
            </a:r>
            <a:r>
              <a:rPr sz="1250" dirty="0" err="1">
                <a:solidFill>
                  <a:srgbClr val="1A1A1A"/>
                </a:solidFill>
              </a:rPr>
              <a:t>Unsloth</a:t>
            </a:r>
            <a:r>
              <a:rPr sz="1250" dirty="0">
                <a:solidFill>
                  <a:srgbClr val="1A1A1A"/>
                </a:solidFill>
              </a:rPr>
              <a:t> optimization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493008"/>
            <a:ext cx="1737360" cy="713232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17920" y="358444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A56A8"/>
                </a:solidFill>
              </a:rPr>
              <a:t>33 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395020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Trainable params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20" y="3493008"/>
            <a:ext cx="1737360" cy="713232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0" y="358444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A56A8"/>
                </a:solidFill>
              </a:rPr>
              <a:t>4-bit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95020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NF4 quantization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3493008"/>
            <a:ext cx="1737360" cy="713232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75520" y="3584448"/>
            <a:ext cx="17373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1A7A40"/>
                </a:solidFill>
              </a:rPr>
              <a:t>128k</a:t>
            </a:r>
            <a:endParaRPr sz="2400" b="1" dirty="0">
              <a:solidFill>
                <a:srgbClr val="1A7A4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9875520" y="3950208"/>
            <a:ext cx="17373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666666"/>
                </a:solidFill>
              </a:rPr>
              <a:t>Context window</a:t>
            </a:r>
            <a:endParaRPr sz="1000" b="0" dirty="0">
              <a:solidFill>
                <a:srgbClr val="666666"/>
              </a:solidFill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217920" y="4315968"/>
            <a:ext cx="411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59068" y="4315968"/>
            <a:ext cx="5445252" cy="34747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300216" y="4410974"/>
            <a:ext cx="528523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1A1A1A"/>
                </a:solidFill>
              </a:rPr>
              <a:t>Acceptance of Google Terms of Usage is required for model usage.</a:t>
            </a:r>
            <a:endParaRPr sz="1100" dirty="0">
              <a:solidFill>
                <a:srgbClr val="1A1A1A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2327817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dirty="0">
                <a:solidFill>
                  <a:srgbClr val="1A56A8"/>
                </a:solidFill>
              </a:rPr>
              <a:t>Task 1 - NER: </a:t>
            </a:r>
            <a:r>
              <a:rPr lang="en-US" sz="2200" b="1" dirty="0">
                <a:solidFill>
                  <a:srgbClr val="1A56A8"/>
                </a:solidFill>
              </a:rPr>
              <a:t>BERT</a:t>
            </a:r>
            <a:endParaRPr sz="2200" b="1" dirty="0">
              <a:solidFill>
                <a:srgbClr val="1A56A8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O.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5 /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1114882" y="960120"/>
            <a:ext cx="563727" cy="274320"/>
          </a:xfrm>
          <a:prstGeom prst="rect">
            <a:avLst/>
          </a:prstGeom>
          <a:solidFill>
            <a:srgbClr val="1A56A8"/>
          </a:solidFill>
          <a:ln>
            <a:solidFill>
              <a:srgbClr val="1A5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14882" y="960120"/>
            <a:ext cx="563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298448"/>
            <a:ext cx="18790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</a:rPr>
              <a:t>Load
MedMentions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78609" y="1069848"/>
            <a:ext cx="657682" cy="45720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993974" y="960120"/>
            <a:ext cx="563727" cy="274320"/>
          </a:xfrm>
          <a:prstGeom prst="rect">
            <a:avLst/>
          </a:prstGeom>
          <a:solidFill>
            <a:srgbClr val="1A56A8"/>
          </a:solidFill>
          <a:ln>
            <a:solidFill>
              <a:srgbClr val="1A5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993974" y="960120"/>
            <a:ext cx="563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6292" y="1298448"/>
            <a:ext cx="18790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</a:rPr>
              <a:t>Tokenize +
align labels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57701" y="1069848"/>
            <a:ext cx="657682" cy="45720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873066" y="960120"/>
            <a:ext cx="563727" cy="274320"/>
          </a:xfrm>
          <a:prstGeom prst="rect">
            <a:avLst/>
          </a:prstGeom>
          <a:solidFill>
            <a:srgbClr val="1A56A8"/>
          </a:solidFill>
          <a:ln>
            <a:solidFill>
              <a:srgbClr val="1A5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73066" y="960120"/>
            <a:ext cx="563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15384" y="1298448"/>
            <a:ext cx="18790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</a:rPr>
              <a:t>Compute
class weights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36793" y="1069848"/>
            <a:ext cx="657682" cy="45720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752158" y="960120"/>
            <a:ext cx="563727" cy="274320"/>
          </a:xfrm>
          <a:prstGeom prst="rect">
            <a:avLst/>
          </a:prstGeom>
          <a:solidFill>
            <a:srgbClr val="1A56A8"/>
          </a:solidFill>
          <a:ln>
            <a:solidFill>
              <a:srgbClr val="1A5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752158" y="960120"/>
            <a:ext cx="563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4476" y="1298448"/>
            <a:ext cx="18790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</a:rPr>
              <a:t>WeightedTrainer
fine-tune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885" y="1069848"/>
            <a:ext cx="657682" cy="45720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631250" y="960120"/>
            <a:ext cx="563727" cy="274320"/>
          </a:xfrm>
          <a:prstGeom prst="rect">
            <a:avLst/>
          </a:prstGeom>
          <a:solidFill>
            <a:srgbClr val="1A56A8"/>
          </a:solidFill>
          <a:ln>
            <a:solidFill>
              <a:srgbClr val="1A5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31250" y="960120"/>
            <a:ext cx="563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73568" y="1298448"/>
            <a:ext cx="18790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</a:rPr>
              <a:t>seqeval F1
evaluation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94977" y="1069848"/>
            <a:ext cx="657682" cy="45720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0510342" y="960120"/>
            <a:ext cx="563727" cy="274320"/>
          </a:xfrm>
          <a:prstGeom prst="rect">
            <a:avLst/>
          </a:prstGeom>
          <a:solidFill>
            <a:srgbClr val="1A56A8"/>
          </a:solidFill>
          <a:ln>
            <a:solidFill>
              <a:srgbClr val="1A5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510342" y="960120"/>
            <a:ext cx="563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52660" y="1298448"/>
            <a:ext cx="18790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</a:rPr>
              <a:t>Push to
HF Hub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1874519"/>
            <a:ext cx="1719702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300" b="1" dirty="0">
                <a:solidFill>
                  <a:srgbClr val="1A56A8"/>
                </a:solidFill>
              </a:rPr>
              <a:t>Training Configuration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1874519"/>
            <a:ext cx="137588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300" b="1" dirty="0">
                <a:solidFill>
                  <a:srgbClr val="1A56A8"/>
                </a:solidFill>
              </a:rPr>
              <a:t>Two</a:t>
            </a:r>
            <a:r>
              <a:rPr sz="1300" b="1" dirty="0">
                <a:solidFill>
                  <a:srgbClr val="1A56A8"/>
                </a:solidFill>
              </a:rPr>
              <a:t> Experiments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4490171"/>
              </p:ext>
            </p:extLst>
          </p:nvPr>
        </p:nvGraphicFramePr>
        <p:xfrm>
          <a:off x="6217920" y="2176272"/>
          <a:ext cx="5486400" cy="16261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9748"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Notebook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changed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Checkpoint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A56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9748"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01-baseline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Standard fine-tuning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alexd063/bio-</a:t>
                      </a:r>
                      <a:r>
                        <a:rPr lang="en-US" sz="11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clinicalbert</a:t>
                      </a:r>
                      <a:r>
                        <a:rPr 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-finetuned-</a:t>
                      </a:r>
                      <a:r>
                        <a:rPr lang="en-US" sz="11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medmentions</a:t>
                      </a:r>
                      <a:endParaRPr lang="en-US" sz="11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sz="1100" dirty="0">
                        <a:solidFill>
                          <a:srgbClr val="1A1A1A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97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02-weighted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Class weights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alexd063/bio-clinicalbert-finetuned-medmentions-v1</a:t>
                      </a:r>
                      <a:endParaRPr sz="1100" dirty="0">
                        <a:solidFill>
                          <a:srgbClr val="1A1A1A"/>
                        </a:solidFill>
                      </a:endParaRPr>
                    </a:p>
                  </a:txBody>
                  <a:tcPr>
                    <a:solidFill>
                      <a:srgbClr val="F5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9" name="Rectangle 38"/>
          <p:cNvSpPr/>
          <p:nvPr/>
        </p:nvSpPr>
        <p:spPr>
          <a:xfrm>
            <a:off x="457200" y="4297680"/>
            <a:ext cx="41148" cy="530352"/>
          </a:xfrm>
          <a:prstGeom prst="rect">
            <a:avLst/>
          </a:prstGeom>
          <a:solidFill>
            <a:srgbClr val="1A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98348" y="4297680"/>
            <a:ext cx="11205972" cy="530352"/>
          </a:xfrm>
          <a:prstGeom prst="rect">
            <a:avLst/>
          </a:prstGeom>
          <a:solidFill>
            <a:srgbClr val="E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66928" y="4370832"/>
            <a:ext cx="110459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dirty="0">
                <a:solidFill>
                  <a:srgbClr val="1A1A1A"/>
                </a:solidFill>
              </a:rPr>
              <a:t>Class weighting was the single most impactful decision - without it the model collapses to predicting 'O' for all tokens.</a:t>
            </a:r>
          </a:p>
        </p:txBody>
      </p:sp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535EF6DA-0606-E1D0-D871-CE4FC4658C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7758727"/>
              </p:ext>
            </p:extLst>
          </p:nvPr>
        </p:nvGraphicFramePr>
        <p:xfrm>
          <a:off x="548640" y="2216844"/>
          <a:ext cx="5348838" cy="16327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82946">
                  <a:extLst>
                    <a:ext uri="{9D8B030D-6E8A-4147-A177-3AD203B41FA5}">
                      <a16:colId xmlns:a16="http://schemas.microsoft.com/office/drawing/2014/main" val="211335415"/>
                    </a:ext>
                  </a:extLst>
                </a:gridCol>
                <a:gridCol w="1782946">
                  <a:extLst>
                    <a:ext uri="{9D8B030D-6E8A-4147-A177-3AD203B41FA5}">
                      <a16:colId xmlns:a16="http://schemas.microsoft.com/office/drawing/2014/main" val="2694271668"/>
                    </a:ext>
                  </a:extLst>
                </a:gridCol>
                <a:gridCol w="1782946">
                  <a:extLst>
                    <a:ext uri="{9D8B030D-6E8A-4147-A177-3AD203B41FA5}">
                      <a16:colId xmlns:a16="http://schemas.microsoft.com/office/drawing/2014/main" val="8321966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Model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Hyperparameter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effectLst/>
                        </a:rPr>
                        <a:t>Value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579296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Baseline &amp; Weighted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MAX_LENGTH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512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8612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Baseline &amp; Weighted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BATCH_SIZE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16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6771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Baseline &amp; Weighted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EPOCHS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20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6849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Baseline &amp; Weighted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WARMUP_RATIO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0.1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85514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Baseline &amp; Weighted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WEIGHT_DECAY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0.01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160879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Baseline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LEARNING_RATE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2e-5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7788044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Weighted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LEARNING_RATE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6e-5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280021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Baseline &amp; Weighted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LR_SCHEDULER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effectLst/>
                        </a:rPr>
                        <a:t>cosine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9704793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56A8"/>
                </a:solidFill>
              </a:rPr>
              <a:t>Task 1 - NER: MedGemma-4B with QLoRA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O.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6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Generative NER Approach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143000"/>
            <a:ext cx="41148" cy="84124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98348" y="1143000"/>
            <a:ext cx="5445252" cy="8412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1216152"/>
            <a:ext cx="52852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dirty="0">
                <a:solidFill>
                  <a:srgbClr val="1A1A1A"/>
                </a:solidFill>
              </a:rPr>
              <a:t>Unlike token classification, </a:t>
            </a:r>
            <a:r>
              <a:rPr sz="1200" dirty="0" err="1">
                <a:solidFill>
                  <a:srgbClr val="1A1A1A"/>
                </a:solidFill>
              </a:rPr>
              <a:t>MedGemma</a:t>
            </a:r>
            <a:r>
              <a:rPr sz="1200" dirty="0">
                <a:solidFill>
                  <a:srgbClr val="1A1A1A"/>
                </a:solidFill>
              </a:rPr>
              <a:t> generates a text sequence:
"aspirin: B-T103, prescribed: O, daily: O, …"
Each token is explicitly labelled in the output text.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112264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1A56A8"/>
                </a:solidFill>
              </a:rPr>
              <a:t>Training Configuration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" y="5005111"/>
            <a:ext cx="530352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 dirty="0">
                <a:solidFill>
                  <a:srgbClr val="1A1A1A"/>
                </a:solidFill>
              </a:rPr>
              <a:t>• Checkpoint: </a:t>
            </a:r>
            <a:r>
              <a:rPr lang="en-US" sz="1200" dirty="0"/>
              <a:t>alexd063/</a:t>
            </a:r>
            <a:r>
              <a:rPr lang="en-US" sz="1200" dirty="0" err="1"/>
              <a:t>medgemma</a:t>
            </a:r>
            <a:r>
              <a:rPr lang="en-US" sz="1200" dirty="0"/>
              <a:t>-finetuned-</a:t>
            </a:r>
            <a:r>
              <a:rPr lang="en-US" sz="1200" dirty="0" err="1"/>
              <a:t>medmentions</a:t>
            </a:r>
            <a:r>
              <a:rPr lang="en-US" sz="1200" dirty="0"/>
              <a:t>-</a:t>
            </a:r>
            <a:r>
              <a:rPr lang="en-US" sz="1200" dirty="0" err="1"/>
              <a:t>ner</a:t>
            </a:r>
            <a:endParaRPr sz="1200" dirty="0">
              <a:solidFill>
                <a:srgbClr val="1A1A1A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43484" y="5601259"/>
            <a:ext cx="41148" cy="62179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" y="5582412"/>
            <a:ext cx="5445252" cy="62179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6928" y="5696712"/>
            <a:ext cx="528523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>
                <a:solidFill>
                  <a:srgbClr val="1A1A1A"/>
                </a:solidFill>
              </a:rPr>
              <a:t>Only 300 of ~1,462 steps trained (underfitting).
Parsing 'token: tag' format from free text is </a:t>
            </a:r>
            <a:r>
              <a:rPr lang="en-US" sz="1100" dirty="0">
                <a:solidFill>
                  <a:srgbClr val="1A1A1A"/>
                </a:solidFill>
              </a:rPr>
              <a:t>unreliable</a:t>
            </a:r>
            <a:r>
              <a:rPr sz="1100" dirty="0">
                <a:solidFill>
                  <a:srgbClr val="1A1A1A"/>
                </a:solidFill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Prompt Format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143000"/>
            <a:ext cx="5486400" cy="2286000"/>
          </a:xfrm>
          <a:prstGeom prst="rect">
            <a:avLst/>
          </a:prstGeom>
          <a:solidFill>
            <a:srgbClr val="F5F8FF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1234440"/>
            <a:ext cx="5120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dirty="0">
                <a:solidFill>
                  <a:srgbClr val="1A1A1A"/>
                </a:solidFill>
              </a:rPr>
              <a:t>### Instruction:
Extract medical entities and label
each token with its NER tag.
### Input:
Patient presents with acute appendicitis
and elevated CRP levels.
### Response:
Patient: O, presents: O, with: O,
acute: B-T047, appendicitis: I-T047,
and: O, elevated: O, CRP: B-T059, 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3547872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Key Limitation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3822191"/>
            <a:ext cx="41148" cy="6858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59068" y="3822191"/>
            <a:ext cx="5445252" cy="685800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27648" y="3895343"/>
            <a:ext cx="528523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>
                <a:solidFill>
                  <a:srgbClr val="1A1A1A"/>
                </a:solidFill>
              </a:rPr>
              <a:t>Generative NER is promisin</a:t>
            </a:r>
            <a:r>
              <a:rPr lang="en-US" sz="1100" dirty="0">
                <a:solidFill>
                  <a:srgbClr val="1A1A1A"/>
                </a:solidFill>
              </a:rPr>
              <a:t>g </a:t>
            </a:r>
            <a:r>
              <a:rPr sz="1100" dirty="0">
                <a:solidFill>
                  <a:srgbClr val="1A1A1A"/>
                </a:solidFill>
              </a:rPr>
              <a:t>but requires structured output enforcement (constrained decoding or JSON mode) to be reliable.</a:t>
            </a:r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B3E9E521-E935-8243-8643-41EAD2E24B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5918601"/>
              </p:ext>
            </p:extLst>
          </p:nvPr>
        </p:nvGraphicFramePr>
        <p:xfrm>
          <a:off x="499110" y="2395728"/>
          <a:ext cx="3981450" cy="23584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90725">
                  <a:extLst>
                    <a:ext uri="{9D8B030D-6E8A-4147-A177-3AD203B41FA5}">
                      <a16:colId xmlns:a16="http://schemas.microsoft.com/office/drawing/2014/main" val="1217685546"/>
                    </a:ext>
                  </a:extLst>
                </a:gridCol>
                <a:gridCol w="1990725">
                  <a:extLst>
                    <a:ext uri="{9D8B030D-6E8A-4147-A177-3AD203B41FA5}">
                      <a16:colId xmlns:a16="http://schemas.microsoft.com/office/drawing/2014/main" val="10402459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Hyperparameter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Value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951944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MAX_SEQ_LENGTH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512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810212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LORA_R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16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713338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LORA_ALPHA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16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381781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LORA_DROPOUT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3384775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BATCH_SIZE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4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53794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GRAD_ACCUM_STEPS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4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922197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LEARNING_RATE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2e-4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321563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MAX_STEPS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300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365544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WARMUP_STEPS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30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634384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WEIGHT_DECAY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0.01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943782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TARGET_MODULES (LORA)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q_proj, v_proj, k_proj, o_proj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478440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effectLst/>
                        </a:rPr>
                        <a:t>LR_SCHEDULER_TYPE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effectLst/>
                        </a:rPr>
                        <a:t>cosine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2627409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56A8"/>
                </a:solidFill>
              </a:rPr>
              <a:t>Results - Task 1: Named Entity Recognition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O.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900" dirty="0">
                <a:solidFill>
                  <a:srgbClr val="666666"/>
                </a:solidFill>
              </a:rPr>
              <a:t>7</a:t>
            </a:r>
            <a:r>
              <a:rPr sz="900" b="0" dirty="0">
                <a:solidFill>
                  <a:srgbClr val="666666"/>
                </a:solidFill>
              </a:rPr>
              <a:t> /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868680"/>
            <a:ext cx="2651760" cy="822960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96012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A7A40"/>
                </a:solidFill>
              </a:rPr>
              <a:t>0.65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2588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BioClinicalBERT
Macro F1 (full test)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868680"/>
            <a:ext cx="2651760" cy="822960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96012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E67E22"/>
                </a:solidFill>
              </a:rPr>
              <a:t>0.27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132588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MedGemma
F1 (10% subset)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868680"/>
            <a:ext cx="2651760" cy="822960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035040" y="96012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A56A8"/>
                </a:solidFill>
              </a:rPr>
              <a:t>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132588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Entity classes
(UMLS types)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23960" y="868680"/>
            <a:ext cx="2651760" cy="822960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23960" y="960120"/>
            <a:ext cx="2651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>
                <a:solidFill>
                  <a:srgbClr val="C00000"/>
                </a:solidFill>
              </a:rPr>
              <a:t>76%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132588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"O" tokens
(class imbalance)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874519"/>
            <a:ext cx="3024354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 err="1">
                <a:solidFill>
                  <a:srgbClr val="1A56A8"/>
                </a:solidFill>
              </a:rPr>
              <a:t>BioClinicalBERT</a:t>
            </a:r>
            <a:r>
              <a:rPr sz="1300" b="1" dirty="0">
                <a:solidFill>
                  <a:srgbClr val="1A56A8"/>
                </a:solidFill>
              </a:rPr>
              <a:t> </a:t>
            </a:r>
            <a:r>
              <a:rPr lang="en-US" sz="1300" b="1" dirty="0">
                <a:solidFill>
                  <a:srgbClr val="1A56A8"/>
                </a:solidFill>
              </a:rPr>
              <a:t>–</a:t>
            </a:r>
            <a:r>
              <a:rPr sz="1300" b="1" dirty="0">
                <a:solidFill>
                  <a:srgbClr val="1A56A8"/>
                </a:solidFill>
              </a:rPr>
              <a:t> </a:t>
            </a:r>
            <a:r>
              <a:rPr lang="en-US" sz="1300" b="1" dirty="0">
                <a:solidFill>
                  <a:srgbClr val="1A56A8"/>
                </a:solidFill>
              </a:rPr>
              <a:t>Per-</a:t>
            </a:r>
            <a:r>
              <a:rPr sz="1300" b="1" dirty="0">
                <a:solidFill>
                  <a:srgbClr val="1A56A8"/>
                </a:solidFill>
              </a:rPr>
              <a:t>Entity Performance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1937737"/>
              </p:ext>
            </p:extLst>
          </p:nvPr>
        </p:nvGraphicFramePr>
        <p:xfrm>
          <a:off x="457200" y="2176272"/>
          <a:ext cx="53035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Top performers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Bottom performers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</a:rPr>
                        <a:t>T204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0.8</a:t>
                      </a:r>
                      <a:endParaRPr sz="1100" dirty="0">
                        <a:solidFill>
                          <a:srgbClr val="1A1A1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</a:rPr>
                        <a:t>T059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</a:rPr>
                        <a:t>T103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0.75</a:t>
                      </a:r>
                      <a:endParaRPr sz="1100" dirty="0">
                        <a:solidFill>
                          <a:srgbClr val="1A1A1A"/>
                        </a:solidFill>
                      </a:endParaRP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</a:rPr>
                        <a:t>T024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</a:rPr>
                        <a:t>T017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0.73</a:t>
                      </a:r>
                      <a:endParaRPr sz="1100" dirty="0">
                        <a:solidFill>
                          <a:srgbClr val="1A1A1A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</a:rPr>
                        <a:t>T081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1A"/>
                          </a:solidFill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6238496" y="4704587"/>
            <a:ext cx="45719" cy="905256"/>
          </a:xfrm>
          <a:prstGeom prst="rect">
            <a:avLst/>
          </a:prstGeom>
          <a:solidFill>
            <a:srgbClr val="1A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286500" y="4722875"/>
            <a:ext cx="5445252" cy="905257"/>
          </a:xfrm>
          <a:prstGeom prst="rect">
            <a:avLst/>
          </a:prstGeom>
          <a:solidFill>
            <a:srgbClr val="E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27648" y="4809884"/>
            <a:ext cx="5102352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1A1A1A"/>
                </a:solidFill>
              </a:rPr>
              <a:t>Peer</a:t>
            </a:r>
            <a:r>
              <a:rPr sz="1100" dirty="0">
                <a:solidFill>
                  <a:srgbClr val="1A1A1A"/>
                </a:solidFill>
              </a:rPr>
              <a:t> baselines: </a:t>
            </a:r>
            <a:r>
              <a:rPr sz="1100" dirty="0" err="1">
                <a:solidFill>
                  <a:srgbClr val="1A1A1A"/>
                </a:solidFill>
              </a:rPr>
              <a:t>TaggerOne</a:t>
            </a:r>
            <a:r>
              <a:rPr sz="1100" dirty="0">
                <a:solidFill>
                  <a:srgbClr val="1A1A1A"/>
                </a:solidFill>
              </a:rPr>
              <a:t> F1=0.453 · BERT ceiling 0.56</a:t>
            </a:r>
            <a:r>
              <a:rPr lang="en-US" sz="1100" dirty="0">
                <a:solidFill>
                  <a:srgbClr val="1A1A1A"/>
                </a:solidFill>
              </a:rPr>
              <a:t>, </a:t>
            </a:r>
            <a:r>
              <a:rPr sz="1100" dirty="0">
                <a:solidFill>
                  <a:srgbClr val="1A1A1A"/>
                </a:solidFill>
              </a:rPr>
              <a:t>this project exceeds </a:t>
            </a:r>
            <a:r>
              <a:rPr lang="en-US" sz="1100" dirty="0">
                <a:solidFill>
                  <a:srgbClr val="1A1A1A"/>
                </a:solidFill>
              </a:rPr>
              <a:t>this metric.</a:t>
            </a:r>
            <a:r>
              <a:rPr sz="1100" dirty="0">
                <a:solidFill>
                  <a:srgbClr val="1A1A1A"/>
                </a:solidFill>
              </a:rPr>
              <a:t>
Encoder architecture is clearly better at token-level classification.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1874519"/>
            <a:ext cx="91057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1A56A8"/>
                </a:solidFill>
              </a:rPr>
              <a:t>Evaluation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19" y="2176272"/>
            <a:ext cx="45719" cy="719036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259068" y="2176272"/>
            <a:ext cx="5445252" cy="719036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327648" y="2249424"/>
            <a:ext cx="5285232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>
                <a:solidFill>
                  <a:srgbClr val="1A1A1A"/>
                </a:solidFill>
              </a:rPr>
              <a:t>Asymmetric evaluation: </a:t>
            </a:r>
            <a:r>
              <a:rPr sz="1100" dirty="0" err="1">
                <a:solidFill>
                  <a:srgbClr val="1A1A1A"/>
                </a:solidFill>
              </a:rPr>
              <a:t>BioClinicalBERT</a:t>
            </a:r>
            <a:r>
              <a:rPr sz="1100" dirty="0">
                <a:solidFill>
                  <a:srgbClr val="1A1A1A"/>
                </a:solidFill>
              </a:rPr>
              <a:t> was evaluated on the full test split</a:t>
            </a:r>
            <a:r>
              <a:rPr lang="en-US" sz="1100" dirty="0">
                <a:solidFill>
                  <a:srgbClr val="1A1A1A"/>
                </a:solidFill>
              </a:rPr>
              <a:t>;</a:t>
            </a:r>
          </a:p>
          <a:p>
            <a:r>
              <a:rPr sz="1100" dirty="0" err="1">
                <a:solidFill>
                  <a:srgbClr val="1A1A1A"/>
                </a:solidFill>
              </a:rPr>
              <a:t>MedGemma</a:t>
            </a:r>
            <a:r>
              <a:rPr sz="1100" dirty="0">
                <a:solidFill>
                  <a:srgbClr val="1A1A1A"/>
                </a:solidFill>
              </a:rPr>
              <a:t> only on a 10% subset due to slow inference.
Direct F1 comparison is not </a:t>
            </a:r>
            <a:r>
              <a:rPr lang="en-US" sz="1100" dirty="0">
                <a:solidFill>
                  <a:srgbClr val="1A1A1A"/>
                </a:solidFill>
              </a:rPr>
              <a:t>completely fair</a:t>
            </a:r>
            <a:r>
              <a:rPr sz="1100" dirty="0">
                <a:solidFill>
                  <a:srgbClr val="1A1A1A"/>
                </a:solidFill>
              </a:rPr>
              <a:t>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3291840"/>
            <a:ext cx="2111284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1A56A8"/>
                </a:solidFill>
              </a:rPr>
              <a:t>Cause of Low Overall Scores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3593592"/>
            <a:ext cx="41148" cy="80467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59068" y="3593592"/>
            <a:ext cx="5445252" cy="804672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27648" y="3666744"/>
            <a:ext cx="528523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 err="1">
                <a:solidFill>
                  <a:srgbClr val="1A1A1A"/>
                </a:solidFill>
              </a:rPr>
              <a:t>MedMentions</a:t>
            </a:r>
            <a:r>
              <a:rPr sz="1100" dirty="0">
                <a:solidFill>
                  <a:srgbClr val="1A1A1A"/>
                </a:solidFill>
              </a:rPr>
              <a:t> has 127 UMLS semantic types; the dataset inclu</a:t>
            </a:r>
            <a:r>
              <a:rPr lang="en-US" sz="1100" dirty="0">
                <a:solidFill>
                  <a:srgbClr val="1A1A1A"/>
                </a:solidFill>
              </a:rPr>
              <a:t>des</a:t>
            </a:r>
            <a:r>
              <a:rPr sz="1100" dirty="0">
                <a:solidFill>
                  <a:srgbClr val="1A1A1A"/>
                </a:solidFill>
              </a:rPr>
              <a:t> many with &lt; 5 training examples</a:t>
            </a:r>
            <a:r>
              <a:rPr lang="en-US" sz="1100" dirty="0">
                <a:solidFill>
                  <a:srgbClr val="1A1A1A"/>
                </a:solidFill>
              </a:rPr>
              <a:t>, creating a fundamental underfitting errors for models.</a:t>
            </a:r>
            <a:endParaRPr sz="1100" dirty="0">
              <a:solidFill>
                <a:srgbClr val="1A1A1A"/>
              </a:solidFill>
            </a:endParaRPr>
          </a:p>
        </p:txBody>
      </p:sp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98322D22-1B99-0126-826F-E9BF910ECC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6118858"/>
              </p:ext>
            </p:extLst>
          </p:nvPr>
        </p:nvGraphicFramePr>
        <p:xfrm>
          <a:off x="457200" y="3915992"/>
          <a:ext cx="5303520" cy="7256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67840">
                  <a:extLst>
                    <a:ext uri="{9D8B030D-6E8A-4147-A177-3AD203B41FA5}">
                      <a16:colId xmlns:a16="http://schemas.microsoft.com/office/drawing/2014/main" val="1318554875"/>
                    </a:ext>
                  </a:extLst>
                </a:gridCol>
                <a:gridCol w="1767840">
                  <a:extLst>
                    <a:ext uri="{9D8B030D-6E8A-4147-A177-3AD203B41FA5}">
                      <a16:colId xmlns:a16="http://schemas.microsoft.com/office/drawing/2014/main" val="1670163812"/>
                    </a:ext>
                  </a:extLst>
                </a:gridCol>
                <a:gridCol w="1767840">
                  <a:extLst>
                    <a:ext uri="{9D8B030D-6E8A-4147-A177-3AD203B41FA5}">
                      <a16:colId xmlns:a16="http://schemas.microsoft.com/office/drawing/2014/main" val="10303341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effectLst/>
                        </a:rPr>
                        <a:t>Model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effectLst/>
                        </a:rPr>
                        <a:t>Support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effectLst/>
                        </a:rPr>
                        <a:t>Macro F1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255717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Baseline Bio_ClinicalBERT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11,772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0.65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980304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Weighted Bio_ClinicalBERT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effectLst/>
                        </a:rPr>
                        <a:t>11,772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0.65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89852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MedGemma-4B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effectLst/>
                        </a:rPr>
                        <a:t>1,221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effectLst/>
                        </a:rPr>
                        <a:t>0.27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64178470"/>
                  </a:ext>
                </a:extLst>
              </a:tr>
            </a:tbl>
          </a:graphicData>
        </a:graphic>
      </p:graphicFrame>
      <p:sp>
        <p:nvSpPr>
          <p:cNvPr id="38" name="TextBox 37">
            <a:extLst>
              <a:ext uri="{FF2B5EF4-FFF2-40B4-BE49-F238E27FC236}">
                <a16:creationId xmlns:a16="http://schemas.microsoft.com/office/drawing/2014/main" id="{47D7CCEC-12E9-7490-F983-1C8E2427F314}"/>
              </a:ext>
            </a:extLst>
          </p:cNvPr>
          <p:cNvSpPr txBox="1"/>
          <p:nvPr/>
        </p:nvSpPr>
        <p:spPr>
          <a:xfrm>
            <a:off x="457200" y="3520550"/>
            <a:ext cx="167542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1" dirty="0">
                <a:solidFill>
                  <a:srgbClr val="1A56A8"/>
                </a:solidFill>
              </a:rPr>
              <a:t>P</a:t>
            </a:r>
            <a:r>
              <a:rPr sz="1300" b="1" dirty="0">
                <a:solidFill>
                  <a:srgbClr val="1A56A8"/>
                </a:solidFill>
              </a:rPr>
              <a:t>erformance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0AE469-6CE7-919A-C781-FE2EA4B5573F}"/>
              </a:ext>
            </a:extLst>
          </p:cNvPr>
          <p:cNvSpPr txBox="1"/>
          <p:nvPr/>
        </p:nvSpPr>
        <p:spPr>
          <a:xfrm>
            <a:off x="6217919" y="4421343"/>
            <a:ext cx="559833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300" b="1" dirty="0">
                <a:solidFill>
                  <a:srgbClr val="1A56A8"/>
                </a:solidFill>
              </a:rPr>
              <a:t>Peers</a:t>
            </a:r>
            <a:endParaRPr sz="1300" b="1" dirty="0">
              <a:solidFill>
                <a:srgbClr val="1A56A8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56A8"/>
                </a:solidFill>
              </a:rPr>
              <a:t>NER Training Analysis - Bio_ClinicalBERT (Weighted)</a:t>
            </a:r>
          </a:p>
        </p:txBody>
      </p:sp>
      <p:pic>
        <p:nvPicPr>
          <p:cNvPr id="3" name="Picture 2" descr="ner02_cell18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11430000" cy="31574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4026138"/>
            <a:ext cx="11430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>
                <a:solidFill>
                  <a:srgbClr val="666666"/>
                </a:solidFill>
              </a:rPr>
              <a:t>Training loss </a:t>
            </a:r>
            <a:r>
              <a:rPr lang="en-US" sz="1000" b="0" i="1" dirty="0">
                <a:solidFill>
                  <a:srgbClr val="666666"/>
                </a:solidFill>
              </a:rPr>
              <a:t>falls-</a:t>
            </a:r>
            <a:r>
              <a:rPr sz="1000" b="0" i="1" dirty="0">
                <a:solidFill>
                  <a:srgbClr val="666666"/>
                </a:solidFill>
              </a:rPr>
              <a:t> validation loss rises </a:t>
            </a:r>
            <a:r>
              <a:rPr lang="en-US" sz="1000" b="0" i="1" dirty="0">
                <a:solidFill>
                  <a:srgbClr val="666666"/>
                </a:solidFill>
              </a:rPr>
              <a:t>-</a:t>
            </a:r>
            <a:r>
              <a:rPr sz="1000" b="0" i="1" dirty="0">
                <a:solidFill>
                  <a:srgbClr val="666666"/>
                </a:solidFill>
              </a:rPr>
              <a:t> </a:t>
            </a:r>
            <a:r>
              <a:rPr sz="1000" b="0" i="1" dirty="0" err="1">
                <a:solidFill>
                  <a:srgbClr val="666666"/>
                </a:solidFill>
              </a:rPr>
              <a:t>seqeval</a:t>
            </a:r>
            <a:r>
              <a:rPr sz="1000" b="0" i="1" dirty="0">
                <a:solidFill>
                  <a:srgbClr val="666666"/>
                </a:solidFill>
              </a:rPr>
              <a:t> F1 steadily improves to 0.65 · Both variants achieve comparable F1 (0.652 baseline / 0.650 weighted)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</a:rPr>
              <a:t>CSCI E-222 · NLP for Healthcare · O. Mykhailovskyi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900" dirty="0">
                <a:solidFill>
                  <a:srgbClr val="666666"/>
                </a:solidFill>
              </a:rPr>
              <a:t>8</a:t>
            </a:r>
            <a:r>
              <a:rPr sz="900" b="0" i="0" dirty="0">
                <a:solidFill>
                  <a:srgbClr val="666666"/>
                </a:solidFill>
              </a:rPr>
              <a:t>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65470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66666"/>
                </a:solidFill>
              </a:rPr>
              <a:t>BERT QA training: oscillating loss + flat F1 → model never learns from 512-token truncated inputs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4378058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dirty="0">
                <a:solidFill>
                  <a:srgbClr val="1A56A8"/>
                </a:solidFill>
              </a:rPr>
              <a:t>Task 2 - QA: </a:t>
            </a:r>
            <a:r>
              <a:rPr lang="en-US" sz="2200" b="1" dirty="0">
                <a:solidFill>
                  <a:srgbClr val="1A56A8"/>
                </a:solidFill>
              </a:rPr>
              <a:t>BERT &amp; MedGemma-4b</a:t>
            </a:r>
            <a:endParaRPr sz="2200" b="1" dirty="0">
              <a:solidFill>
                <a:srgbClr val="1A56A8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O.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900" dirty="0">
                <a:solidFill>
                  <a:srgbClr val="666666"/>
                </a:solidFill>
              </a:rPr>
              <a:t>9</a:t>
            </a:r>
            <a:r>
              <a:rPr sz="900" b="0" dirty="0">
                <a:solidFill>
                  <a:srgbClr val="666666"/>
                </a:solidFill>
              </a:rPr>
              <a:t>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BioClinicalBERT Multiple-Choice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143000"/>
            <a:ext cx="41148" cy="347472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98348" y="1143000"/>
            <a:ext cx="5262372" cy="3474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1216152"/>
            <a:ext cx="51023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1A1A1A"/>
                </a:solidFill>
              </a:rPr>
              <a:t>[</a:t>
            </a:r>
            <a:r>
              <a:rPr sz="1100" dirty="0">
                <a:solidFill>
                  <a:srgbClr val="1A1A1A"/>
                </a:solidFill>
              </a:rPr>
              <a:t>(Q</a:t>
            </a:r>
            <a:r>
              <a:rPr lang="en-US" sz="1100" dirty="0">
                <a:solidFill>
                  <a:srgbClr val="1A1A1A"/>
                </a:solidFill>
              </a:rPr>
              <a:t>:</a:t>
            </a:r>
            <a:r>
              <a:rPr sz="1100" dirty="0">
                <a:solidFill>
                  <a:srgbClr val="1A1A1A"/>
                </a:solidFill>
              </a:rPr>
              <a:t> Option A)</a:t>
            </a:r>
            <a:r>
              <a:rPr lang="en-US" sz="1100" dirty="0">
                <a:solidFill>
                  <a:srgbClr val="1A1A1A"/>
                </a:solidFill>
              </a:rPr>
              <a:t>, …]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lang="en-US" sz="1100" dirty="0">
                <a:solidFill>
                  <a:srgbClr val="1A1A1A"/>
                </a:solidFill>
              </a:rPr>
              <a:t>-&gt;</a:t>
            </a:r>
            <a:r>
              <a:rPr sz="1100" dirty="0">
                <a:solidFill>
                  <a:srgbClr val="1A1A1A"/>
                </a:solidFill>
              </a:rPr>
              <a:t> BERT </a:t>
            </a:r>
            <a:r>
              <a:rPr lang="en-US" sz="1100" dirty="0">
                <a:solidFill>
                  <a:srgbClr val="1A1A1A"/>
                </a:solidFill>
              </a:rPr>
              <a:t>-&gt;</a:t>
            </a:r>
            <a:r>
              <a:rPr sz="1100" dirty="0">
                <a:solidFill>
                  <a:srgbClr val="1A1A1A"/>
                </a:solidFill>
              </a:rPr>
              <a:t> logit ×4 </a:t>
            </a:r>
            <a:r>
              <a:rPr lang="en-US" sz="1100" dirty="0">
                <a:solidFill>
                  <a:srgbClr val="1A1A1A"/>
                </a:solidFill>
              </a:rPr>
              <a:t>-&gt;</a:t>
            </a:r>
            <a:r>
              <a:rPr sz="1100" dirty="0">
                <a:solidFill>
                  <a:srgbClr val="1A1A1A"/>
                </a:solidFill>
              </a:rPr>
              <a:t> </a:t>
            </a:r>
            <a:r>
              <a:rPr sz="1100" dirty="0" err="1">
                <a:solidFill>
                  <a:srgbClr val="1A1A1A"/>
                </a:solidFill>
              </a:rPr>
              <a:t>softmax</a:t>
            </a:r>
            <a:r>
              <a:rPr sz="1100" dirty="0">
                <a:solidFill>
                  <a:srgbClr val="1A1A1A"/>
                </a:solidFill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72768"/>
            <a:ext cx="5303520" cy="5155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90/10 train/</a:t>
            </a:r>
            <a:r>
              <a:rPr sz="1250" dirty="0" err="1">
                <a:solidFill>
                  <a:srgbClr val="1A1A1A"/>
                </a:solidFill>
              </a:rPr>
              <a:t>val</a:t>
            </a:r>
            <a:r>
              <a:rPr sz="1250" dirty="0">
                <a:solidFill>
                  <a:srgbClr val="1A1A1A"/>
                </a:solidFill>
              </a:rPr>
              <a:t> split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Checkpoint: alexd063/bio-</a:t>
            </a:r>
            <a:r>
              <a:rPr sz="1250" dirty="0" err="1">
                <a:solidFill>
                  <a:srgbClr val="1A1A1A"/>
                </a:solidFill>
              </a:rPr>
              <a:t>clinicalbert</a:t>
            </a:r>
            <a:r>
              <a:rPr sz="1250" dirty="0">
                <a:solidFill>
                  <a:srgbClr val="1A1A1A"/>
                </a:solidFill>
              </a:rPr>
              <a:t>-finetuned-</a:t>
            </a:r>
            <a:r>
              <a:rPr sz="1250" dirty="0" err="1">
                <a:solidFill>
                  <a:srgbClr val="1A1A1A"/>
                </a:solidFill>
              </a:rPr>
              <a:t>medqa</a:t>
            </a:r>
            <a:endParaRPr lang="en-US" sz="1250" dirty="0">
              <a:solidFill>
                <a:srgbClr val="1A1A1A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21792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MedGemma Generative QA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143000"/>
            <a:ext cx="41148" cy="548640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59068" y="1143000"/>
            <a:ext cx="5445252" cy="54864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27648" y="1216152"/>
            <a:ext cx="528523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A1A"/>
                </a:solidFill>
              </a:rPr>
              <a:t>Model sees full question + all 4 options and outputs a single letter.
Instruction format: explicit EOS token appended to answer.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1783080"/>
            <a:ext cx="548640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Checkpoint: alexd063/gemma4bit-finetuned-medqa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3050" y="5609844"/>
            <a:ext cx="41148" cy="5943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59068" y="5609844"/>
            <a:ext cx="5445252" cy="59436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63640" y="5695483"/>
            <a:ext cx="52852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>
                <a:solidFill>
                  <a:srgbClr val="1A1A1A"/>
                </a:solidFill>
              </a:rPr>
              <a:t>Only 2 epochs trained. Warmup = 10 steps is far too low for stable fine-tuning. No error analysis on incorrect predictions.</a:t>
            </a:r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B1CF123A-7DEA-1B93-39BE-41F8C8C990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2601725"/>
              </p:ext>
            </p:extLst>
          </p:nvPr>
        </p:nvGraphicFramePr>
        <p:xfrm>
          <a:off x="484505" y="2416552"/>
          <a:ext cx="3981450" cy="14513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90725">
                  <a:extLst>
                    <a:ext uri="{9D8B030D-6E8A-4147-A177-3AD203B41FA5}">
                      <a16:colId xmlns:a16="http://schemas.microsoft.com/office/drawing/2014/main" val="271244189"/>
                    </a:ext>
                  </a:extLst>
                </a:gridCol>
                <a:gridCol w="1990725">
                  <a:extLst>
                    <a:ext uri="{9D8B030D-6E8A-4147-A177-3AD203B41FA5}">
                      <a16:colId xmlns:a16="http://schemas.microsoft.com/office/drawing/2014/main" val="19091464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Hyperparameter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Value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07615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MAX_LENGTH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512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276281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BATCH_SIZE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effectLst/>
                        </a:rPr>
                        <a:t>4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951278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EPOCHS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10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352193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WARMUP_RATIO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0.1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096256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WEIGHT_DECAY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0.01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405776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LEARNING_RATE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4e-5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16411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LR_SCHEDULER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effectLst/>
                        </a:rPr>
                        <a:t>cosine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9018558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19EEB348-C843-8C11-99DA-BF40693B9226}"/>
              </a:ext>
            </a:extLst>
          </p:cNvPr>
          <p:cNvSpPr txBox="1"/>
          <p:nvPr/>
        </p:nvSpPr>
        <p:spPr>
          <a:xfrm>
            <a:off x="457200" y="2084832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1A56A8"/>
                </a:solidFill>
              </a:rPr>
              <a:t>Training Configuration</a:t>
            </a:r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FD80B9B5-0A62-E6A2-5FEB-5F6DCBCD7D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7823050"/>
              </p:ext>
            </p:extLst>
          </p:nvPr>
        </p:nvGraphicFramePr>
        <p:xfrm>
          <a:off x="6327648" y="2559783"/>
          <a:ext cx="3981450" cy="255124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90725">
                  <a:extLst>
                    <a:ext uri="{9D8B030D-6E8A-4147-A177-3AD203B41FA5}">
                      <a16:colId xmlns:a16="http://schemas.microsoft.com/office/drawing/2014/main" val="3512198957"/>
                    </a:ext>
                  </a:extLst>
                </a:gridCol>
                <a:gridCol w="1990725">
                  <a:extLst>
                    <a:ext uri="{9D8B030D-6E8A-4147-A177-3AD203B41FA5}">
                      <a16:colId xmlns:a16="http://schemas.microsoft.com/office/drawing/2014/main" val="398688985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Hyperparameter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effectLst/>
                        </a:rPr>
                        <a:t>Value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421840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MAX_SEQ_LENGTH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1024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29526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BATCH_SIZE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4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509583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GRAD_ACCUM_STEPS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4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844793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LORA_R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16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030935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LORA_ALPHA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16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50659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LORA_DROPOUT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03653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TARGET_MODULES (LORA)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q_proj, v_proj, k_proj, o_proj, gate_proj, up_proj, down_proj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35470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EPOCHS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2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8898499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WARMUP_STEPS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10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27050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WEIGHT_DECAY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0.01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573129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LEARNING_RATE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2e-4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761016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>
                          <a:effectLst/>
                        </a:rPr>
                        <a:t>LR_SCHEDULER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100" dirty="0">
                          <a:effectLst/>
                        </a:rPr>
                        <a:t>cosine</a:t>
                      </a:r>
                      <a:endParaRPr lang="en-US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4091523"/>
                  </a:ext>
                </a:extLst>
              </a:tr>
            </a:tbl>
          </a:graphicData>
        </a:graphic>
      </p:graphicFrame>
      <p:sp>
        <p:nvSpPr>
          <p:cNvPr id="28" name="TextBox 27">
            <a:extLst>
              <a:ext uri="{FF2B5EF4-FFF2-40B4-BE49-F238E27FC236}">
                <a16:creationId xmlns:a16="http://schemas.microsoft.com/office/drawing/2014/main" id="{10F00D47-20EC-7F7D-1AEF-47FD3DB6F644}"/>
              </a:ext>
            </a:extLst>
          </p:cNvPr>
          <p:cNvSpPr txBox="1"/>
          <p:nvPr/>
        </p:nvSpPr>
        <p:spPr>
          <a:xfrm>
            <a:off x="6259068" y="2218112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1A56A8"/>
                </a:solidFill>
              </a:rPr>
              <a:t>Training Configuration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56A8"/>
                </a:solidFill>
              </a:rPr>
              <a:t>Results - Task 2: Medical Question Answering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O.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10 /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868680"/>
            <a:ext cx="2651760" cy="822960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96012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666666"/>
                </a:solidFill>
              </a:rPr>
              <a:t>25%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2588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Random baseline
(4-choice)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868680"/>
            <a:ext cx="2651760" cy="822960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960120"/>
            <a:ext cx="2651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>
                <a:solidFill>
                  <a:srgbClr val="C0392B"/>
                </a:solidFill>
              </a:rPr>
              <a:t>26.2%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132588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BioClinicalBERT
Test Accuracy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868680"/>
            <a:ext cx="2651760" cy="822960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035040" y="96012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E67E22"/>
                </a:solidFill>
              </a:rPr>
              <a:t>55%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132588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MedGemma-4B
Test Accuracy (fine-tuned)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23960" y="868680"/>
            <a:ext cx="2651760" cy="822960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23960" y="960120"/>
            <a:ext cx="2651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1A7A40"/>
                </a:solidFill>
              </a:rPr>
              <a:t>84</a:t>
            </a:r>
            <a:r>
              <a:rPr sz="2400" b="1" dirty="0">
                <a:solidFill>
                  <a:srgbClr val="1A7A40"/>
                </a:solidFill>
              </a:rPr>
              <a:t>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1325880"/>
            <a:ext cx="26517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b="0" dirty="0">
                <a:solidFill>
                  <a:srgbClr val="666666"/>
                </a:solidFill>
              </a:rPr>
              <a:t>GPT-4</a:t>
            </a:r>
          </a:p>
          <a:p>
            <a:pPr algn="ctr"/>
            <a:r>
              <a:rPr sz="1000" b="0" dirty="0">
                <a:solidFill>
                  <a:srgbClr val="666666"/>
                </a:solidFill>
              </a:rPr>
              <a:t>Official benchmark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874519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Why BioClinicalBERT Underperforms on QA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176272"/>
            <a:ext cx="5303520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Max sequence length 512 tokens - left-side truncation; long </a:t>
            </a:r>
            <a:r>
              <a:rPr lang="en-US" sz="1250" dirty="0">
                <a:solidFill>
                  <a:srgbClr val="1A1A1A"/>
                </a:solidFill>
              </a:rPr>
              <a:t>texts</a:t>
            </a:r>
            <a:r>
              <a:rPr sz="1250" dirty="0">
                <a:solidFill>
                  <a:srgbClr val="1A1A1A"/>
                </a:solidFill>
              </a:rPr>
              <a:t> may lose question text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Bidirectional encoder not designed for reasoning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Result: 26% accuracy</a:t>
            </a:r>
            <a:r>
              <a:rPr lang="en-US" sz="1250" dirty="0">
                <a:solidFill>
                  <a:srgbClr val="1A1A1A"/>
                </a:solidFill>
              </a:rPr>
              <a:t>, while</a:t>
            </a:r>
            <a:r>
              <a:rPr sz="1250" dirty="0">
                <a:solidFill>
                  <a:srgbClr val="1A1A1A"/>
                </a:solidFill>
              </a:rPr>
              <a:t> 25% </a:t>
            </a:r>
            <a:r>
              <a:rPr lang="en-US" sz="1250" dirty="0">
                <a:solidFill>
                  <a:srgbClr val="1A1A1A"/>
                </a:solidFill>
              </a:rPr>
              <a:t> is a </a:t>
            </a:r>
            <a:r>
              <a:rPr sz="1250" dirty="0">
                <a:solidFill>
                  <a:srgbClr val="1A1A1A"/>
                </a:solidFill>
              </a:rPr>
              <a:t>random baseline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199" y="3639312"/>
            <a:ext cx="45719" cy="8229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98348" y="3639311"/>
            <a:ext cx="5262372" cy="850391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66928" y="3712464"/>
            <a:ext cx="51023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 err="1">
                <a:solidFill>
                  <a:srgbClr val="1A1A1A"/>
                </a:solidFill>
              </a:rPr>
              <a:t>BioClinicalBERT</a:t>
            </a:r>
            <a:r>
              <a:rPr sz="1100" dirty="0">
                <a:solidFill>
                  <a:srgbClr val="1A1A1A"/>
                </a:solidFill>
              </a:rPr>
              <a:t> is architecturally </a:t>
            </a:r>
            <a:r>
              <a:rPr lang="en-US" sz="1100" dirty="0">
                <a:solidFill>
                  <a:srgbClr val="1A1A1A"/>
                </a:solidFill>
              </a:rPr>
              <a:t>not fit </a:t>
            </a:r>
            <a:r>
              <a:rPr sz="1100" dirty="0">
                <a:solidFill>
                  <a:srgbClr val="1A1A1A"/>
                </a:solidFill>
              </a:rPr>
              <a:t>for QA. Published baseline: </a:t>
            </a:r>
            <a:r>
              <a:rPr sz="1100" dirty="0" err="1">
                <a:solidFill>
                  <a:srgbClr val="1A1A1A"/>
                </a:solidFill>
              </a:rPr>
              <a:t>BioBERT</a:t>
            </a:r>
            <a:r>
              <a:rPr sz="1100" dirty="0">
                <a:solidFill>
                  <a:srgbClr val="1A1A1A"/>
                </a:solidFill>
              </a:rPr>
              <a:t>-Large fine-tuned achieves only 36.7% on this test set (Jin et al. 2021); GPT-3.5 reaches 53.6%, GPT-4 84%. MedGemma-4B at 55% is </a:t>
            </a:r>
            <a:r>
              <a:rPr lang="en-US" sz="1100" dirty="0">
                <a:solidFill>
                  <a:srgbClr val="1A1A1A"/>
                </a:solidFill>
              </a:rPr>
              <a:t>at</a:t>
            </a:r>
            <a:r>
              <a:rPr sz="1100" dirty="0">
                <a:solidFill>
                  <a:srgbClr val="1A1A1A"/>
                </a:solidFill>
              </a:rPr>
              <a:t> GPT-3.5 level for a 4B model fine-tuned for 2 epochs.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1874519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MedGemma-4B Fine-tuning Analysis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2176272"/>
            <a:ext cx="54864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55% test accuracy - 2× random baseline (ECE not applicable; generative model)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Official pre-trained benchmark: 64.4% on MedQA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Fine-tuning DEGRADED performance vs. pre-trained baseline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Possible causes: only 2 epochs, LR too high (2e-4), 10 warmup steps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Catastrophic forgetting: fine-tuning may damage medical priors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776472"/>
            <a:ext cx="41148" cy="71323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59068" y="3776472"/>
            <a:ext cx="5445252" cy="71323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327648" y="3849624"/>
            <a:ext cx="5285232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1A1A1A"/>
                </a:solidFill>
              </a:rPr>
              <a:t>S</a:t>
            </a:r>
            <a:r>
              <a:rPr sz="1100" dirty="0">
                <a:solidFill>
                  <a:srgbClr val="1A1A1A"/>
                </a:solidFill>
              </a:rPr>
              <a:t>trong</a:t>
            </a:r>
            <a:r>
              <a:rPr lang="en-US" sz="1100" dirty="0">
                <a:solidFill>
                  <a:srgbClr val="1A1A1A"/>
                </a:solidFill>
              </a:rPr>
              <a:t>ly</a:t>
            </a:r>
            <a:r>
              <a:rPr sz="1100" dirty="0">
                <a:solidFill>
                  <a:srgbClr val="1A1A1A"/>
                </a:solidFill>
              </a:rPr>
              <a:t> pre-trained medical model already </a:t>
            </a:r>
            <a:r>
              <a:rPr lang="en-US" sz="1100" dirty="0">
                <a:solidFill>
                  <a:srgbClr val="1A1A1A"/>
                </a:solidFill>
              </a:rPr>
              <a:t>has intrinsic medical knowledge</a:t>
            </a:r>
            <a:r>
              <a:rPr sz="1100" dirty="0">
                <a:solidFill>
                  <a:srgbClr val="1A1A1A"/>
                </a:solidFill>
              </a:rPr>
              <a:t>. </a:t>
            </a:r>
            <a:r>
              <a:rPr lang="en-US" sz="1100" dirty="0">
                <a:solidFill>
                  <a:srgbClr val="1A1A1A"/>
                </a:solidFill>
              </a:rPr>
              <a:t>Fine-tuning it on the </a:t>
            </a:r>
            <a:r>
              <a:rPr lang="en-US" sz="1100" dirty="0" err="1">
                <a:solidFill>
                  <a:srgbClr val="1A1A1A"/>
                </a:solidFill>
              </a:rPr>
              <a:t>MedQA</a:t>
            </a:r>
            <a:r>
              <a:rPr lang="en-US" sz="1100" dirty="0">
                <a:solidFill>
                  <a:srgbClr val="1A1A1A"/>
                </a:solidFill>
              </a:rPr>
              <a:t> task improves its performance and achieves the levels of widely distributed models such as GPT-3.5</a:t>
            </a:r>
            <a:endParaRPr sz="1100" dirty="0">
              <a:solidFill>
                <a:srgbClr val="1A1A1A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56A8"/>
                </a:solidFill>
              </a:rPr>
              <a:t>QA Confusion Matrices: BERT vs MedGemma-4B (200 samples)</a:t>
            </a:r>
          </a:p>
        </p:txBody>
      </p:sp>
      <p:pic>
        <p:nvPicPr>
          <p:cNvPr id="3" name="Picture 2" descr="comp_cell16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11430000" cy="41563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8080" y="4933603"/>
            <a:ext cx="11430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>
                <a:solidFill>
                  <a:srgbClr val="666666"/>
                </a:solidFill>
              </a:rPr>
              <a:t>BERT: near-uniform matrix (~25% each option) = guessing · </a:t>
            </a:r>
            <a:r>
              <a:rPr sz="1000" b="0" i="1" dirty="0" err="1">
                <a:solidFill>
                  <a:srgbClr val="666666"/>
                </a:solidFill>
              </a:rPr>
              <a:t>MedGemma</a:t>
            </a:r>
            <a:r>
              <a:rPr sz="1000" b="0" i="1" dirty="0">
                <a:solidFill>
                  <a:srgbClr val="666666"/>
                </a:solidFill>
              </a:rPr>
              <a:t>: strong diagonal = genuine medical reasoning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</a:rPr>
              <a:t>CSCI E-222 · NLP for Healthcare · O. Mykhailovskyi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56A8"/>
                </a:solidFill>
              </a:rPr>
              <a:t>Comparative Analysis: Encoder vs. Decoder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O.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12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868680"/>
          <a:ext cx="107899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Bio_ClinicalBERT (Encoder)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MedGemma-4B (Decoder)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NER Macro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0.65 (full test, token classifier)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0.27 (subset, generative)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QA Accuracy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~26%  (≈ random)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55.7%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GPU time / 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~20–40 min (110 M params)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~1.5–2.5 h (4B, QLoRA)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Trainable params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110 M (full fine-tune)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33 M (0.76% via LoRA)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Inference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Fast (single forward pass)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Slow (autoregressive)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Best suited for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Classification, token labeling, NER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Reasoning, generation, QA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3584448"/>
            <a:ext cx="41148" cy="804672"/>
          </a:xfrm>
          <a:prstGeom prst="rect">
            <a:avLst/>
          </a:prstGeom>
          <a:solidFill>
            <a:srgbClr val="1A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98348" y="3584448"/>
            <a:ext cx="11233404" cy="804672"/>
          </a:xfrm>
          <a:prstGeom prst="rect">
            <a:avLst/>
          </a:prstGeom>
          <a:solidFill>
            <a:srgbClr val="E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3657600"/>
            <a:ext cx="11073384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dirty="0">
                <a:solidFill>
                  <a:srgbClr val="1A1A1A"/>
                </a:solidFill>
              </a:rPr>
              <a:t>Key: Use the right architecture for the task.
Encoders excel at NER. Decoders excel at reasoning (QA).
Neither model is universally better - task-architecture alignment is </a:t>
            </a:r>
            <a:r>
              <a:rPr lang="en-US" sz="1300" dirty="0">
                <a:solidFill>
                  <a:srgbClr val="1A1A1A"/>
                </a:solidFill>
              </a:rPr>
              <a:t>important.</a:t>
            </a:r>
            <a:endParaRPr sz="1300" dirty="0">
              <a:solidFill>
                <a:srgbClr val="1A1A1A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57200" y="4480560"/>
            <a:ext cx="41148" cy="62179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98348" y="4480560"/>
            <a:ext cx="11233404" cy="62179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4553712"/>
            <a:ext cx="1107338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>
                <a:solidFill>
                  <a:srgbClr val="1A1A1A"/>
                </a:solidFill>
              </a:rPr>
              <a:t>Note: NER comparison is not a clean head-to-head - BERT on full 2,926-sample test split, </a:t>
            </a:r>
            <a:r>
              <a:rPr sz="1100" dirty="0" err="1">
                <a:solidFill>
                  <a:srgbClr val="1A1A1A"/>
                </a:solidFill>
              </a:rPr>
              <a:t>MedGemma</a:t>
            </a:r>
            <a:r>
              <a:rPr sz="1100" dirty="0">
                <a:solidFill>
                  <a:srgbClr val="1A1A1A"/>
                </a:solidFill>
              </a:rPr>
              <a:t> on 10% qualitative subset only.
200-sample QA comparative subset: BERT 30.0% accuracy / Gemma 56.5% accuracy.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56A8"/>
                </a:solidFill>
              </a:rPr>
              <a:t>Comparative: All Tasks &amp; Metrics</a:t>
            </a:r>
          </a:p>
        </p:txBody>
      </p:sp>
      <p:pic>
        <p:nvPicPr>
          <p:cNvPr id="3" name="Picture 2" descr="comp_cell1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5760720" cy="50979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92240" y="777240"/>
            <a:ext cx="5303520" cy="180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A56A8"/>
                </a:solidFill>
              </a:rPr>
              <a:t>NER</a:t>
            </a:r>
            <a:r>
              <a:rPr lang="en-US" sz="1300" b="1" dirty="0">
                <a:solidFill>
                  <a:srgbClr val="1A56A8"/>
                </a:solidFill>
              </a:rPr>
              <a:t>:</a:t>
            </a:r>
            <a:r>
              <a:rPr sz="1300" b="1" dirty="0">
                <a:solidFill>
                  <a:srgbClr val="1A56A8"/>
                </a:solidFill>
              </a:rPr>
              <a:t> </a:t>
            </a:r>
            <a:r>
              <a:rPr sz="1300" b="1" dirty="0" err="1">
                <a:solidFill>
                  <a:srgbClr val="1A56A8"/>
                </a:solidFill>
              </a:rPr>
              <a:t>Bio_ClinicalBERT</a:t>
            </a:r>
            <a:r>
              <a:rPr sz="1300" b="1" dirty="0">
                <a:solidFill>
                  <a:srgbClr val="1A56A8"/>
                </a:solidFill>
              </a:rPr>
              <a:t> wins</a:t>
            </a:r>
          </a:p>
          <a:p>
            <a:r>
              <a:rPr sz="1200" b="0" dirty="0">
                <a:solidFill>
                  <a:srgbClr val="1A1A1A"/>
                </a:solidFill>
              </a:rPr>
              <a:t>F1: 0.65 vs 0.27 · Bidirectional attention</a:t>
            </a:r>
          </a:p>
          <a:p>
            <a:endParaRPr sz="1200" b="0" dirty="0">
              <a:solidFill>
                <a:srgbClr val="1A1A1A"/>
              </a:solidFill>
            </a:endParaRPr>
          </a:p>
          <a:p>
            <a:r>
              <a:rPr sz="1300" b="1" dirty="0">
                <a:solidFill>
                  <a:srgbClr val="1A56A8"/>
                </a:solidFill>
              </a:rPr>
              <a:t>QA</a:t>
            </a:r>
            <a:r>
              <a:rPr lang="en-US" sz="1300" b="1" dirty="0">
                <a:solidFill>
                  <a:srgbClr val="1A56A8"/>
                </a:solidFill>
              </a:rPr>
              <a:t>:</a:t>
            </a:r>
            <a:r>
              <a:rPr sz="1300" b="1" dirty="0">
                <a:solidFill>
                  <a:srgbClr val="1A56A8"/>
                </a:solidFill>
              </a:rPr>
              <a:t> MedGemma-4B wins</a:t>
            </a:r>
          </a:p>
          <a:p>
            <a:r>
              <a:rPr sz="1200" b="0" dirty="0">
                <a:solidFill>
                  <a:srgbClr val="1A1A1A"/>
                </a:solidFill>
              </a:rPr>
              <a:t>55% vs 26.2% · 1,024-token context</a:t>
            </a:r>
          </a:p>
          <a:p>
            <a:endParaRPr sz="1200" b="0" dirty="0">
              <a:solidFill>
                <a:srgbClr val="1A1A1A"/>
              </a:solidFill>
            </a:endParaRPr>
          </a:p>
          <a:p>
            <a:r>
              <a:rPr lang="en-US" sz="1300" b="1" dirty="0">
                <a:solidFill>
                  <a:srgbClr val="1A1A1A"/>
                </a:solidFill>
              </a:rPr>
              <a:t>Summary</a:t>
            </a:r>
            <a:endParaRPr sz="1300" b="1" dirty="0">
              <a:solidFill>
                <a:srgbClr val="1A1A1A"/>
              </a:solidFill>
            </a:endParaRPr>
          </a:p>
          <a:p>
            <a:r>
              <a:rPr lang="en-US" sz="1200" dirty="0">
                <a:solidFill>
                  <a:srgbClr val="1A1A1A"/>
                </a:solidFill>
              </a:rPr>
              <a:t>No universally performant model, task-specific architectures</a:t>
            </a:r>
          </a:p>
          <a:p>
            <a:r>
              <a:rPr lang="en-US" sz="1200" dirty="0">
                <a:solidFill>
                  <a:srgbClr val="1A1A1A"/>
                </a:solidFill>
              </a:rPr>
              <a:t>d</a:t>
            </a:r>
            <a:r>
              <a:rPr lang="en-US" sz="1200" b="0" dirty="0">
                <a:solidFill>
                  <a:srgbClr val="1A1A1A"/>
                </a:solidFill>
              </a:rPr>
              <a:t>emonstrate better results.</a:t>
            </a:r>
            <a:endParaRPr sz="1200" b="0" dirty="0">
              <a:solidFill>
                <a:srgbClr val="1A1A1A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</a:rPr>
              <a:t>CSCI E-222 · NLP for Healthcare · O. Mykhailovskyi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2446632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dirty="0">
                <a:solidFill>
                  <a:srgbClr val="1A56A8"/>
                </a:solidFill>
              </a:rPr>
              <a:t>Compute Estimates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O.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14 / 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779526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GPU Execution Time (Google Colab A100)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865207"/>
              </p:ext>
            </p:extLst>
          </p:nvPr>
        </p:nvGraphicFramePr>
        <p:xfrm>
          <a:off x="365760" y="1108710"/>
          <a:ext cx="54864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4325"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Notebook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Actual / Estimated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BERT NER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~</a:t>
                      </a: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40 min</a:t>
                      </a:r>
                      <a:endParaRPr sz="1100" dirty="0">
                        <a:solidFill>
                          <a:srgbClr val="1A1A1A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BERT NER weighted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~</a:t>
                      </a: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30 min</a:t>
                      </a:r>
                      <a:endParaRPr sz="1100" dirty="0">
                        <a:solidFill>
                          <a:srgbClr val="1A1A1A"/>
                        </a:solidFill>
                      </a:endParaRPr>
                    </a:p>
                  </a:txBody>
                  <a:tcPr>
                    <a:solidFill>
                      <a:srgbClr val="F5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r>
                        <a:rPr sz="1100" dirty="0" err="1">
                          <a:solidFill>
                            <a:srgbClr val="1A1A1A"/>
                          </a:solidFill>
                        </a:rPr>
                        <a:t>MedGemma</a:t>
                      </a:r>
                      <a:r>
                        <a:rPr sz="1100" dirty="0">
                          <a:solidFill>
                            <a:srgbClr val="1A1A1A"/>
                          </a:solidFill>
                        </a:rPr>
                        <a:t> NER (300 steps only)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~</a:t>
                      </a: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1h</a:t>
                      </a:r>
                      <a:r>
                        <a:rPr sz="1100" dirty="0">
                          <a:solidFill>
                            <a:srgbClr val="1A1A1A"/>
                          </a:solidFill>
                        </a:rPr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BERT QA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~</a:t>
                      </a: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40 min</a:t>
                      </a:r>
                      <a:endParaRPr sz="1100" dirty="0">
                        <a:solidFill>
                          <a:srgbClr val="1A1A1A"/>
                        </a:solidFill>
                      </a:endParaRPr>
                    </a:p>
                  </a:txBody>
                  <a:tcPr>
                    <a:solidFill>
                      <a:srgbClr val="F5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MedGemma QA (2 epochs)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~1.5</a:t>
                      </a: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h</a:t>
                      </a:r>
                      <a:endParaRPr sz="1100" dirty="0">
                        <a:solidFill>
                          <a:srgbClr val="1A1A1A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Comparative analysis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~</a:t>
                      </a: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30 min</a:t>
                      </a:r>
                      <a:endParaRPr sz="1100" dirty="0">
                        <a:solidFill>
                          <a:srgbClr val="1A1A1A"/>
                        </a:solidFill>
                      </a:endParaRPr>
                    </a:p>
                  </a:txBody>
                  <a:tcPr>
                    <a:solidFill>
                      <a:srgbClr val="F5F8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Total</a:t>
                      </a: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 </a:t>
                      </a:r>
                      <a:r>
                        <a:rPr sz="1100" dirty="0">
                          <a:solidFill>
                            <a:srgbClr val="1A1A1A"/>
                          </a:solidFill>
                        </a:rPr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A1A1A"/>
                          </a:solidFill>
                        </a:rPr>
                        <a:t>~5 – </a:t>
                      </a:r>
                      <a:r>
                        <a:rPr lang="en-US" sz="1100" dirty="0">
                          <a:solidFill>
                            <a:srgbClr val="1A1A1A"/>
                          </a:solidFill>
                        </a:rPr>
                        <a:t>6</a:t>
                      </a:r>
                      <a:r>
                        <a:rPr sz="1100" dirty="0">
                          <a:solidFill>
                            <a:srgbClr val="1A1A1A"/>
                          </a:solidFill>
                        </a:rPr>
                        <a:t> 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56A8"/>
                </a:solidFill>
              </a:rPr>
              <a:t>Discussion: What Worked &amp; What Didn't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O.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15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7A40"/>
                </a:solidFill>
              </a:rPr>
              <a:t>What Worked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5486400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 dirty="0">
                <a:solidFill>
                  <a:srgbClr val="1A1A1A"/>
                </a:solidFill>
              </a:rPr>
              <a:t>• Class weighting significantly improved NER on frequent entities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A1A1A"/>
                </a:solidFill>
              </a:rPr>
              <a:t>• </a:t>
            </a:r>
            <a:r>
              <a:rPr sz="1200" dirty="0" err="1">
                <a:solidFill>
                  <a:srgbClr val="1A1A1A"/>
                </a:solidFill>
              </a:rPr>
              <a:t>QLoRA</a:t>
            </a:r>
            <a:r>
              <a:rPr sz="1200" dirty="0">
                <a:solidFill>
                  <a:srgbClr val="1A1A1A"/>
                </a:solidFill>
              </a:rPr>
              <a:t> made the 4B model trainable on a single GPU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A1A1A"/>
                </a:solidFill>
              </a:rPr>
              <a:t>• </a:t>
            </a:r>
            <a:r>
              <a:rPr sz="1200" dirty="0" err="1">
                <a:solidFill>
                  <a:srgbClr val="1A1A1A"/>
                </a:solidFill>
              </a:rPr>
              <a:t>MedGemma</a:t>
            </a:r>
            <a:r>
              <a:rPr sz="1200" dirty="0">
                <a:solidFill>
                  <a:srgbClr val="1A1A1A"/>
                </a:solidFill>
              </a:rPr>
              <a:t> outperformed BERT 2:1 on QA (55% vs 26.2%)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A1A1A"/>
                </a:solidFill>
              </a:rPr>
              <a:t>• Custom </a:t>
            </a:r>
            <a:r>
              <a:rPr sz="1200" dirty="0" err="1">
                <a:solidFill>
                  <a:srgbClr val="1A1A1A"/>
                </a:solidFill>
              </a:rPr>
              <a:t>WeightedTrainer</a:t>
            </a:r>
            <a:r>
              <a:rPr sz="1200" dirty="0">
                <a:solidFill>
                  <a:srgbClr val="1A1A1A"/>
                </a:solidFill>
              </a:rPr>
              <a:t> was clean, reusable, and well-documented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A1A1A"/>
                </a:solidFill>
              </a:rPr>
              <a:t>• Cosine LR + early stopping stabilized training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A1A1A"/>
                </a:solidFill>
              </a:rPr>
              <a:t>• All models published to </a:t>
            </a:r>
            <a:r>
              <a:rPr sz="1200" dirty="0" err="1">
                <a:solidFill>
                  <a:srgbClr val="1A1A1A"/>
                </a:solidFill>
              </a:rPr>
              <a:t>HuggingFace</a:t>
            </a:r>
            <a:r>
              <a:rPr sz="1200" dirty="0">
                <a:solidFill>
                  <a:srgbClr val="1A1A1A"/>
                </a:solidFill>
              </a:rPr>
              <a:t> Hub for full reproducibility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A1A1A"/>
                </a:solidFill>
              </a:rPr>
              <a:t>• </a:t>
            </a:r>
            <a:r>
              <a:rPr sz="1200" dirty="0" err="1">
                <a:solidFill>
                  <a:srgbClr val="1A1A1A"/>
                </a:solidFill>
              </a:rPr>
              <a:t>Unsloth</a:t>
            </a:r>
            <a:r>
              <a:rPr sz="1200" dirty="0">
                <a:solidFill>
                  <a:srgbClr val="1A1A1A"/>
                </a:solidFill>
              </a:rPr>
              <a:t> gave 2× training speedup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392B"/>
                </a:solidFill>
              </a:rPr>
              <a:t>What Didn't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170432"/>
            <a:ext cx="5486400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 dirty="0">
                <a:solidFill>
                  <a:srgbClr val="1A1A1A"/>
                </a:solidFill>
              </a:rPr>
              <a:t>• BERT QA: near-random accuracy - wrong architecture for reasoning</a:t>
            </a:r>
          </a:p>
          <a:p>
            <a:pPr>
              <a:spcBef>
                <a:spcPts val="300"/>
              </a:spcBef>
            </a:pPr>
            <a:r>
              <a:rPr sz="1200" dirty="0">
                <a:solidFill>
                  <a:srgbClr val="1A1A1A"/>
                </a:solidFill>
              </a:rPr>
              <a:t>• </a:t>
            </a:r>
            <a:r>
              <a:rPr sz="1200" dirty="0" err="1">
                <a:solidFill>
                  <a:srgbClr val="1A1A1A"/>
                </a:solidFill>
              </a:rPr>
              <a:t>MedGemma</a:t>
            </a:r>
            <a:r>
              <a:rPr sz="1200" dirty="0">
                <a:solidFill>
                  <a:srgbClr val="1A1A1A"/>
                </a:solidFill>
              </a:rPr>
              <a:t> NER: 300 steps only, no quantitative metrics</a:t>
            </a:r>
          </a:p>
          <a:p>
            <a:pPr>
              <a:spcBef>
                <a:spcPts val="300"/>
              </a:spcBef>
            </a:pPr>
            <a:r>
              <a:rPr lang="en-US" sz="1200" dirty="0">
                <a:solidFill>
                  <a:srgbClr val="1A1A1A"/>
                </a:solidFill>
              </a:rPr>
              <a:t>• Asymmetric NER evaluation - not a clean comparison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56A8"/>
                </a:solidFill>
              </a:rPr>
              <a:t>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O.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16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Data &amp;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5303520" cy="13619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</a:t>
            </a:r>
            <a:r>
              <a:rPr sz="1250" dirty="0" err="1">
                <a:solidFill>
                  <a:srgbClr val="1A1A1A"/>
                </a:solidFill>
              </a:rPr>
              <a:t>MedMentions</a:t>
            </a:r>
            <a:r>
              <a:rPr sz="1250" dirty="0">
                <a:solidFill>
                  <a:srgbClr val="1A1A1A"/>
                </a:solidFill>
              </a:rPr>
              <a:t>: rare entity types with &lt; 5 examples </a:t>
            </a:r>
            <a:r>
              <a:rPr lang="en-US" sz="1250" dirty="0">
                <a:solidFill>
                  <a:srgbClr val="1A1A1A"/>
                </a:solidFill>
              </a:rPr>
              <a:t>-</a:t>
            </a:r>
            <a:r>
              <a:rPr sz="1250" dirty="0">
                <a:solidFill>
                  <a:srgbClr val="1A1A1A"/>
                </a:solidFill>
              </a:rPr>
              <a:t> near-zero F1 (data sparsity, not architecture)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BERT QA: 512-token left-side truncation may discard </a:t>
            </a:r>
            <a:r>
              <a:rPr lang="en-US" sz="1250" dirty="0">
                <a:solidFill>
                  <a:srgbClr val="1A1A1A"/>
                </a:solidFill>
              </a:rPr>
              <a:t>crucial parts </a:t>
            </a:r>
            <a:r>
              <a:rPr sz="1250" dirty="0">
                <a:solidFill>
                  <a:srgbClr val="1A1A1A"/>
                </a:solidFill>
              </a:rPr>
              <a:t>for long </a:t>
            </a:r>
            <a:r>
              <a:rPr lang="en-US" sz="1250" dirty="0">
                <a:solidFill>
                  <a:srgbClr val="1A1A1A"/>
                </a:solidFill>
              </a:rPr>
              <a:t>texts</a:t>
            </a:r>
          </a:p>
          <a:p>
            <a:pPr>
              <a:spcBef>
                <a:spcPts val="300"/>
              </a:spcBef>
            </a:pPr>
            <a:r>
              <a:rPr lang="en-US" sz="1250" dirty="0">
                <a:solidFill>
                  <a:srgbClr val="1A1A1A"/>
                </a:solidFill>
              </a:rPr>
              <a:t>• </a:t>
            </a:r>
            <a:r>
              <a:rPr lang="en-US" sz="1250" dirty="0" err="1">
                <a:solidFill>
                  <a:srgbClr val="1A1A1A"/>
                </a:solidFill>
              </a:rPr>
              <a:t>MedGemma</a:t>
            </a:r>
            <a:r>
              <a:rPr lang="en-US" sz="1250" dirty="0">
                <a:solidFill>
                  <a:srgbClr val="1A1A1A"/>
                </a:solidFill>
              </a:rPr>
              <a:t> NER – needs a full epoch training before metrics mean anything 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</a:t>
            </a:r>
            <a:r>
              <a:rPr sz="1250" dirty="0" err="1">
                <a:solidFill>
                  <a:srgbClr val="1A1A1A"/>
                </a:solidFill>
              </a:rPr>
              <a:t>MedQA</a:t>
            </a:r>
            <a:r>
              <a:rPr sz="1250" dirty="0">
                <a:solidFill>
                  <a:srgbClr val="1A1A1A"/>
                </a:solidFill>
              </a:rPr>
              <a:t> is US-centric (USMLE) - does not reflect global practices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73552"/>
            <a:ext cx="41148" cy="5486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98348" y="3273552"/>
            <a:ext cx="5262372" cy="548640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" y="3346704"/>
            <a:ext cx="51023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>
                <a:solidFill>
                  <a:srgbClr val="1A1A1A"/>
                </a:solidFill>
              </a:rPr>
              <a:t>Data is the biggest </a:t>
            </a:r>
            <a:r>
              <a:rPr lang="en-US" sz="1100" dirty="0">
                <a:solidFill>
                  <a:srgbClr val="1A1A1A"/>
                </a:solidFill>
              </a:rPr>
              <a:t>issue</a:t>
            </a:r>
            <a:r>
              <a:rPr sz="1100" dirty="0">
                <a:solidFill>
                  <a:srgbClr val="1A1A1A"/>
                </a:solidFill>
              </a:rPr>
              <a:t> - model cannot learn types it has never seen.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Model &amp; Compute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170432"/>
            <a:ext cx="5486400" cy="1208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Single GPU (A100) limits scal</a:t>
            </a:r>
            <a:r>
              <a:rPr lang="en-US" sz="1250" dirty="0">
                <a:solidFill>
                  <a:srgbClr val="1A1A1A"/>
                </a:solidFill>
              </a:rPr>
              <a:t>ing</a:t>
            </a:r>
            <a:endParaRPr sz="1250" dirty="0">
              <a:solidFill>
                <a:srgbClr val="1A1A1A"/>
              </a:solidFill>
            </a:endParaRP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No </a:t>
            </a:r>
            <a:r>
              <a:rPr lang="en-US" sz="1250" dirty="0">
                <a:solidFill>
                  <a:srgbClr val="1A1A1A"/>
                </a:solidFill>
              </a:rPr>
              <a:t>automatic </a:t>
            </a:r>
            <a:r>
              <a:rPr sz="1250" dirty="0">
                <a:solidFill>
                  <a:srgbClr val="1A1A1A"/>
                </a:solidFill>
              </a:rPr>
              <a:t>hyperparameter</a:t>
            </a:r>
            <a:r>
              <a:rPr lang="en-US" sz="1250" dirty="0">
                <a:solidFill>
                  <a:srgbClr val="1A1A1A"/>
                </a:solidFill>
              </a:rPr>
              <a:t>s</a:t>
            </a:r>
            <a:r>
              <a:rPr sz="1250" dirty="0">
                <a:solidFill>
                  <a:srgbClr val="1A1A1A"/>
                </a:solidFill>
              </a:rPr>
              <a:t> </a:t>
            </a:r>
            <a:r>
              <a:rPr lang="en-US" sz="1250" dirty="0">
                <a:solidFill>
                  <a:srgbClr val="1A1A1A"/>
                </a:solidFill>
              </a:rPr>
              <a:t>search</a:t>
            </a:r>
            <a:endParaRPr sz="1250" dirty="0">
              <a:solidFill>
                <a:srgbClr val="1A1A1A"/>
              </a:solidFill>
            </a:endParaRP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</a:t>
            </a:r>
            <a:r>
              <a:rPr sz="1250" dirty="0" err="1">
                <a:solidFill>
                  <a:srgbClr val="1A1A1A"/>
                </a:solidFill>
              </a:rPr>
              <a:t>MedGemma</a:t>
            </a:r>
            <a:r>
              <a:rPr sz="1250" dirty="0">
                <a:solidFill>
                  <a:srgbClr val="1A1A1A"/>
                </a:solidFill>
              </a:rPr>
              <a:t> NER severely under-trained (300 of ~1,462 steps per epoch)</a:t>
            </a: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</a:t>
            </a:r>
            <a:r>
              <a:rPr lang="en-US" sz="1250" dirty="0">
                <a:solidFill>
                  <a:srgbClr val="1A1A1A"/>
                </a:solidFill>
              </a:rPr>
              <a:t>No </a:t>
            </a:r>
            <a:r>
              <a:rPr lang="en-US" sz="1250" dirty="0" err="1">
                <a:solidFill>
                  <a:srgbClr val="1A1A1A"/>
                </a:solidFill>
              </a:rPr>
              <a:t>multiseed</a:t>
            </a:r>
            <a:r>
              <a:rPr lang="en-US" sz="1250" dirty="0">
                <a:solidFill>
                  <a:srgbClr val="1A1A1A"/>
                </a:solidFill>
              </a:rPr>
              <a:t> averaging for results</a:t>
            </a:r>
            <a:endParaRPr sz="1250" dirty="0">
              <a:solidFill>
                <a:srgbClr val="1A1A1A"/>
              </a:solidFill>
            </a:endParaRPr>
          </a:p>
          <a:p>
            <a:pPr>
              <a:spcBef>
                <a:spcPts val="300"/>
              </a:spcBef>
            </a:pPr>
            <a:r>
              <a:rPr sz="1250" dirty="0">
                <a:solidFill>
                  <a:srgbClr val="1A1A1A"/>
                </a:solidFill>
              </a:rPr>
              <a:t>• </a:t>
            </a:r>
            <a:r>
              <a:rPr sz="1250" dirty="0" err="1">
                <a:solidFill>
                  <a:srgbClr val="1A1A1A"/>
                </a:solidFill>
              </a:rPr>
              <a:t>BioClinicalBERT</a:t>
            </a:r>
            <a:r>
              <a:rPr sz="1250" dirty="0">
                <a:solidFill>
                  <a:srgbClr val="1A1A1A"/>
                </a:solidFill>
              </a:rPr>
              <a:t> </a:t>
            </a:r>
            <a:r>
              <a:rPr lang="en-US" sz="1250" dirty="0">
                <a:solidFill>
                  <a:srgbClr val="1A1A1A"/>
                </a:solidFill>
              </a:rPr>
              <a:t>fine-tuned </a:t>
            </a:r>
            <a:r>
              <a:rPr sz="1250" dirty="0">
                <a:solidFill>
                  <a:srgbClr val="1A1A1A"/>
                </a:solidFill>
              </a:rPr>
              <a:t>on MIMIC-III only - US bias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273552"/>
            <a:ext cx="41148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59068" y="3273552"/>
            <a:ext cx="5445252" cy="54864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27648" y="3346704"/>
            <a:ext cx="528523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dirty="0">
                <a:solidFill>
                  <a:srgbClr val="1A1A1A"/>
                </a:solidFill>
              </a:rPr>
              <a:t>Fine-tuning strong pre-trained medical model </a:t>
            </a:r>
            <a:r>
              <a:rPr lang="en-US" sz="1100" dirty="0">
                <a:solidFill>
                  <a:srgbClr val="1A1A1A"/>
                </a:solidFill>
              </a:rPr>
              <a:t>is relatively more straightforward and yields better results.</a:t>
            </a:r>
            <a:endParaRPr sz="1100" dirty="0">
              <a:solidFill>
                <a:srgbClr val="1A1A1A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7259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</a:rPr>
              <a:t>CSCI E-222 · Foundations of Large Language Models · Final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A56A8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</a:rPr>
              <a:t>NLP for Healthcare: Medical Text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423160"/>
            <a:ext cx="41148" cy="804672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2668" y="2423160"/>
            <a:ext cx="4988052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8" y="2496312"/>
            <a:ext cx="48280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dirty="0">
                <a:solidFill>
                  <a:srgbClr val="1A1A1A"/>
                </a:solidFill>
              </a:rPr>
              <a:t>Code &amp; Models
</a:t>
            </a:r>
            <a:r>
              <a:rPr sz="1200" dirty="0" err="1">
                <a:solidFill>
                  <a:srgbClr val="1A1A1A"/>
                </a:solidFill>
              </a:rPr>
              <a:t>huggingface.co</a:t>
            </a:r>
            <a:r>
              <a:rPr sz="1200" dirty="0">
                <a:solidFill>
                  <a:srgbClr val="1A1A1A"/>
                </a:solidFill>
              </a:rPr>
              <a:t>/alexd063
</a:t>
            </a:r>
            <a:r>
              <a:rPr lang="en-US" sz="1200" dirty="0">
                <a:solidFill>
                  <a:srgbClr val="1A1A1A"/>
                </a:solidFill>
              </a:rPr>
              <a:t>https://</a:t>
            </a:r>
            <a:r>
              <a:rPr lang="en-US" sz="1200" dirty="0" err="1">
                <a:solidFill>
                  <a:srgbClr val="1A1A1A"/>
                </a:solidFill>
              </a:rPr>
              <a:t>github.com</a:t>
            </a:r>
            <a:r>
              <a:rPr lang="en-US" sz="1200" dirty="0">
                <a:solidFill>
                  <a:srgbClr val="1A1A1A"/>
                </a:solidFill>
              </a:rPr>
              <a:t>/</a:t>
            </a:r>
            <a:r>
              <a:rPr lang="en-US" sz="1200" dirty="0" err="1">
                <a:solidFill>
                  <a:srgbClr val="1A1A1A"/>
                </a:solidFill>
              </a:rPr>
              <a:t>vonKleve</a:t>
            </a:r>
            <a:r>
              <a:rPr lang="en-US" sz="1200" dirty="0">
                <a:solidFill>
                  <a:srgbClr val="1A1A1A"/>
                </a:solidFill>
              </a:rPr>
              <a:t>/csci-e222-final-project/tree/master</a:t>
            </a:r>
            <a:endParaRPr sz="1200" dirty="0">
              <a:solidFill>
                <a:srgbClr val="1A1A1A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035040" y="2423160"/>
            <a:ext cx="41148" cy="804672"/>
          </a:xfrm>
          <a:prstGeom prst="rect">
            <a:avLst/>
          </a:prstGeom>
          <a:solidFill>
            <a:srgbClr val="1A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076188" y="2423160"/>
            <a:ext cx="5353812" cy="804672"/>
          </a:xfrm>
          <a:prstGeom prst="rect">
            <a:avLst/>
          </a:prstGeom>
          <a:solidFill>
            <a:srgbClr val="E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44768" y="2496312"/>
            <a:ext cx="519379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1A1A"/>
                </a:solidFill>
              </a:rPr>
              <a:t>Datasets Used
Ben10x/MedMentions-MTI881-NER
GBaker/MedQA-USMLE-4-options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456432"/>
            <a:ext cx="10725912" cy="1234440"/>
          </a:xfrm>
          <a:prstGeom prst="rect">
            <a:avLst/>
          </a:prstGeom>
          <a:solidFill>
            <a:srgbClr val="FFF3CD"/>
          </a:solidFill>
          <a:ln w="25400">
            <a:solidFill>
              <a:srgbClr val="E6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3566160"/>
            <a:ext cx="10360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</a:rPr>
              <a:t>Video Presentation URL: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58768"/>
            <a:ext cx="103601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1A56A8"/>
                </a:solidFill>
              </a:rPr>
              <a:t>https://</a:t>
            </a:r>
            <a:r>
              <a:rPr lang="en-US" sz="2000" b="1" dirty="0" err="1">
                <a:solidFill>
                  <a:srgbClr val="1A56A8"/>
                </a:solidFill>
              </a:rPr>
              <a:t>drive.google.com</a:t>
            </a:r>
            <a:r>
              <a:rPr lang="en-US" sz="2000" b="1" dirty="0">
                <a:solidFill>
                  <a:srgbClr val="1A56A8"/>
                </a:solidFill>
              </a:rPr>
              <a:t>/file/d/1EPFei5UW99ChOIn4ZFcI2R88i08dXfaH/</a:t>
            </a:r>
            <a:r>
              <a:rPr lang="en-US" sz="2000" b="1" dirty="0" err="1">
                <a:solidFill>
                  <a:srgbClr val="1A56A8"/>
                </a:solidFill>
              </a:rPr>
              <a:t>view?usp</a:t>
            </a:r>
            <a:r>
              <a:rPr lang="en-US" sz="2000" b="1" dirty="0">
                <a:solidFill>
                  <a:srgbClr val="1A56A8"/>
                </a:solidFill>
              </a:rPr>
              <a:t>=sharing</a:t>
            </a:r>
            <a:endParaRPr sz="2000" b="1" dirty="0">
              <a:solidFill>
                <a:srgbClr val="1A56A8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31520" y="6309360"/>
            <a:ext cx="107259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</a:rPr>
              <a:t>O. Mykhailovskyi · Harvard Extension School · CSCI E-222 · May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920</TotalTime>
  <Words>2432</Words>
  <Application>Microsoft Macintosh PowerPoint</Application>
  <PresentationFormat>Custom</PresentationFormat>
  <Paragraphs>399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Alex Mykhailovskyi</cp:lastModifiedBy>
  <cp:revision>40</cp:revision>
  <dcterms:created xsi:type="dcterms:W3CDTF">2013-01-27T09:14:16Z</dcterms:created>
  <dcterms:modified xsi:type="dcterms:W3CDTF">2026-05-16T10:30:53Z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54b7cbc-c708-4bae-92f9-e7d5cd5d68c6_Enabled">
    <vt:lpwstr>true</vt:lpwstr>
  </property>
  <property fmtid="{D5CDD505-2E9C-101B-9397-08002B2CF9AE}" pid="3" name="MSIP_Label_054b7cbc-c708-4bae-92f9-e7d5cd5d68c6_SetDate">
    <vt:lpwstr>2026-05-15T19:11:38Z</vt:lpwstr>
  </property>
  <property fmtid="{D5CDD505-2E9C-101B-9397-08002B2CF9AE}" pid="4" name="MSIP_Label_054b7cbc-c708-4bae-92f9-e7d5cd5d68c6_Method">
    <vt:lpwstr>Standard</vt:lpwstr>
  </property>
  <property fmtid="{D5CDD505-2E9C-101B-9397-08002B2CF9AE}" pid="5" name="MSIP_Label_054b7cbc-c708-4bae-92f9-e7d5cd5d68c6_Name">
    <vt:lpwstr>Internal</vt:lpwstr>
  </property>
  <property fmtid="{D5CDD505-2E9C-101B-9397-08002B2CF9AE}" pid="6" name="MSIP_Label_054b7cbc-c708-4bae-92f9-e7d5cd5d68c6_SiteId">
    <vt:lpwstr>2a35d8fd-574d-48e3-927c-8c398e225a01</vt:lpwstr>
  </property>
  <property fmtid="{D5CDD505-2E9C-101B-9397-08002B2CF9AE}" pid="7" name="MSIP_Label_054b7cbc-c708-4bae-92f9-e7d5cd5d68c6_ActionId">
    <vt:lpwstr>a2a63b91-87a6-4a8d-8e31-21a9a8b6b6c1</vt:lpwstr>
  </property>
  <property fmtid="{D5CDD505-2E9C-101B-9397-08002B2CF9AE}" pid="8" name="MSIP_Label_054b7cbc-c708-4bae-92f9-e7d5cd5d68c6_ContentBits">
    <vt:lpwstr>0</vt:lpwstr>
  </property>
  <property fmtid="{D5CDD505-2E9C-101B-9397-08002B2CF9AE}" pid="9" name="MSIP_Label_054b7cbc-c708-4bae-92f9-e7d5cd5d68c6_Tag">
    <vt:lpwstr>50, 3, 0, 1</vt:lpwstr>
  </property>
</Properties>
</file>